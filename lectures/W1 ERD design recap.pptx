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36"/>
  </p:notesMasterIdLst>
  <p:handoutMasterIdLst>
    <p:handoutMasterId r:id="rId37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87" r:id="rId17"/>
    <p:sldId id="270" r:id="rId18"/>
    <p:sldId id="271" r:id="rId19"/>
    <p:sldId id="272" r:id="rId20"/>
    <p:sldId id="289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12192000" cy="6858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ly Intro - White BG" id="{B4587B1E-BB88-4173-8339-2929187587A5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87"/>
            <p14:sldId id="270"/>
            <p14:sldId id="271"/>
            <p14:sldId id="272"/>
            <p14:sldId id="289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1449"/>
    <a:srgbClr val="001B4D"/>
    <a:srgbClr val="FB6B53"/>
    <a:srgbClr val="FF6600"/>
    <a:srgbClr val="A2C1FE"/>
    <a:srgbClr val="A2FFA3"/>
    <a:srgbClr val="FFFF99"/>
    <a:srgbClr val="FFFF66"/>
    <a:srgbClr val="FCFEB9"/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9" autoAdjust="0"/>
    <p:restoredTop sz="94249" autoAdjust="0"/>
  </p:normalViewPr>
  <p:slideViewPr>
    <p:cSldViewPr snapToGrid="0">
      <p:cViewPr varScale="1">
        <p:scale>
          <a:sx n="81" d="100"/>
          <a:sy n="81" d="100"/>
        </p:scale>
        <p:origin x="739" y="53"/>
      </p:cViewPr>
      <p:guideLst/>
    </p:cSldViewPr>
  </p:slideViewPr>
  <p:outlineViewPr>
    <p:cViewPr>
      <p:scale>
        <a:sx n="33" d="100"/>
        <a:sy n="33" d="100"/>
      </p:scale>
      <p:origin x="0" y="-40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8"/>
    </p:cViewPr>
  </p:sorterViewPr>
  <p:notesViewPr>
    <p:cSldViewPr snapToGrid="0">
      <p:cViewPr varScale="1">
        <p:scale>
          <a:sx n="52" d="100"/>
          <a:sy n="52" d="100"/>
        </p:scale>
        <p:origin x="300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DAC38E3-5144-412F-83AC-38A5B9DE5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08D27AB-67B4-4693-A97B-2BDB09DB8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127" y="9192936"/>
            <a:ext cx="394340" cy="305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A20BED86-76BB-4410-9008-061BF87713AB}" type="slidenum">
              <a:rPr lang="en-GB" alt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pPr algn="r">
                <a:defRPr/>
              </a:pPr>
              <a:t>‹#›</a:t>
            </a:fld>
            <a:endParaRPr lang="en-GB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71953E81-BBEF-44F9-89AF-8D785172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7839FB2E-0CEB-4E99-ABDC-42A6B27BD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4B6ACB56-54E0-4171-9443-B2E55073F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520" y="4620549"/>
            <a:ext cx="5852160" cy="37803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DBCDF8-B37C-47C2-B6B1-4B2635759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8" y="9119503"/>
            <a:ext cx="3169920" cy="4816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0D94D-E1CF-4942-9670-7567F4F4487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AA391A-E065-460C-9EDD-045CC8CBC5DC}" type="slidenum">
              <a:rPr lang="en-US"/>
              <a:pPr/>
              <a:t>2</a:t>
            </a:fld>
            <a:endParaRPr lang="en-US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5516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/>
              <a:t>Semantic net used for clarification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FE707-3CAA-4C6B-A8CB-412C1F7399B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50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</a:t>
            </a:r>
            <a:r>
              <a:rPr lang="en-US" baseline="0" dirty="0"/>
              <a:t> is </a:t>
            </a:r>
            <a:r>
              <a:rPr lang="en-US" b="1" baseline="0" dirty="0"/>
              <a:t>Information engineering</a:t>
            </a:r>
            <a:r>
              <a:rPr lang="en-US" baseline="0" dirty="0"/>
              <a:t> notation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FE707-3CAA-4C6B-A8CB-412C1F7399B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03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87F31-FA75-006F-00CD-B701AA25B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6608" y="2200276"/>
            <a:ext cx="9006416" cy="14700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70206" y="3879851"/>
            <a:ext cx="6913767" cy="1752600"/>
          </a:xfrm>
        </p:spPr>
        <p:txBody>
          <a:bodyPr/>
          <a:lstStyle>
            <a:lvl1pPr marL="0" indent="0" algn="r">
              <a:buFontTx/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01C7C8E-F6F3-0FA5-D100-E4D2210601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9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00D48-6E21-4217-3CC3-BFF1E0D918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87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2BECE40-B9F8-5238-73EB-2221EFFF70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>
          <a:xfrm>
            <a:off x="0" y="-87085"/>
            <a:ext cx="12192000" cy="661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127002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5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C35BC7-E310-108C-B8C4-672091E1D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1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82A26D2-4216-FF76-6392-C88F8808F0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3220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ct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1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2E1CC-7F1D-6CF8-6A38-2EE36FC9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84" y="127002"/>
            <a:ext cx="9349316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71BCF8-2B27-BEA0-B962-D2EE1DB6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349316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6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CDEFE03-E507-9264-8C2B-2E78DD2EA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1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83451EB-63F4-DFF6-8522-1522FB643F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441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F68BB6B-7571-DB8A-80FB-F7C3AD261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7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D43B7469-696D-D5B3-7497-03AB7CFB3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35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63C07D3-0112-1601-B752-FDBF091DD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3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802BECB-EBD7-EAF2-F449-AA70E2803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6311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9CBCAFAD-0874-A920-E7D5-68A99F5090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59460E12-C28F-6F47-C8AD-1B01DC7DB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172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7C10021-D30B-49A3-9775-E4B018058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98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067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5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131C5456-E521-C7D4-FB88-68A63787F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999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04DC0352-F5ED-1918-1F8A-8B80BB6E8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54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AA1C13FB-D1A7-194E-A332-391C492A0C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689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3D40C30-8297-E054-688C-7A1636F33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24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53C3B966-D4E4-30D5-4A13-103486C2E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462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8157A30-7FA7-829E-6D9C-4DCC0CDCA7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82C331B9-CEE5-20AD-DD62-DCC7F9E243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979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F80C67-7C47-1046-B1B1-5649F52F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D178921-E6EB-89FB-1721-8D340F832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18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10" descr="APU Logo Final-medium.jpg">
            <a:extLst>
              <a:ext uri="{FF2B5EF4-FFF2-40B4-BE49-F238E27FC236}">
                <a16:creationId xmlns:a16="http://schemas.microsoft.com/office/drawing/2014/main" id="{9186F32B-2E23-EAE7-28F5-E2FCF5E3DF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19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0178BF3-0C44-7F6F-9A93-FAD4F3ED2C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49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60D7C342-4D59-30CD-6ECC-0731D5E44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6F56718-5153-BA4C-1652-9EFB47DA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7577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E97445D-AA3E-4FF1-5C3D-A2CF07C45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D4643407-354C-EF13-0031-A2AB96E23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09964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451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tx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tx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94E1089-2642-1F16-6D34-0AA470DAB4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14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C97ADB29-0190-8E6A-A68B-AEBB217C0E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EAE3BF1D-7538-D216-ADA6-8A61272CEC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793A658E-0EDC-3F4C-BFB3-E8CA966F3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1C42F19-22A5-A6AA-F9A6-B990F2E4BD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88012-5D39-66F9-BCBC-E3DED480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71734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61A374B0-731A-1D13-1D15-DEB568D14E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DD384CD-5B1D-00AA-C88E-51863CE859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0E62B52-2676-DD95-FD76-B834BA0270E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4EF56-AF27-D8AD-DACE-E5CE66A7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890E9656-A63D-02CF-0218-527AB2D41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5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4828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F99F1D5-796D-B18C-4706-ECD5827DB6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5118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E3F9F65D-AB78-8571-A238-B3743684A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169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EDC140F1-7C93-36F2-49E9-260DAC6B7E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22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458D67BC-08A8-B641-2D7F-240DC17CDE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1A76DD4-43F7-C972-85EA-CAFDE2FA0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0D0C3E1-B2D7-E36D-87E0-ECAB470B2D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62331960-A4CD-E907-ACF8-2904680BAD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7A9D95-A204-E92E-A5F8-1E263A7A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0362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14576114-4EE3-A4A4-76CC-B9B2275D1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3B5096E-B439-B90B-5317-2550E3B656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7E850367-FBF9-B7B1-9E76-EC298218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B7999D6D-BA9E-A93A-5AB4-A94911B24D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213A9-305D-2AFC-FF34-19434A2D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137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3" name="Picture 10" descr="APU Logo Final-medium.jpg">
            <a:extLst>
              <a:ext uri="{FF2B5EF4-FFF2-40B4-BE49-F238E27FC236}">
                <a16:creationId xmlns:a16="http://schemas.microsoft.com/office/drawing/2014/main" id="{C388C33F-8C44-39F0-8C2F-7CF690D3C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27490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3D2297B-429D-D242-496A-D8036CC69E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9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CC693F6-F024-A3A9-24FB-E8ED5704B6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815"/>
          <a:stretch/>
        </p:blipFill>
        <p:spPr>
          <a:xfrm>
            <a:off x="0" y="6502398"/>
            <a:ext cx="12192000" cy="355601"/>
          </a:xfrm>
          <a:prstGeom prst="rect">
            <a:avLst/>
          </a:prstGeom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B623752B-4505-458A-8F13-B97CEB0BB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697038"/>
            <a:ext cx="117475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D7F5865-615B-424A-A375-A8F1EEAE7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8569D-7387-4D30-B100-DC94E7D1863E}"/>
              </a:ext>
            </a:extLst>
          </p:cNvPr>
          <p:cNvSpPr txBox="1"/>
          <p:nvPr userDrawn="1"/>
        </p:nvSpPr>
        <p:spPr>
          <a:xfrm>
            <a:off x="10859590" y="6588371"/>
            <a:ext cx="1550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</a:t>
            </a:r>
            <a:fld id="{7E7DF8DA-2BBC-4974-99EF-62657F72EFE3}" type="slidenum">
              <a:rPr lang="en-US" sz="800" smtClean="0">
                <a:solidFill>
                  <a:schemeClr val="bg2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8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C117F-9549-84AD-C279-A42AEB20D920}"/>
              </a:ext>
            </a:extLst>
          </p:cNvPr>
          <p:cNvSpPr txBox="1"/>
          <p:nvPr userDrawn="1"/>
        </p:nvSpPr>
        <p:spPr>
          <a:xfrm>
            <a:off x="39175" y="6588371"/>
            <a:ext cx="23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Module Code &amp; Module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D054F-4D2B-C683-DC2F-88927DD0A10B}"/>
              </a:ext>
            </a:extLst>
          </p:cNvPr>
          <p:cNvSpPr txBox="1"/>
          <p:nvPr userDrawn="1"/>
        </p:nvSpPr>
        <p:spPr>
          <a:xfrm>
            <a:off x="4480560" y="6572476"/>
            <a:ext cx="3396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53" r:id="rId2"/>
    <p:sldLayoutId id="2147483729" r:id="rId3"/>
    <p:sldLayoutId id="2147483757" r:id="rId4"/>
    <p:sldLayoutId id="2147483758" r:id="rId5"/>
    <p:sldLayoutId id="2147483720" r:id="rId6"/>
    <p:sldLayoutId id="2147483756" r:id="rId7"/>
    <p:sldLayoutId id="2147483719" r:id="rId8"/>
    <p:sldLayoutId id="2147483737" r:id="rId9"/>
    <p:sldLayoutId id="2147483723" r:id="rId10"/>
    <p:sldLayoutId id="2147483739" r:id="rId11"/>
    <p:sldLayoutId id="2147483721" r:id="rId12"/>
    <p:sldLayoutId id="2147483744" r:id="rId13"/>
    <p:sldLayoutId id="2147483722" r:id="rId14"/>
    <p:sldLayoutId id="2147483745" r:id="rId15"/>
    <p:sldLayoutId id="2147483731" r:id="rId16"/>
    <p:sldLayoutId id="2147483724" r:id="rId17"/>
    <p:sldLayoutId id="2147483730" r:id="rId18"/>
    <p:sldLayoutId id="2147483735" r:id="rId19"/>
    <p:sldLayoutId id="2147483725" r:id="rId20"/>
    <p:sldLayoutId id="2147483743" r:id="rId21"/>
    <p:sldLayoutId id="2147483726" r:id="rId22"/>
    <p:sldLayoutId id="2147483740" r:id="rId23"/>
    <p:sldLayoutId id="2147483732" r:id="rId24"/>
    <p:sldLayoutId id="2147483742" r:id="rId25"/>
    <p:sldLayoutId id="2147483749" r:id="rId26"/>
    <p:sldLayoutId id="2147483750" r:id="rId27"/>
    <p:sldLayoutId id="2147483741" r:id="rId28"/>
    <p:sldLayoutId id="2147483734" r:id="rId29"/>
    <p:sldLayoutId id="2147483733" r:id="rId30"/>
    <p:sldLayoutId id="2147483752" r:id="rId31"/>
    <p:sldLayoutId id="2147483727" r:id="rId32"/>
    <p:sldLayoutId id="2147483738" r:id="rId33"/>
    <p:sldLayoutId id="2147483751" r:id="rId34"/>
    <p:sldLayoutId id="2147483747" r:id="rId35"/>
    <p:sldLayoutId id="2147483736" r:id="rId36"/>
    <p:sldLayoutId id="2147483748" r:id="rId37"/>
    <p:sldLayoutId id="2147483728" r:id="rId38"/>
    <p:sldLayoutId id="2147483746" r:id="rId39"/>
    <p:sldLayoutId id="2147483754" r:id="rId40"/>
    <p:sldLayoutId id="2147483755" r:id="rId4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j-lt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j-lt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13188" y="3733801"/>
            <a:ext cx="6754812" cy="1470025"/>
          </a:xfrm>
        </p:spPr>
        <p:txBody>
          <a:bodyPr/>
          <a:lstStyle/>
          <a:p>
            <a:pPr eaLnBrk="1" hangingPunct="1"/>
            <a:r>
              <a:rPr lang="en-US" sz="3200" dirty="0"/>
              <a:t>Entity Relationship Modeling</a:t>
            </a:r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898900" y="1600200"/>
            <a:ext cx="6769100" cy="1752600"/>
          </a:xfrm>
        </p:spPr>
        <p:txBody>
          <a:bodyPr/>
          <a:lstStyle/>
          <a:p>
            <a:pPr lvl="0"/>
            <a:r>
              <a:rPr lang="en-US" dirty="0"/>
              <a:t>CT004-3.5-3 </a:t>
            </a:r>
            <a:br>
              <a:rPr lang="en-US" dirty="0"/>
            </a:br>
            <a:r>
              <a:rPr lang="en-US" dirty="0"/>
              <a:t>Advanced Database Systems</a:t>
            </a:r>
            <a:endParaRPr lang="en-MY" dirty="0"/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752475"/>
          </a:xfrm>
        </p:spPr>
        <p:txBody>
          <a:bodyPr/>
          <a:lstStyle/>
          <a:p>
            <a:r>
              <a:rPr lang="en-GB" sz="3600"/>
              <a:t>Learning objectives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IE" sz="2400" b="1" dirty="0"/>
              <a:t>   At the end of the lecture, you should be able to know</a:t>
            </a:r>
          </a:p>
          <a:p>
            <a:pPr>
              <a:lnSpc>
                <a:spcPct val="9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400" b="1" dirty="0"/>
              <a:t>How to model of real world</a:t>
            </a:r>
          </a:p>
          <a:p>
            <a:pPr marL="857250" lvl="2" indent="0">
              <a:lnSpc>
                <a:spcPct val="9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000" b="1" dirty="0"/>
              <a:t>Entities, Attributes &amp; Relationship</a:t>
            </a:r>
          </a:p>
          <a:p>
            <a:pPr marL="857250" lvl="2" indent="0">
              <a:lnSpc>
                <a:spcPct val="9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000" b="1" dirty="0"/>
              <a:t>ER Diagram</a:t>
            </a:r>
          </a:p>
          <a:p>
            <a:pPr marL="857250" lvl="2" indent="0">
              <a:lnSpc>
                <a:spcPct val="90000"/>
              </a:lnSpc>
              <a:spcBef>
                <a:spcPct val="0"/>
              </a:spcBef>
              <a:buClr>
                <a:srgbClr val="FF0000"/>
              </a:buClr>
              <a:buNone/>
            </a:pPr>
            <a:endParaRPr lang="en-GB" b="1" dirty="0"/>
          </a:p>
          <a:p>
            <a:pPr marL="857250" lvl="2" indent="0">
              <a:lnSpc>
                <a:spcPct val="90000"/>
              </a:lnSpc>
              <a:spcBef>
                <a:spcPct val="0"/>
              </a:spcBef>
              <a:buClr>
                <a:srgbClr val="FF0000"/>
              </a:buClr>
              <a:buNone/>
            </a:pPr>
            <a:endParaRPr lang="en-GB" sz="2000" b="1" dirty="0"/>
          </a:p>
          <a:p>
            <a:pPr marL="857250" lvl="2" indent="0">
              <a:lnSpc>
                <a:spcPct val="90000"/>
              </a:lnSpc>
              <a:spcBef>
                <a:spcPct val="0"/>
              </a:spcBef>
              <a:buClr>
                <a:srgbClr val="FF0000"/>
              </a:buClr>
              <a:buNone/>
            </a:pPr>
            <a:endParaRPr lang="en-GB" sz="2000" b="1" dirty="0"/>
          </a:p>
          <a:p>
            <a:pPr marL="857250" lvl="2" indent="0">
              <a:lnSpc>
                <a:spcPct val="90000"/>
              </a:lnSpc>
              <a:spcBef>
                <a:spcPct val="0"/>
              </a:spcBef>
              <a:buClr>
                <a:srgbClr val="FF0000"/>
              </a:buClr>
              <a:buFont typeface="Wingdings" pitchFamily="2" charset="2"/>
              <a:buChar char="v"/>
            </a:pPr>
            <a:endParaRPr lang="en-GB" sz="2000" b="1" dirty="0"/>
          </a:p>
          <a:p>
            <a:pPr marL="857250" lvl="2" indent="0">
              <a:lnSpc>
                <a:spcPct val="90000"/>
              </a:lnSpc>
              <a:spcBef>
                <a:spcPct val="0"/>
              </a:spcBef>
              <a:buClr>
                <a:srgbClr val="FF0000"/>
              </a:buClr>
              <a:buFont typeface="Wingdings" pitchFamily="2" charset="2"/>
              <a:buChar char="v"/>
            </a:pPr>
            <a:endParaRPr lang="en-GB" sz="2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274639"/>
            <a:ext cx="6951662" cy="695325"/>
          </a:xfrm>
        </p:spPr>
        <p:txBody>
          <a:bodyPr/>
          <a:lstStyle/>
          <a:p>
            <a:r>
              <a:rPr lang="en-US" sz="3200" dirty="0"/>
              <a:t>Entity Relationship Diagram (ERD)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sz="2800"/>
              <a:t>    An </a:t>
            </a:r>
            <a:r>
              <a:rPr lang="en-US" sz="2800">
                <a:solidFill>
                  <a:srgbClr val="B40000"/>
                </a:solidFill>
              </a:rPr>
              <a:t>entity relationship diagram</a:t>
            </a:r>
            <a:r>
              <a:rPr lang="en-US" sz="2800"/>
              <a:t> is a graphical representation of an organization’s data storage requirements.</a:t>
            </a:r>
          </a:p>
          <a:p>
            <a:pPr algn="just">
              <a:buFontTx/>
              <a:buNone/>
            </a:pPr>
            <a:endParaRPr lang="en-US" sz="2800"/>
          </a:p>
          <a:p>
            <a:pPr algn="just"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800"/>
              <a:t>Entity relationship diagrams are abstractions of the real world that simplify the problem to be solved while retaining its essential features.</a:t>
            </a:r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endParaRPr lang="en-US" sz="28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274638"/>
            <a:ext cx="8229600" cy="830262"/>
          </a:xfrm>
        </p:spPr>
        <p:txBody>
          <a:bodyPr/>
          <a:lstStyle/>
          <a:p>
            <a:r>
              <a:rPr lang="en-US" sz="3600" dirty="0"/>
              <a:t>Entity Relationship Diagram (ERD)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800"/>
              <a:t>ERDs are used to:</a:t>
            </a:r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endParaRPr lang="en-US" sz="2800"/>
          </a:p>
          <a:p>
            <a:pPr lvl="1" algn="just">
              <a:buClr>
                <a:srgbClr val="FF0000"/>
              </a:buClr>
              <a:buFont typeface="Wingdings" pitchFamily="2" charset="2"/>
              <a:buChar char="§"/>
            </a:pPr>
            <a:r>
              <a:rPr lang="en-US"/>
              <a:t>identify the data that must be </a:t>
            </a:r>
            <a:r>
              <a:rPr lang="en-US">
                <a:solidFill>
                  <a:srgbClr val="B40000"/>
                </a:solidFill>
              </a:rPr>
              <a:t>captured,</a:t>
            </a:r>
            <a:r>
              <a:rPr lang="en-US"/>
              <a:t> </a:t>
            </a:r>
            <a:r>
              <a:rPr lang="en-US">
                <a:solidFill>
                  <a:srgbClr val="B40000"/>
                </a:solidFill>
              </a:rPr>
              <a:t>stored </a:t>
            </a:r>
            <a:r>
              <a:rPr lang="en-US"/>
              <a:t>and </a:t>
            </a:r>
            <a:r>
              <a:rPr lang="en-US">
                <a:solidFill>
                  <a:srgbClr val="B40000"/>
                </a:solidFill>
              </a:rPr>
              <a:t>retrieved</a:t>
            </a:r>
            <a:r>
              <a:rPr lang="en-US"/>
              <a:t> in order to support the business activities performed by an organization; and identify the data required to </a:t>
            </a:r>
            <a:r>
              <a:rPr lang="en-US">
                <a:solidFill>
                  <a:srgbClr val="B40000"/>
                </a:solidFill>
              </a:rPr>
              <a:t>derive</a:t>
            </a:r>
            <a:r>
              <a:rPr lang="en-US"/>
              <a:t> and </a:t>
            </a:r>
            <a:r>
              <a:rPr lang="en-US">
                <a:solidFill>
                  <a:srgbClr val="B40000"/>
                </a:solidFill>
              </a:rPr>
              <a:t>report</a:t>
            </a:r>
            <a:r>
              <a:rPr lang="en-US"/>
              <a:t> on the performance measures that an organization should be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00201"/>
            <a:ext cx="8686800" cy="4525963"/>
          </a:xfrm>
        </p:spPr>
        <p:txBody>
          <a:bodyPr/>
          <a:lstStyle/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400"/>
              <a:t>The ‘data’ view of a system may be modeled by an </a:t>
            </a:r>
            <a:r>
              <a:rPr lang="en-US" sz="2400" b="1">
                <a:solidFill>
                  <a:srgbClr val="B40000"/>
                </a:solidFill>
              </a:rPr>
              <a:t>Entity-Relationship Diagram (E-R Diagram)</a:t>
            </a:r>
            <a:r>
              <a:rPr lang="en-US" sz="2400">
                <a:solidFill>
                  <a:srgbClr val="B40000"/>
                </a:solidFill>
              </a:rPr>
              <a:t>.</a:t>
            </a:r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400"/>
              <a:t>Provides a high-level,  conceptual view of a DB structure.</a:t>
            </a:r>
          </a:p>
          <a:p>
            <a:endParaRPr lang="en-US" sz="240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274639"/>
            <a:ext cx="8229600" cy="644525"/>
          </a:xfrm>
        </p:spPr>
        <p:txBody>
          <a:bodyPr/>
          <a:lstStyle/>
          <a:p>
            <a:r>
              <a:rPr lang="en-US" sz="3600" dirty="0"/>
              <a:t>Components of ERD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00201"/>
            <a:ext cx="86868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   </a:t>
            </a:r>
            <a:r>
              <a:rPr lang="en-US" sz="2400"/>
              <a:t>Entity Relationship Diagrams have three different components:</a:t>
            </a:r>
          </a:p>
          <a:p>
            <a:pPr>
              <a:buFontTx/>
              <a:buNone/>
            </a:pPr>
            <a:endParaRPr lang="en-US" sz="2400"/>
          </a:p>
          <a:p>
            <a:pPr lvl="1"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400"/>
              <a:t>ENTITIES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400"/>
              <a:t>ATTRIBUTES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400"/>
              <a:t>RELATIONSHIPS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1" y="503238"/>
            <a:ext cx="5775325" cy="449262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Entities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398588"/>
            <a:ext cx="8458200" cy="4343400"/>
          </a:xfrm>
        </p:spPr>
        <p:txBody>
          <a:bodyPr/>
          <a:lstStyle/>
          <a:p>
            <a:pPr>
              <a:buFontTx/>
              <a:buNone/>
            </a:pPr>
            <a:r>
              <a:rPr lang="en-US" sz="2000" dirty="0"/>
              <a:t>These are the </a:t>
            </a:r>
            <a:r>
              <a:rPr lang="en-US" sz="2000" dirty="0">
                <a:solidFill>
                  <a:srgbClr val="FF3300"/>
                </a:solidFill>
              </a:rPr>
              <a:t>people, places, and things</a:t>
            </a:r>
            <a:r>
              <a:rPr lang="en-US" sz="2000" dirty="0"/>
              <a:t> exist in   </a:t>
            </a:r>
          </a:p>
          <a:p>
            <a:pPr>
              <a:buFontTx/>
              <a:buNone/>
            </a:pPr>
            <a:r>
              <a:rPr lang="en-US" sz="2000" dirty="0"/>
              <a:t> an organization. In short, anything which an organization needs to </a:t>
            </a:r>
            <a:r>
              <a:rPr lang="en-US" sz="2000" dirty="0">
                <a:solidFill>
                  <a:srgbClr val="FF3300"/>
                </a:solidFill>
              </a:rPr>
              <a:t>store </a:t>
            </a:r>
            <a:r>
              <a:rPr lang="en-US" sz="2000" dirty="0"/>
              <a:t>   </a:t>
            </a:r>
          </a:p>
          <a:p>
            <a:pPr>
              <a:buFontTx/>
              <a:buNone/>
            </a:pPr>
            <a:r>
              <a:rPr lang="en-US" sz="2000" dirty="0"/>
              <a:t> data about</a:t>
            </a:r>
            <a:r>
              <a:rPr lang="en-US" sz="2400" dirty="0"/>
              <a:t>.</a:t>
            </a:r>
            <a:endParaRPr lang="en-US" dirty="0"/>
          </a:p>
          <a:p>
            <a:pPr algn="just">
              <a:buFontTx/>
              <a:buNone/>
            </a:pPr>
            <a:endParaRPr lang="en-US" dirty="0"/>
          </a:p>
          <a:p>
            <a:pPr algn="just">
              <a:buFontTx/>
              <a:buNone/>
            </a:pPr>
            <a:endParaRPr lang="en-US" dirty="0"/>
          </a:p>
          <a:p>
            <a:pPr algn="just">
              <a:buFontTx/>
              <a:buNone/>
            </a:pPr>
            <a:endParaRPr lang="en-US" dirty="0"/>
          </a:p>
          <a:p>
            <a:pPr algn="just">
              <a:buFontTx/>
              <a:buNone/>
            </a:pPr>
            <a:endParaRPr lang="en-US" dirty="0"/>
          </a:p>
          <a:p>
            <a:pPr algn="just">
              <a:buFontTx/>
              <a:buNone/>
            </a:pPr>
            <a:endParaRPr lang="en-US" dirty="0"/>
          </a:p>
          <a:p>
            <a:pPr algn="just">
              <a:buFontTx/>
              <a:buNone/>
            </a:pPr>
            <a:endParaRPr lang="en-US" dirty="0"/>
          </a:p>
          <a:p>
            <a:pPr algn="just">
              <a:buFontTx/>
              <a:buNone/>
            </a:pPr>
            <a:endParaRPr lang="en-US" dirty="0"/>
          </a:p>
          <a:p>
            <a:pPr algn="just">
              <a:buFontTx/>
              <a:buNone/>
            </a:pPr>
            <a:endParaRPr lang="en-US" dirty="0"/>
          </a:p>
          <a:p>
            <a:pPr algn="just">
              <a:buFontTx/>
              <a:buNone/>
            </a:pPr>
            <a:endParaRPr lang="en-US" dirty="0"/>
          </a:p>
          <a:p>
            <a:pPr algn="just">
              <a:buFontTx/>
              <a:buNone/>
            </a:pPr>
            <a:endParaRPr lang="en-US" dirty="0"/>
          </a:p>
          <a:p>
            <a:pPr algn="just">
              <a:buFontTx/>
              <a:buNone/>
            </a:pPr>
            <a:endParaRPr lang="en-US" dirty="0"/>
          </a:p>
          <a:p>
            <a:pPr algn="just">
              <a:buFontTx/>
              <a:buNone/>
            </a:pPr>
            <a:endParaRPr lang="en-US" dirty="0"/>
          </a:p>
          <a:p>
            <a:pPr algn="just">
              <a:buFontTx/>
              <a:buNone/>
            </a:pPr>
            <a:endParaRPr lang="en-US" dirty="0"/>
          </a:p>
        </p:txBody>
      </p:sp>
      <p:sp>
        <p:nvSpPr>
          <p:cNvPr id="112644" name="Rectangle 4"/>
          <p:cNvSpPr>
            <a:spLocks noChangeArrowheads="1"/>
          </p:cNvSpPr>
          <p:nvPr/>
        </p:nvSpPr>
        <p:spPr bwMode="auto">
          <a:xfrm>
            <a:off x="1860550" y="3841750"/>
            <a:ext cx="8807450" cy="2209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000"/>
              <a:t>An entity can be </a:t>
            </a:r>
            <a:r>
              <a:rPr lang="en-US" sz="2000" b="1"/>
              <a:t>uniquely</a:t>
            </a:r>
            <a:r>
              <a:rPr lang="en-US" sz="2000"/>
              <a:t> identified.</a:t>
            </a: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000"/>
              <a:t>Organisations collect and store data about entities:</a:t>
            </a:r>
          </a:p>
          <a:p>
            <a:pPr marL="742950" lvl="1" indent="-285750">
              <a:spcBef>
                <a:spcPct val="20000"/>
              </a:spcBef>
              <a:buClr>
                <a:srgbClr val="FF0000"/>
              </a:buClr>
              <a:buFontTx/>
              <a:buChar char="•"/>
            </a:pPr>
            <a:r>
              <a:rPr lang="en-US" sz="2000"/>
              <a:t>if a bank stores data about you - you are an entity</a:t>
            </a:r>
          </a:p>
          <a:p>
            <a:pPr marL="742950" lvl="1" indent="-285750">
              <a:spcBef>
                <a:spcPct val="20000"/>
              </a:spcBef>
              <a:buClr>
                <a:srgbClr val="FF0000"/>
              </a:buClr>
              <a:buFontTx/>
              <a:buChar char="•"/>
            </a:pPr>
            <a:r>
              <a:rPr lang="en-US" sz="2000"/>
              <a:t>if a business stores a piece of paper called an invoice - the invoice is an entity</a:t>
            </a:r>
          </a:p>
          <a:p>
            <a:pPr marL="742950" lvl="1" indent="-285750">
              <a:spcBef>
                <a:spcPct val="20000"/>
              </a:spcBef>
              <a:buClr>
                <a:srgbClr val="FF0000"/>
              </a:buClr>
              <a:buFontTx/>
              <a:buChar char="•"/>
            </a:pPr>
            <a:r>
              <a:rPr lang="en-US" sz="2000"/>
              <a:t>a library stores data about a particular book - the book is an entity</a:t>
            </a:r>
          </a:p>
        </p:txBody>
      </p:sp>
      <p:sp>
        <p:nvSpPr>
          <p:cNvPr id="112645" name="AutoShape 5"/>
          <p:cNvSpPr>
            <a:spLocks noChangeArrowheads="1"/>
          </p:cNvSpPr>
          <p:nvPr/>
        </p:nvSpPr>
        <p:spPr bwMode="auto">
          <a:xfrm>
            <a:off x="2976563" y="2663826"/>
            <a:ext cx="6769100" cy="917575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0488" tIns="44450" rIns="90488" bIns="44450" anchor="ctr"/>
          <a:lstStyle/>
          <a:p>
            <a:pPr algn="ctr" eaLnBrk="0" hangingPunct="0"/>
            <a:r>
              <a:rPr lang="en-US" sz="2400">
                <a:solidFill>
                  <a:srgbClr val="FF3300"/>
                </a:solidFill>
              </a:rPr>
              <a:t>An actual, real thing or person about which data</a:t>
            </a:r>
          </a:p>
          <a:p>
            <a:pPr algn="ctr" eaLnBrk="0" hangingPunct="0"/>
            <a:r>
              <a:rPr lang="en-US" sz="2400">
                <a:solidFill>
                  <a:srgbClr val="FF3300"/>
                </a:solidFill>
              </a:rPr>
              <a:t> might be stored is referred to as an entity.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6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6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6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4" grpId="0" build="p" bldLvl="2" autoUpdateAnimBg="0"/>
      <p:bldP spid="112645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3463926" y="568326"/>
            <a:ext cx="5794375" cy="588963"/>
          </a:xfrm>
        </p:spPr>
        <p:txBody>
          <a:bodyPr>
            <a:normAutofit fontScale="90000"/>
          </a:bodyPr>
          <a:lstStyle/>
          <a:p>
            <a:r>
              <a:rPr lang="en-US" sz="3600">
                <a:solidFill>
                  <a:schemeClr val="tx1"/>
                </a:solidFill>
              </a:rPr>
              <a:t>Attributes</a:t>
            </a:r>
            <a:br>
              <a:rPr lang="en-US" sz="3600">
                <a:solidFill>
                  <a:schemeClr val="tx1"/>
                </a:solidFill>
              </a:rPr>
            </a:br>
            <a:endParaRPr lang="en-GB" sz="3600">
              <a:solidFill>
                <a:schemeClr val="tx1"/>
              </a:solidFill>
            </a:endParaRPr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auto">
          <a:xfrm>
            <a:off x="1752600" y="1598614"/>
            <a:ext cx="8458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/>
              <a:t>Entities are further described by their attributes (sometimes called data elements). These are the smallest units of data that can be described in a meaningful manner.</a:t>
            </a:r>
          </a:p>
        </p:txBody>
      </p:sp>
      <p:sp>
        <p:nvSpPr>
          <p:cNvPr id="113668" name="AutoShape 4"/>
          <p:cNvSpPr>
            <a:spLocks noChangeArrowheads="1"/>
          </p:cNvSpPr>
          <p:nvPr/>
        </p:nvSpPr>
        <p:spPr bwMode="auto">
          <a:xfrm>
            <a:off x="2368550" y="3130550"/>
            <a:ext cx="7378700" cy="9779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0488" tIns="44450" rIns="90488" bIns="44450" anchor="ctr"/>
          <a:lstStyle/>
          <a:p>
            <a:pPr algn="ctr" eaLnBrk="0" hangingPunct="0"/>
            <a:r>
              <a:rPr lang="en-US" sz="2400">
                <a:solidFill>
                  <a:srgbClr val="FF3300"/>
                </a:solidFill>
              </a:rPr>
              <a:t>An attribute is a data element associated with an entity</a:t>
            </a:r>
            <a:r>
              <a:rPr lang="en-US" sz="2400">
                <a:latin typeface="Times New Roman" pitchFamily="18" charset="0"/>
              </a:rPr>
              <a:t>.</a:t>
            </a:r>
          </a:p>
        </p:txBody>
      </p:sp>
      <p:sp>
        <p:nvSpPr>
          <p:cNvPr id="113669" name="Rectangle 5"/>
          <p:cNvSpPr>
            <a:spLocks noChangeArrowheads="1"/>
          </p:cNvSpPr>
          <p:nvPr/>
        </p:nvSpPr>
        <p:spPr bwMode="auto">
          <a:xfrm>
            <a:off x="2057400" y="4572000"/>
            <a:ext cx="8153400" cy="160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400"/>
              <a:t>The entity type SUPPLIER is likely to have attributes such as:</a:t>
            </a:r>
          </a:p>
          <a:p>
            <a:pPr marL="742950" lvl="1" indent="-285750">
              <a:spcBef>
                <a:spcPct val="20000"/>
              </a:spcBef>
              <a:buClr>
                <a:srgbClr val="FF0000"/>
              </a:buClr>
              <a:buFontTx/>
              <a:buChar char="•"/>
            </a:pPr>
            <a:r>
              <a:rPr lang="en-US" sz="2400" i="1"/>
              <a:t>supplier_name</a:t>
            </a:r>
          </a:p>
          <a:p>
            <a:pPr marL="742950" lvl="1" indent="-285750">
              <a:spcBef>
                <a:spcPct val="20000"/>
              </a:spcBef>
              <a:buClr>
                <a:srgbClr val="FF0000"/>
              </a:buClr>
              <a:buFontTx/>
              <a:buChar char="•"/>
            </a:pPr>
            <a:r>
              <a:rPr lang="en-US" sz="2400" i="1"/>
              <a:t>supplier_address etc.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8" grpId="0" animBg="1" autoUpdateAnimBg="0"/>
      <p:bldP spid="11366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676400"/>
            <a:ext cx="7772400" cy="4419600"/>
          </a:xfrm>
        </p:spPr>
        <p:txBody>
          <a:bodyPr/>
          <a:lstStyle/>
          <a:p>
            <a:pPr>
              <a:buClr>
                <a:srgbClr val="FF0000"/>
              </a:buClr>
              <a:buFont typeface="Wingdings" pitchFamily="2" charset="2"/>
              <a:buNone/>
            </a:pPr>
            <a:r>
              <a:rPr lang="en-GB" sz="2400"/>
              <a:t>Selecting Entities:</a:t>
            </a:r>
          </a:p>
          <a:p>
            <a:pPr>
              <a:buClr>
                <a:srgbClr val="FF0000"/>
              </a:buClr>
              <a:buFont typeface="Wingdings" pitchFamily="2" charset="2"/>
              <a:buNone/>
            </a:pPr>
            <a:endParaRPr lang="en-GB" sz="2400"/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GB" sz="2400"/>
              <a:t>Deciding upon entities is not always an easy process.</a:t>
            </a:r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GB" sz="2400"/>
              <a:t>The danger is in identifying attributes as entities and vice versa.</a:t>
            </a:r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GB" sz="2400"/>
              <a:t>Try and identify nouns in the narrative and decide whether or not data is likely to be stored about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788987"/>
          </a:xfrm>
        </p:spPr>
        <p:txBody>
          <a:bodyPr/>
          <a:lstStyle/>
          <a:p>
            <a:r>
              <a:rPr lang="en-GB" sz="3600"/>
              <a:t> Example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00213"/>
            <a:ext cx="8458200" cy="4114800"/>
          </a:xfrm>
        </p:spPr>
        <p:txBody>
          <a:bodyPr/>
          <a:lstStyle/>
          <a:p>
            <a:pPr indent="-57150" algn="just">
              <a:buNone/>
            </a:pPr>
            <a:r>
              <a:rPr lang="en-GB" sz="2400"/>
              <a:t>Each engineer is allocated one van (which is driven up to a certain mileage and then replaced). Each member has only one address but perhaps many vehicles. Each visit is to deal with only one vehicle.  A member can be visited more than once on any given date and there may be many visits to a member on different dates.  A member may only be covered for some of the vehicles they own and not for others.</a:t>
            </a:r>
          </a:p>
          <a:p>
            <a:pPr indent="-57150">
              <a:buClr>
                <a:srgbClr val="FF0000"/>
              </a:buClr>
              <a:buNone/>
            </a:pPr>
            <a:endParaRPr lang="en-GB" sz="2400"/>
          </a:p>
          <a:p>
            <a:pPr indent="-57150">
              <a:buClr>
                <a:srgbClr val="FF0000"/>
              </a:buClr>
              <a:buNone/>
            </a:pPr>
            <a:r>
              <a:rPr lang="en-GB" sz="2400" i="1"/>
              <a:t>From the above what are likely entities and attributes?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676400"/>
            <a:ext cx="8077200" cy="4724400"/>
          </a:xfrm>
        </p:spPr>
        <p:txBody>
          <a:bodyPr/>
          <a:lstStyle/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GB"/>
              <a:t>The nouns are:</a:t>
            </a:r>
          </a:p>
          <a:p>
            <a:pPr lvl="2">
              <a:buClr>
                <a:srgbClr val="FF0000"/>
              </a:buClr>
              <a:buFont typeface="Wingdings" pitchFamily="2" charset="2"/>
              <a:buChar char="§"/>
            </a:pPr>
            <a:r>
              <a:rPr lang="en-GB"/>
              <a:t>engineer,  van,  mileage,  member,  address,  vehicle,  visit and date.</a:t>
            </a:r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GB"/>
              <a:t>Entities:</a:t>
            </a:r>
          </a:p>
          <a:p>
            <a:pPr lvl="2">
              <a:buClr>
                <a:srgbClr val="FF0000"/>
              </a:buClr>
              <a:buFont typeface="Wingdings" pitchFamily="2" charset="2"/>
              <a:buChar char="§"/>
            </a:pPr>
            <a:r>
              <a:rPr lang="en-GB"/>
              <a:t>engineer,  van, member,  vehicle,  visit.</a:t>
            </a:r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GB"/>
              <a:t>Attributes</a:t>
            </a:r>
          </a:p>
          <a:p>
            <a:pPr lvl="2">
              <a:buClr>
                <a:srgbClr val="FF0000"/>
              </a:buClr>
              <a:buFont typeface="Wingdings" pitchFamily="2" charset="2"/>
              <a:buChar char="§"/>
            </a:pPr>
            <a:r>
              <a:rPr lang="en-GB"/>
              <a:t>mileage (van)</a:t>
            </a:r>
          </a:p>
          <a:p>
            <a:pPr lvl="2">
              <a:buClr>
                <a:srgbClr val="FF0000"/>
              </a:buClr>
              <a:buFont typeface="Wingdings" pitchFamily="2" charset="2"/>
              <a:buChar char="§"/>
            </a:pPr>
            <a:r>
              <a:rPr lang="en-GB"/>
              <a:t>address (member)</a:t>
            </a:r>
          </a:p>
          <a:p>
            <a:pPr lvl="2">
              <a:buClr>
                <a:srgbClr val="FF0000"/>
              </a:buClr>
              <a:buFont typeface="Wingdings" pitchFamily="2" charset="2"/>
              <a:buChar char="§"/>
            </a:pPr>
            <a:r>
              <a:rPr lang="en-GB"/>
              <a:t>date (visit)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7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7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7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7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7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7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808037"/>
          </a:xfrm>
        </p:spPr>
        <p:txBody>
          <a:bodyPr/>
          <a:lstStyle/>
          <a:p>
            <a:r>
              <a:rPr lang="en-US" sz="3600">
                <a:solidFill>
                  <a:schemeClr val="tx1"/>
                </a:solidFill>
              </a:rPr>
              <a:t>Relationships</a:t>
            </a:r>
            <a:endParaRPr lang="en-GB" sz="3600">
              <a:solidFill>
                <a:schemeClr val="tx1"/>
              </a:solidFill>
            </a:endParaRPr>
          </a:p>
        </p:txBody>
      </p:sp>
      <p:sp>
        <p:nvSpPr>
          <p:cNvPr id="118787" name="Rectangle 3"/>
          <p:cNvSpPr>
            <a:spLocks noChangeArrowheads="1"/>
          </p:cNvSpPr>
          <p:nvPr/>
        </p:nvSpPr>
        <p:spPr bwMode="auto">
          <a:xfrm>
            <a:off x="1905000" y="1511301"/>
            <a:ext cx="87630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sz="2400" dirty="0"/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400" dirty="0"/>
              <a:t>  Entities are associated with each other via relationships.</a:t>
            </a:r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400" dirty="0"/>
              <a:t>  A relationship is a named association between two or more        </a:t>
            </a:r>
          </a:p>
          <a:p>
            <a:pPr>
              <a:buClr>
                <a:srgbClr val="FF0000"/>
              </a:buClr>
              <a:buFont typeface="Wingdings" pitchFamily="2" charset="2"/>
              <a:buNone/>
            </a:pPr>
            <a:r>
              <a:rPr lang="en-US" sz="2400" dirty="0"/>
              <a:t>    entity types.</a:t>
            </a:r>
          </a:p>
          <a:p>
            <a:r>
              <a:rPr lang="en-US" sz="2400" dirty="0"/>
              <a:t>   The relationship PLAY-FOR between the entity types                </a:t>
            </a:r>
          </a:p>
          <a:p>
            <a:r>
              <a:rPr lang="en-US" sz="2400" dirty="0"/>
              <a:t>    PLAYER and TEAM.</a:t>
            </a:r>
          </a:p>
          <a:p>
            <a:pPr lvl="1"/>
            <a:r>
              <a:rPr lang="en-US" sz="2400" dirty="0"/>
              <a:t>The relationship CITIZEN-OF between the entity types 	PERSON and COUNTRY </a:t>
            </a:r>
          </a:p>
          <a:p>
            <a:pPr lvl="1"/>
            <a:r>
              <a:rPr lang="en-US" sz="2400" dirty="0"/>
              <a:t>EMPLOYEEs work in a DEPARTMENT</a:t>
            </a:r>
          </a:p>
          <a:p>
            <a:r>
              <a:rPr lang="en-US" sz="2400" dirty="0"/>
              <a:t>      LAWYERs advise CLIENTs</a:t>
            </a:r>
          </a:p>
          <a:p>
            <a:r>
              <a:rPr lang="en-US" sz="2400" dirty="0"/>
              <a:t>      EQUIPMENT is allocated to PROJECTs</a:t>
            </a:r>
          </a:p>
          <a:p>
            <a:r>
              <a:rPr lang="en-US" sz="2400" dirty="0"/>
              <a:t>      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841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2624139" y="274639"/>
            <a:ext cx="6988175" cy="714375"/>
          </a:xfrm>
        </p:spPr>
        <p:txBody>
          <a:bodyPr/>
          <a:lstStyle/>
          <a:p>
            <a:r>
              <a:rPr lang="en-US" sz="3600"/>
              <a:t>Types of Relationships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sz="2400"/>
              <a:t>   There are potentially three types of relationship that can exist between two different entities:</a:t>
            </a:r>
          </a:p>
          <a:p>
            <a:pPr algn="just">
              <a:buFontTx/>
              <a:buNone/>
            </a:pPr>
            <a:endParaRPr lang="en-US" sz="2400"/>
          </a:p>
          <a:p>
            <a:pPr lvl="1"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400"/>
              <a:t>One-to-One Relationships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400"/>
              <a:t>One-to-Many Relationships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400"/>
              <a:t>Many-to-Many Relationships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846138"/>
          </a:xfrm>
          <a:noFill/>
          <a:ln/>
        </p:spPr>
        <p:txBody>
          <a:bodyPr/>
          <a:lstStyle/>
          <a:p>
            <a:r>
              <a:rPr lang="en-US" sz="3600"/>
              <a:t>Types of Relationships</a:t>
            </a:r>
          </a:p>
        </p:txBody>
      </p:sp>
      <p:sp>
        <p:nvSpPr>
          <p:cNvPr id="121858" name="Rectangle 2"/>
          <p:cNvSpPr>
            <a:spLocks noGrp="1" noChangeArrowheads="1"/>
          </p:cNvSpPr>
          <p:nvPr>
            <p:ph idx="1"/>
          </p:nvPr>
        </p:nvSpPr>
        <p:spPr>
          <a:xfrm>
            <a:off x="1524000" y="1757363"/>
            <a:ext cx="9144000" cy="4525962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 b="1" dirty="0"/>
              <a:t>One to One Relationship(1:1)</a:t>
            </a:r>
            <a:endParaRPr lang="en-US" sz="24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This type of relationship takes place when a single occurrence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of an entity is related to just one occurrence of a second entity.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4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The relationship HEAD-OF between entity types MANAGER and        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DEPARTMENT.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400" dirty="0"/>
          </a:p>
          <a:p>
            <a:pPr>
              <a:lnSpc>
                <a:spcPct val="8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400" dirty="0"/>
              <a:t>This means that a department has </a:t>
            </a:r>
            <a:r>
              <a:rPr lang="en-US" sz="2400" b="1" dirty="0"/>
              <a:t>at most one </a:t>
            </a:r>
            <a:r>
              <a:rPr lang="en-US" sz="2400" dirty="0"/>
              <a:t>head and that manager is head of </a:t>
            </a:r>
            <a:r>
              <a:rPr lang="en-US" sz="2400" b="1" dirty="0"/>
              <a:t>at most one </a:t>
            </a:r>
            <a:r>
              <a:rPr lang="en-US" sz="2400" dirty="0"/>
              <a:t>department.</a:t>
            </a:r>
          </a:p>
          <a:p>
            <a:pPr>
              <a:lnSpc>
                <a:spcPct val="8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sz="2400" b="1" u="sng" dirty="0"/>
          </a:p>
          <a:p>
            <a:pPr algn="just">
              <a:lnSpc>
                <a:spcPct val="8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sz="2000" b="1" u="sng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>
          <a:xfrm>
            <a:off x="1747838" y="1879601"/>
            <a:ext cx="9144000" cy="4525963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 b="1"/>
              <a:t>One-to-Many Relationship(1:M)</a:t>
            </a:r>
            <a:endParaRPr lang="en-US" sz="2400"/>
          </a:p>
          <a:p>
            <a:pPr algn="just">
              <a:lnSpc>
                <a:spcPct val="80000"/>
              </a:lnSpc>
              <a:buFontTx/>
              <a:buNone/>
            </a:pPr>
            <a:r>
              <a:rPr lang="en-US" sz="2400"/>
              <a:t>This type of relationship takes place when a single occurrence   </a:t>
            </a:r>
          </a:p>
          <a:p>
            <a:pPr algn="just">
              <a:lnSpc>
                <a:spcPct val="80000"/>
              </a:lnSpc>
              <a:buFontTx/>
              <a:buNone/>
            </a:pPr>
            <a:r>
              <a:rPr lang="en-US" sz="2400"/>
              <a:t> of an entity is related to many occurrences of a second entity.</a:t>
            </a:r>
          </a:p>
          <a:p>
            <a:pPr>
              <a:lnSpc>
                <a:spcPct val="80000"/>
              </a:lnSpc>
              <a:buClr>
                <a:srgbClr val="FF0000"/>
              </a:buClr>
              <a:buFont typeface="Wingdings" pitchFamily="2" charset="2"/>
              <a:buNone/>
            </a:pPr>
            <a:endParaRPr lang="en-US" sz="2400"/>
          </a:p>
          <a:p>
            <a:pPr>
              <a:lnSpc>
                <a:spcPct val="80000"/>
              </a:lnSpc>
              <a:buClr>
                <a:srgbClr val="FF0000"/>
              </a:buClr>
              <a:buFont typeface="Wingdings" pitchFamily="2" charset="2"/>
              <a:buNone/>
            </a:pPr>
            <a:r>
              <a:rPr lang="en-US" sz="2400"/>
              <a:t>The relationship SUPERVISES between the entity types         </a:t>
            </a:r>
          </a:p>
          <a:p>
            <a:pPr>
              <a:lnSpc>
                <a:spcPct val="80000"/>
              </a:lnSpc>
              <a:buClr>
                <a:srgbClr val="FF0000"/>
              </a:buClr>
              <a:buFont typeface="Wingdings" pitchFamily="2" charset="2"/>
              <a:buNone/>
            </a:pPr>
            <a:r>
              <a:rPr lang="en-US" sz="2400"/>
              <a:t> MANAGER and EMPLOYEE.</a:t>
            </a:r>
          </a:p>
          <a:p>
            <a:pPr>
              <a:lnSpc>
                <a:spcPct val="80000"/>
              </a:lnSpc>
              <a:buClr>
                <a:srgbClr val="FF0000"/>
              </a:buClr>
              <a:buFont typeface="Wingdings" pitchFamily="2" charset="2"/>
              <a:buNone/>
            </a:pPr>
            <a:endParaRPr lang="en-US" sz="2400"/>
          </a:p>
          <a:p>
            <a:pPr>
              <a:lnSpc>
                <a:spcPct val="8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400"/>
              <a:t>This assumes that a manager may supervise </a:t>
            </a:r>
            <a:r>
              <a:rPr lang="en-US" sz="2400" b="1"/>
              <a:t>any number </a:t>
            </a:r>
            <a:r>
              <a:rPr lang="en-US" sz="2400"/>
              <a:t>of different employees but a given employee is supervised by </a:t>
            </a:r>
            <a:r>
              <a:rPr lang="en-US" sz="2400" b="1"/>
              <a:t>at most one </a:t>
            </a:r>
            <a:r>
              <a:rPr lang="en-US" sz="2400"/>
              <a:t>manager.</a:t>
            </a:r>
          </a:p>
          <a:p>
            <a:pPr>
              <a:lnSpc>
                <a:spcPct val="80000"/>
              </a:lnSpc>
            </a:pPr>
            <a:endParaRPr lang="en-GB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44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2882" name="Rectangle 2"/>
          <p:cNvSpPr>
            <a:spLocks noGrp="1" noChangeArrowheads="1"/>
          </p:cNvSpPr>
          <p:nvPr>
            <p:ph idx="1"/>
          </p:nvPr>
        </p:nvSpPr>
        <p:spPr>
          <a:xfrm>
            <a:off x="1524000" y="1752600"/>
            <a:ext cx="9144000" cy="4343400"/>
          </a:xfrm>
          <a:noFill/>
          <a:ln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sz="2400" b="1"/>
              <a:t>Many-to-Many Relationship (M:N)</a:t>
            </a:r>
            <a:endParaRPr lang="en-US" sz="2400"/>
          </a:p>
          <a:p>
            <a:pPr algn="just">
              <a:buFontTx/>
              <a:buNone/>
            </a:pPr>
            <a:r>
              <a:rPr lang="en-US" sz="2400"/>
              <a:t>   This type of relationship takes place when many occurrences of an entity are related to many occurrences of a second entity.</a:t>
            </a:r>
          </a:p>
          <a:p>
            <a:pPr algn="just">
              <a:buFontTx/>
              <a:buNone/>
            </a:pPr>
            <a:endParaRPr lang="en-US" sz="2400"/>
          </a:p>
          <a:p>
            <a:pPr>
              <a:buFontTx/>
              <a:buNone/>
            </a:pPr>
            <a:r>
              <a:rPr lang="en-US" sz="2400"/>
              <a:t>   The relationship ASSIGNED-TO between the entity types EMPLOYEE and PROJECT.</a:t>
            </a:r>
          </a:p>
          <a:p>
            <a:pPr>
              <a:buFontTx/>
              <a:buNone/>
            </a:pPr>
            <a:endParaRPr lang="en-US" sz="2400"/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400"/>
              <a:t>An employee may be assigned to </a:t>
            </a:r>
            <a:r>
              <a:rPr lang="en-US" sz="2400" b="1"/>
              <a:t>many</a:t>
            </a:r>
            <a:r>
              <a:rPr lang="en-US" sz="2400"/>
              <a:t> different projects and each project may have </a:t>
            </a:r>
            <a:r>
              <a:rPr lang="en-US" sz="2400" b="1"/>
              <a:t>many</a:t>
            </a:r>
            <a:r>
              <a:rPr lang="en-US" sz="2400"/>
              <a:t> employees assigned to it.</a:t>
            </a:r>
            <a:endParaRPr lang="en-US" b="1"/>
          </a:p>
          <a:p>
            <a:endParaRPr lang="en-US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2" grpId="0" build="p" bldLvl="3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1"/>
            <a:ext cx="7772400" cy="665163"/>
          </a:xfrm>
          <a:noFill/>
          <a:ln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r>
              <a:rPr lang="en-US" sz="3600"/>
              <a:t>Notation</a:t>
            </a:r>
          </a:p>
        </p:txBody>
      </p:sp>
      <p:sp>
        <p:nvSpPr>
          <p:cNvPr id="124931" name="Rectangle 3"/>
          <p:cNvSpPr>
            <a:spLocks noChangeArrowheads="1"/>
          </p:cNvSpPr>
          <p:nvPr/>
        </p:nvSpPr>
        <p:spPr bwMode="auto">
          <a:xfrm>
            <a:off x="2679700" y="2146300"/>
            <a:ext cx="1574800" cy="508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 eaLnBrk="0" hangingPunct="0"/>
            <a:r>
              <a:rPr lang="en-US" b="1"/>
              <a:t>INVOICE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908300" y="3248026"/>
            <a:ext cx="1422400" cy="409575"/>
            <a:chOff x="872" y="2046"/>
            <a:chExt cx="896" cy="258"/>
          </a:xfrm>
        </p:grpSpPr>
        <p:sp>
          <p:nvSpPr>
            <p:cNvPr id="124933" name="Line 5"/>
            <p:cNvSpPr>
              <a:spLocks noChangeShapeType="1"/>
            </p:cNvSpPr>
            <p:nvPr/>
          </p:nvSpPr>
          <p:spPr bwMode="auto">
            <a:xfrm>
              <a:off x="872" y="2304"/>
              <a:ext cx="8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934" name="Rectangle 6"/>
            <p:cNvSpPr>
              <a:spLocks noChangeArrowheads="1"/>
            </p:cNvSpPr>
            <p:nvPr/>
          </p:nvSpPr>
          <p:spPr bwMode="auto">
            <a:xfrm>
              <a:off x="927" y="2046"/>
              <a:ext cx="786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b="1"/>
                <a:t>is sent by</a:t>
              </a:r>
            </a:p>
          </p:txBody>
        </p:sp>
      </p:grpSp>
      <p:sp>
        <p:nvSpPr>
          <p:cNvPr id="124935" name="Rectangle 7"/>
          <p:cNvSpPr>
            <a:spLocks noChangeArrowheads="1"/>
          </p:cNvSpPr>
          <p:nvPr/>
        </p:nvSpPr>
        <p:spPr bwMode="auto">
          <a:xfrm>
            <a:off x="2374900" y="4425950"/>
            <a:ext cx="520700" cy="444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 eaLnBrk="0" hangingPunct="0"/>
            <a:r>
              <a:rPr lang="en-US" b="1"/>
              <a:t>A</a:t>
            </a:r>
          </a:p>
        </p:txBody>
      </p:sp>
      <p:sp>
        <p:nvSpPr>
          <p:cNvPr id="124936" name="Rectangle 8"/>
          <p:cNvSpPr>
            <a:spLocks noChangeArrowheads="1"/>
          </p:cNvSpPr>
          <p:nvPr/>
        </p:nvSpPr>
        <p:spPr bwMode="auto">
          <a:xfrm>
            <a:off x="4953000" y="4425950"/>
            <a:ext cx="520700" cy="444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 eaLnBrk="0" hangingPunct="0"/>
            <a:r>
              <a:rPr lang="en-US" b="1"/>
              <a:t>B</a:t>
            </a:r>
          </a:p>
        </p:txBody>
      </p:sp>
      <p:sp>
        <p:nvSpPr>
          <p:cNvPr id="124937" name="Line 9"/>
          <p:cNvSpPr>
            <a:spLocks noChangeShapeType="1"/>
          </p:cNvSpPr>
          <p:nvPr/>
        </p:nvSpPr>
        <p:spPr bwMode="auto">
          <a:xfrm>
            <a:off x="2901950" y="4648200"/>
            <a:ext cx="2044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4938" name="Line 10"/>
          <p:cNvSpPr>
            <a:spLocks noChangeShapeType="1"/>
          </p:cNvSpPr>
          <p:nvPr/>
        </p:nvSpPr>
        <p:spPr bwMode="auto">
          <a:xfrm>
            <a:off x="4800600" y="4502150"/>
            <a:ext cx="0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4939" name="Line 11"/>
          <p:cNvSpPr>
            <a:spLocks noChangeShapeType="1"/>
          </p:cNvSpPr>
          <p:nvPr/>
        </p:nvSpPr>
        <p:spPr bwMode="auto">
          <a:xfrm>
            <a:off x="3124200" y="4502150"/>
            <a:ext cx="0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4940" name="Rectangle 12"/>
          <p:cNvSpPr>
            <a:spLocks noChangeArrowheads="1"/>
          </p:cNvSpPr>
          <p:nvPr/>
        </p:nvSpPr>
        <p:spPr bwMode="auto">
          <a:xfrm>
            <a:off x="2298700" y="5721350"/>
            <a:ext cx="520700" cy="444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 eaLnBrk="0" hangingPunct="0"/>
            <a:r>
              <a:rPr lang="en-US" b="1"/>
              <a:t>A</a:t>
            </a:r>
          </a:p>
        </p:txBody>
      </p:sp>
      <p:sp>
        <p:nvSpPr>
          <p:cNvPr id="124941" name="Rectangle 13"/>
          <p:cNvSpPr>
            <a:spLocks noChangeArrowheads="1"/>
          </p:cNvSpPr>
          <p:nvPr/>
        </p:nvSpPr>
        <p:spPr bwMode="auto">
          <a:xfrm>
            <a:off x="4876800" y="5721350"/>
            <a:ext cx="520700" cy="444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 eaLnBrk="0" hangingPunct="0"/>
            <a:r>
              <a:rPr lang="en-US" b="1"/>
              <a:t>B</a:t>
            </a:r>
          </a:p>
        </p:txBody>
      </p:sp>
      <p:sp>
        <p:nvSpPr>
          <p:cNvPr id="124942" name="Line 14"/>
          <p:cNvSpPr>
            <a:spLocks noChangeShapeType="1"/>
          </p:cNvSpPr>
          <p:nvPr/>
        </p:nvSpPr>
        <p:spPr bwMode="auto">
          <a:xfrm>
            <a:off x="2825750" y="5943600"/>
            <a:ext cx="2044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4943" name="Line 15"/>
          <p:cNvSpPr>
            <a:spLocks noChangeShapeType="1"/>
          </p:cNvSpPr>
          <p:nvPr/>
        </p:nvSpPr>
        <p:spPr bwMode="auto">
          <a:xfrm flipV="1">
            <a:off x="4654550" y="5784850"/>
            <a:ext cx="2159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4944" name="Line 16"/>
          <p:cNvSpPr>
            <a:spLocks noChangeShapeType="1"/>
          </p:cNvSpPr>
          <p:nvPr/>
        </p:nvSpPr>
        <p:spPr bwMode="auto">
          <a:xfrm>
            <a:off x="4654550" y="5949950"/>
            <a:ext cx="215900" cy="114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4945" name="Rectangle 17"/>
          <p:cNvSpPr>
            <a:spLocks noChangeArrowheads="1"/>
          </p:cNvSpPr>
          <p:nvPr/>
        </p:nvSpPr>
        <p:spPr bwMode="auto">
          <a:xfrm>
            <a:off x="5922964" y="1822450"/>
            <a:ext cx="3597781" cy="8284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A plain rectangle is used to </a:t>
            </a:r>
          </a:p>
          <a:p>
            <a:pPr eaLnBrk="0" hangingPunct="0"/>
            <a:r>
              <a:rPr lang="en-US" sz="2400">
                <a:latin typeface="Times New Roman" pitchFamily="18" charset="0"/>
              </a:rPr>
              <a:t>represent the entity type.</a:t>
            </a:r>
          </a:p>
        </p:txBody>
      </p:sp>
      <p:sp>
        <p:nvSpPr>
          <p:cNvPr id="124946" name="Rectangle 18"/>
          <p:cNvSpPr>
            <a:spLocks noChangeArrowheads="1"/>
          </p:cNvSpPr>
          <p:nvPr/>
        </p:nvSpPr>
        <p:spPr bwMode="auto">
          <a:xfrm>
            <a:off x="5922964" y="3214688"/>
            <a:ext cx="3937617" cy="8284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A labeled line to represent the </a:t>
            </a:r>
          </a:p>
          <a:p>
            <a:pPr eaLnBrk="0" hangingPunct="0"/>
            <a:r>
              <a:rPr lang="en-US" sz="2400">
                <a:latin typeface="Times New Roman" pitchFamily="18" charset="0"/>
              </a:rPr>
              <a:t>relationship.</a:t>
            </a:r>
          </a:p>
        </p:txBody>
      </p:sp>
      <p:sp>
        <p:nvSpPr>
          <p:cNvPr id="124947" name="Rectangle 19"/>
          <p:cNvSpPr>
            <a:spLocks noChangeArrowheads="1"/>
          </p:cNvSpPr>
          <p:nvPr/>
        </p:nvSpPr>
        <p:spPr bwMode="auto">
          <a:xfrm>
            <a:off x="5922963" y="4322764"/>
            <a:ext cx="735012" cy="466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1 : 1</a:t>
            </a:r>
          </a:p>
        </p:txBody>
      </p:sp>
      <p:sp>
        <p:nvSpPr>
          <p:cNvPr id="124948" name="Rectangle 20"/>
          <p:cNvSpPr>
            <a:spLocks noChangeArrowheads="1"/>
          </p:cNvSpPr>
          <p:nvPr/>
        </p:nvSpPr>
        <p:spPr bwMode="auto">
          <a:xfrm>
            <a:off x="5922964" y="5770564"/>
            <a:ext cx="803275" cy="466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1 : N</a:t>
            </a:r>
          </a:p>
        </p:txBody>
      </p:sp>
      <p:sp>
        <p:nvSpPr>
          <p:cNvPr id="124949" name="Line 21"/>
          <p:cNvSpPr>
            <a:spLocks noChangeShapeType="1"/>
          </p:cNvSpPr>
          <p:nvPr/>
        </p:nvSpPr>
        <p:spPr bwMode="auto">
          <a:xfrm>
            <a:off x="2998788" y="5765801"/>
            <a:ext cx="0" cy="3667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1"/>
            <a:ext cx="7772400" cy="739775"/>
          </a:xfrm>
          <a:noFill/>
          <a:ln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r>
              <a:rPr lang="en-US" sz="3600"/>
              <a:t>Examples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597150" y="1800226"/>
            <a:ext cx="5397500" cy="631825"/>
            <a:chOff x="676" y="1134"/>
            <a:chExt cx="3400" cy="398"/>
          </a:xfrm>
        </p:grpSpPr>
        <p:sp>
          <p:nvSpPr>
            <p:cNvPr id="125956" name="Rectangle 4"/>
            <p:cNvSpPr>
              <a:spLocks noChangeArrowheads="1"/>
            </p:cNvSpPr>
            <p:nvPr/>
          </p:nvSpPr>
          <p:spPr bwMode="auto">
            <a:xfrm>
              <a:off x="676" y="1204"/>
              <a:ext cx="952" cy="3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lang="en-US" b="1"/>
                <a:t>COURSE</a:t>
              </a:r>
            </a:p>
          </p:txBody>
        </p:sp>
        <p:sp>
          <p:nvSpPr>
            <p:cNvPr id="125957" name="Rectangle 5"/>
            <p:cNvSpPr>
              <a:spLocks noChangeArrowheads="1"/>
            </p:cNvSpPr>
            <p:nvPr/>
          </p:nvSpPr>
          <p:spPr bwMode="auto">
            <a:xfrm>
              <a:off x="3124" y="1204"/>
              <a:ext cx="952" cy="3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lang="en-US" b="1"/>
                <a:t>STUDENT</a:t>
              </a:r>
            </a:p>
          </p:txBody>
        </p:sp>
        <p:sp>
          <p:nvSpPr>
            <p:cNvPr id="125958" name="Line 6"/>
            <p:cNvSpPr>
              <a:spLocks noChangeShapeType="1"/>
            </p:cNvSpPr>
            <p:nvPr/>
          </p:nvSpPr>
          <p:spPr bwMode="auto">
            <a:xfrm>
              <a:off x="1636" y="1368"/>
              <a:ext cx="14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959" name="Line 7"/>
            <p:cNvSpPr>
              <a:spLocks noChangeShapeType="1"/>
            </p:cNvSpPr>
            <p:nvPr/>
          </p:nvSpPr>
          <p:spPr bwMode="auto">
            <a:xfrm>
              <a:off x="1776" y="1300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960" name="Rectangle 8"/>
            <p:cNvSpPr>
              <a:spLocks noChangeArrowheads="1"/>
            </p:cNvSpPr>
            <p:nvPr/>
          </p:nvSpPr>
          <p:spPr bwMode="auto">
            <a:xfrm>
              <a:off x="2099" y="1134"/>
              <a:ext cx="971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b="1"/>
                <a:t>has enrolled</a:t>
              </a:r>
            </a:p>
          </p:txBody>
        </p:sp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3028" y="1292"/>
              <a:ext cx="88" cy="144"/>
              <a:chOff x="3028" y="1292"/>
              <a:chExt cx="88" cy="144"/>
            </a:xfrm>
          </p:grpSpPr>
          <p:sp>
            <p:nvSpPr>
              <p:cNvPr id="125962" name="Line 10"/>
              <p:cNvSpPr>
                <a:spLocks noChangeShapeType="1"/>
              </p:cNvSpPr>
              <p:nvPr/>
            </p:nvSpPr>
            <p:spPr bwMode="auto">
              <a:xfrm flipV="1">
                <a:off x="3028" y="1292"/>
                <a:ext cx="88" cy="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963" name="Line 11"/>
              <p:cNvSpPr>
                <a:spLocks noChangeShapeType="1"/>
              </p:cNvSpPr>
              <p:nvPr/>
            </p:nvSpPr>
            <p:spPr bwMode="auto">
              <a:xfrm>
                <a:off x="3028" y="1348"/>
                <a:ext cx="88" cy="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25964" name="Rectangle 12"/>
          <p:cNvSpPr>
            <a:spLocks noChangeArrowheads="1"/>
          </p:cNvSpPr>
          <p:nvPr/>
        </p:nvSpPr>
        <p:spPr bwMode="auto">
          <a:xfrm>
            <a:off x="2798763" y="3027363"/>
            <a:ext cx="7233584" cy="8284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1" dirty="0">
                <a:solidFill>
                  <a:schemeClr val="accent2"/>
                </a:solidFill>
                <a:latin typeface="Times New Roman" pitchFamily="18" charset="0"/>
              </a:rPr>
              <a:t>ONE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 course has enrolled on it </a:t>
            </a:r>
            <a:r>
              <a:rPr lang="en-US" sz="2400" b="1" dirty="0">
                <a:solidFill>
                  <a:schemeClr val="accent2"/>
                </a:solidFill>
                <a:latin typeface="Times New Roman" pitchFamily="18" charset="0"/>
              </a:rPr>
              <a:t>ONE or MORE 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students.</a:t>
            </a:r>
          </a:p>
          <a:p>
            <a:pPr eaLnBrk="0" hangingPunct="0"/>
            <a:r>
              <a:rPr lang="en-US" sz="2400" b="1" dirty="0">
                <a:solidFill>
                  <a:schemeClr val="accent2"/>
                </a:solidFill>
                <a:latin typeface="Times New Roman" pitchFamily="18" charset="0"/>
              </a:rPr>
              <a:t>many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 students are enrolled on </a:t>
            </a:r>
            <a:r>
              <a:rPr lang="en-US" sz="2400" b="1" dirty="0">
                <a:solidFill>
                  <a:schemeClr val="accent2"/>
                </a:solidFill>
                <a:latin typeface="Times New Roman" pitchFamily="18" charset="0"/>
              </a:rPr>
              <a:t>ONE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 course.</a:t>
            </a:r>
          </a:p>
        </p:txBody>
      </p: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2597150" y="4391026"/>
            <a:ext cx="5397500" cy="631825"/>
            <a:chOff x="676" y="2766"/>
            <a:chExt cx="3400" cy="398"/>
          </a:xfrm>
        </p:grpSpPr>
        <p:sp>
          <p:nvSpPr>
            <p:cNvPr id="125966" name="Rectangle 14"/>
            <p:cNvSpPr>
              <a:spLocks noChangeArrowheads="1"/>
            </p:cNvSpPr>
            <p:nvPr/>
          </p:nvSpPr>
          <p:spPr bwMode="auto">
            <a:xfrm>
              <a:off x="676" y="2836"/>
              <a:ext cx="952" cy="3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lang="en-US" b="1"/>
                <a:t>LOAN</a:t>
              </a:r>
            </a:p>
          </p:txBody>
        </p:sp>
        <p:sp>
          <p:nvSpPr>
            <p:cNvPr id="125967" name="Rectangle 15"/>
            <p:cNvSpPr>
              <a:spLocks noChangeArrowheads="1"/>
            </p:cNvSpPr>
            <p:nvPr/>
          </p:nvSpPr>
          <p:spPr bwMode="auto">
            <a:xfrm>
              <a:off x="3124" y="2836"/>
              <a:ext cx="952" cy="3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lang="en-US" b="1"/>
                <a:t>BOOK</a:t>
              </a:r>
            </a:p>
          </p:txBody>
        </p:sp>
        <p:sp>
          <p:nvSpPr>
            <p:cNvPr id="125968" name="Line 16"/>
            <p:cNvSpPr>
              <a:spLocks noChangeShapeType="1"/>
            </p:cNvSpPr>
            <p:nvPr/>
          </p:nvSpPr>
          <p:spPr bwMode="auto">
            <a:xfrm>
              <a:off x="1636" y="3000"/>
              <a:ext cx="14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969" name="Line 17"/>
            <p:cNvSpPr>
              <a:spLocks noChangeShapeType="1"/>
            </p:cNvSpPr>
            <p:nvPr/>
          </p:nvSpPr>
          <p:spPr bwMode="auto">
            <a:xfrm>
              <a:off x="1776" y="2932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970" name="Line 18"/>
            <p:cNvSpPr>
              <a:spLocks noChangeShapeType="1"/>
            </p:cNvSpPr>
            <p:nvPr/>
          </p:nvSpPr>
          <p:spPr bwMode="auto">
            <a:xfrm>
              <a:off x="3024" y="2932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971" name="Rectangle 19"/>
            <p:cNvSpPr>
              <a:spLocks noChangeArrowheads="1"/>
            </p:cNvSpPr>
            <p:nvPr/>
          </p:nvSpPr>
          <p:spPr bwMode="auto">
            <a:xfrm>
              <a:off x="2027" y="2766"/>
              <a:ext cx="698" cy="2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b="1"/>
                <a:t>refers to</a:t>
              </a:r>
            </a:p>
          </p:txBody>
        </p:sp>
      </p:grpSp>
      <p:sp>
        <p:nvSpPr>
          <p:cNvPr id="125972" name="Rectangle 20"/>
          <p:cNvSpPr>
            <a:spLocks noChangeArrowheads="1"/>
          </p:cNvSpPr>
          <p:nvPr/>
        </p:nvSpPr>
        <p:spPr bwMode="auto">
          <a:xfrm>
            <a:off x="2798763" y="5389563"/>
            <a:ext cx="5001370" cy="8284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400" b="1">
                <a:solidFill>
                  <a:schemeClr val="accent2"/>
                </a:solidFill>
                <a:latin typeface="Times New Roman" pitchFamily="18" charset="0"/>
              </a:rPr>
              <a:t>ONE</a:t>
            </a:r>
            <a:r>
              <a:rPr lang="en-US" sz="2400">
                <a:solidFill>
                  <a:schemeClr val="accent2"/>
                </a:solidFill>
                <a:latin typeface="Times New Roman" pitchFamily="18" charset="0"/>
              </a:rPr>
              <a:t> loan refers to 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</a:rPr>
              <a:t>ONE </a:t>
            </a:r>
            <a:r>
              <a:rPr lang="en-US" sz="2400">
                <a:solidFill>
                  <a:schemeClr val="accent2"/>
                </a:solidFill>
                <a:latin typeface="Times New Roman" pitchFamily="18" charset="0"/>
              </a:rPr>
              <a:t>book.</a:t>
            </a:r>
          </a:p>
          <a:p>
            <a:pPr eaLnBrk="0" hangingPunct="0"/>
            <a:r>
              <a:rPr lang="en-US" sz="2400" b="1">
                <a:solidFill>
                  <a:schemeClr val="accent2"/>
                </a:solidFill>
                <a:latin typeface="Times New Roman" pitchFamily="18" charset="0"/>
              </a:rPr>
              <a:t>ONE</a:t>
            </a:r>
            <a:r>
              <a:rPr lang="en-US" sz="2400">
                <a:solidFill>
                  <a:schemeClr val="accent2"/>
                </a:solidFill>
                <a:latin typeface="Times New Roman" pitchFamily="18" charset="0"/>
              </a:rPr>
              <a:t> book is referred to on 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</a:rPr>
              <a:t>ONE</a:t>
            </a:r>
            <a:r>
              <a:rPr lang="en-US" sz="2400">
                <a:solidFill>
                  <a:schemeClr val="accent2"/>
                </a:solidFill>
                <a:latin typeface="Times New Roman" pitchFamily="18" charset="0"/>
              </a:rPr>
              <a:t> loan.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5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5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64" grpId="0" autoUpdateAnimBg="0"/>
      <p:bldP spid="12597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28600"/>
            <a:ext cx="7543800" cy="1143000"/>
          </a:xfrm>
          <a:noFill/>
          <a:ln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r>
              <a:rPr lang="en-US" sz="3200" dirty="0"/>
              <a:t>Many-to-Many Relationship Example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752600"/>
            <a:ext cx="7772400" cy="4343400"/>
          </a:xfrm>
          <a:noFill/>
          <a:ln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000"/>
              <a:t>Relational databases </a:t>
            </a:r>
            <a:r>
              <a:rPr lang="en-US" sz="2000" b="1"/>
              <a:t>cannot</a:t>
            </a:r>
            <a:r>
              <a:rPr lang="en-US" sz="2000"/>
              <a:t> support this relationship type.</a:t>
            </a:r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000"/>
              <a:t>These relationships imply a missing or link entity.</a:t>
            </a:r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endParaRPr lang="en-US" sz="2000"/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000"/>
              <a:t>Suppose investigation and analysis has shown that: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§"/>
            </a:pPr>
            <a:r>
              <a:rPr lang="en-US"/>
              <a:t>any one supplier might supply more than one kind of part.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§"/>
            </a:pPr>
            <a:endParaRPr lang="en-US"/>
          </a:p>
          <a:p>
            <a:pPr lvl="1">
              <a:buClr>
                <a:srgbClr val="FF0000"/>
              </a:buClr>
              <a:buFont typeface="Wingdings" pitchFamily="2" charset="2"/>
              <a:buChar char="§"/>
            </a:pPr>
            <a:r>
              <a:rPr lang="en-US"/>
              <a:t>any one kind of part might be bought in from a number of different suppliers.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124200" y="5387976"/>
            <a:ext cx="5397500" cy="631825"/>
            <a:chOff x="1012" y="3390"/>
            <a:chExt cx="3400" cy="398"/>
          </a:xfrm>
        </p:grpSpPr>
        <p:sp>
          <p:nvSpPr>
            <p:cNvPr id="126981" name="Rectangle 5"/>
            <p:cNvSpPr>
              <a:spLocks noChangeArrowheads="1"/>
            </p:cNvSpPr>
            <p:nvPr/>
          </p:nvSpPr>
          <p:spPr bwMode="auto">
            <a:xfrm>
              <a:off x="1012" y="3460"/>
              <a:ext cx="952" cy="3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lang="en-US" b="1"/>
                <a:t>SUPPLIER</a:t>
              </a:r>
            </a:p>
          </p:txBody>
        </p:sp>
        <p:sp>
          <p:nvSpPr>
            <p:cNvPr id="126982" name="Rectangle 6"/>
            <p:cNvSpPr>
              <a:spLocks noChangeArrowheads="1"/>
            </p:cNvSpPr>
            <p:nvPr/>
          </p:nvSpPr>
          <p:spPr bwMode="auto">
            <a:xfrm>
              <a:off x="3460" y="3460"/>
              <a:ext cx="952" cy="3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lang="en-US" b="1"/>
                <a:t>PART</a:t>
              </a:r>
            </a:p>
          </p:txBody>
        </p:sp>
        <p:sp>
          <p:nvSpPr>
            <p:cNvPr id="126983" name="Line 7"/>
            <p:cNvSpPr>
              <a:spLocks noChangeShapeType="1"/>
            </p:cNvSpPr>
            <p:nvPr/>
          </p:nvSpPr>
          <p:spPr bwMode="auto">
            <a:xfrm>
              <a:off x="1972" y="3624"/>
              <a:ext cx="14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984" name="Rectangle 8"/>
            <p:cNvSpPr>
              <a:spLocks noChangeArrowheads="1"/>
            </p:cNvSpPr>
            <p:nvPr/>
          </p:nvSpPr>
          <p:spPr bwMode="auto">
            <a:xfrm>
              <a:off x="2363" y="3390"/>
              <a:ext cx="705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b="1"/>
                <a:t>supplies</a:t>
              </a:r>
            </a:p>
          </p:txBody>
        </p:sp>
        <p:sp>
          <p:nvSpPr>
            <p:cNvPr id="126985" name="Line 9"/>
            <p:cNvSpPr>
              <a:spLocks noChangeShapeType="1"/>
            </p:cNvSpPr>
            <p:nvPr/>
          </p:nvSpPr>
          <p:spPr bwMode="auto">
            <a:xfrm>
              <a:off x="1972" y="3508"/>
              <a:ext cx="88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986" name="Line 10"/>
            <p:cNvSpPr>
              <a:spLocks noChangeShapeType="1"/>
            </p:cNvSpPr>
            <p:nvPr/>
          </p:nvSpPr>
          <p:spPr bwMode="auto">
            <a:xfrm flipV="1">
              <a:off x="1972" y="3596"/>
              <a:ext cx="88" cy="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987" name="Line 11"/>
            <p:cNvSpPr>
              <a:spLocks noChangeShapeType="1"/>
            </p:cNvSpPr>
            <p:nvPr/>
          </p:nvSpPr>
          <p:spPr bwMode="auto">
            <a:xfrm flipV="1">
              <a:off x="3364" y="3548"/>
              <a:ext cx="88" cy="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988" name="Line 12"/>
            <p:cNvSpPr>
              <a:spLocks noChangeShapeType="1"/>
            </p:cNvSpPr>
            <p:nvPr/>
          </p:nvSpPr>
          <p:spPr bwMode="auto">
            <a:xfrm>
              <a:off x="3364" y="3604"/>
              <a:ext cx="88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build="p" bldLvl="3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1"/>
            <a:ext cx="7772400" cy="703263"/>
          </a:xfrm>
          <a:noFill/>
          <a:ln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r>
              <a:rPr lang="en-US" sz="3200"/>
              <a:t>Many to Many Example Cont’d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752601"/>
            <a:ext cx="7772400" cy="1046163"/>
          </a:xfrm>
          <a:noFill/>
          <a:ln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400"/>
              <a:t>The many-to-many relationship type is removed as follows: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282950" y="3359150"/>
            <a:ext cx="5384800" cy="1663700"/>
            <a:chOff x="1108" y="2116"/>
            <a:chExt cx="3392" cy="1048"/>
          </a:xfrm>
        </p:grpSpPr>
        <p:sp>
          <p:nvSpPr>
            <p:cNvPr id="128005" name="Rectangle 5"/>
            <p:cNvSpPr>
              <a:spLocks noChangeArrowheads="1"/>
            </p:cNvSpPr>
            <p:nvPr/>
          </p:nvSpPr>
          <p:spPr bwMode="auto">
            <a:xfrm>
              <a:off x="1108" y="2116"/>
              <a:ext cx="952" cy="3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lang="en-US" b="1"/>
                <a:t>SUPPLIER</a:t>
              </a:r>
            </a:p>
          </p:txBody>
        </p:sp>
        <p:sp>
          <p:nvSpPr>
            <p:cNvPr id="128006" name="Rectangle 6"/>
            <p:cNvSpPr>
              <a:spLocks noChangeArrowheads="1"/>
            </p:cNvSpPr>
            <p:nvPr/>
          </p:nvSpPr>
          <p:spPr bwMode="auto">
            <a:xfrm>
              <a:off x="3548" y="2116"/>
              <a:ext cx="952" cy="3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lang="en-US" b="1"/>
                <a:t>PART</a:t>
              </a:r>
            </a:p>
          </p:txBody>
        </p:sp>
        <p:sp>
          <p:nvSpPr>
            <p:cNvPr id="128007" name="Rectangle 7"/>
            <p:cNvSpPr>
              <a:spLocks noChangeArrowheads="1"/>
            </p:cNvSpPr>
            <p:nvPr/>
          </p:nvSpPr>
          <p:spPr bwMode="auto">
            <a:xfrm>
              <a:off x="2596" y="2884"/>
              <a:ext cx="424" cy="2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lang="en-US" b="1"/>
                <a:t>X</a:t>
              </a:r>
            </a:p>
          </p:txBody>
        </p:sp>
        <p:sp>
          <p:nvSpPr>
            <p:cNvPr id="128008" name="Line 8"/>
            <p:cNvSpPr>
              <a:spLocks noChangeShapeType="1"/>
            </p:cNvSpPr>
            <p:nvPr/>
          </p:nvSpPr>
          <p:spPr bwMode="auto">
            <a:xfrm>
              <a:off x="1547" y="2452"/>
              <a:ext cx="0" cy="5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09" name="Line 9"/>
            <p:cNvSpPr>
              <a:spLocks noChangeShapeType="1"/>
            </p:cNvSpPr>
            <p:nvPr/>
          </p:nvSpPr>
          <p:spPr bwMode="auto">
            <a:xfrm>
              <a:off x="1540" y="2986"/>
              <a:ext cx="10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10" name="Line 10"/>
            <p:cNvSpPr>
              <a:spLocks noChangeShapeType="1"/>
            </p:cNvSpPr>
            <p:nvPr/>
          </p:nvSpPr>
          <p:spPr bwMode="auto">
            <a:xfrm>
              <a:off x="4061" y="2452"/>
              <a:ext cx="0" cy="5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11" name="Line 11"/>
            <p:cNvSpPr>
              <a:spLocks noChangeShapeType="1"/>
            </p:cNvSpPr>
            <p:nvPr/>
          </p:nvSpPr>
          <p:spPr bwMode="auto">
            <a:xfrm flipH="1">
              <a:off x="3020" y="2996"/>
              <a:ext cx="10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12" name="Line 12"/>
            <p:cNvSpPr>
              <a:spLocks noChangeShapeType="1"/>
            </p:cNvSpPr>
            <p:nvPr/>
          </p:nvSpPr>
          <p:spPr bwMode="auto">
            <a:xfrm flipV="1">
              <a:off x="2472" y="2924"/>
              <a:ext cx="116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13" name="Line 13"/>
            <p:cNvSpPr>
              <a:spLocks noChangeShapeType="1"/>
            </p:cNvSpPr>
            <p:nvPr/>
          </p:nvSpPr>
          <p:spPr bwMode="auto">
            <a:xfrm>
              <a:off x="2500" y="2990"/>
              <a:ext cx="88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14" name="Line 14"/>
            <p:cNvSpPr>
              <a:spLocks noChangeShapeType="1"/>
            </p:cNvSpPr>
            <p:nvPr/>
          </p:nvSpPr>
          <p:spPr bwMode="auto">
            <a:xfrm flipH="1" flipV="1">
              <a:off x="3020" y="2924"/>
              <a:ext cx="104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15" name="Line 15"/>
            <p:cNvSpPr>
              <a:spLocks noChangeShapeType="1"/>
            </p:cNvSpPr>
            <p:nvPr/>
          </p:nvSpPr>
          <p:spPr bwMode="auto">
            <a:xfrm flipH="1">
              <a:off x="3030" y="2990"/>
              <a:ext cx="84" cy="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16" name="Line 16"/>
            <p:cNvSpPr>
              <a:spLocks noChangeShapeType="1"/>
            </p:cNvSpPr>
            <p:nvPr/>
          </p:nvSpPr>
          <p:spPr bwMode="auto">
            <a:xfrm>
              <a:off x="1416" y="2572"/>
              <a:ext cx="26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017" name="Line 17"/>
            <p:cNvSpPr>
              <a:spLocks noChangeShapeType="1"/>
            </p:cNvSpPr>
            <p:nvPr/>
          </p:nvSpPr>
          <p:spPr bwMode="auto">
            <a:xfrm>
              <a:off x="3902" y="2572"/>
              <a:ext cx="26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1"/>
            <a:ext cx="7772400" cy="796925"/>
          </a:xfrm>
          <a:noFill/>
          <a:ln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r>
              <a:rPr lang="en-US" sz="3600" dirty="0"/>
              <a:t>Many to Many Example Cont’d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905000"/>
            <a:ext cx="7772400" cy="2362200"/>
          </a:xfrm>
          <a:noFill/>
          <a:ln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r>
              <a:rPr lang="en-US" sz="2400"/>
              <a:t>Thinking of an appropriate name for entity ‘X’ can be difficult.</a:t>
            </a:r>
          </a:p>
          <a:p>
            <a:pPr>
              <a:buFontTx/>
              <a:buNone/>
            </a:pPr>
            <a:endParaRPr lang="en-US" sz="2400"/>
          </a:p>
          <a:p>
            <a:r>
              <a:rPr lang="en-US" sz="2400"/>
              <a:t>In such cases it is acceptable to form it from the names of the original two entities.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297238" y="4562475"/>
            <a:ext cx="5384800" cy="1766888"/>
            <a:chOff x="1117" y="2874"/>
            <a:chExt cx="3392" cy="1113"/>
          </a:xfrm>
        </p:grpSpPr>
        <p:sp>
          <p:nvSpPr>
            <p:cNvPr id="129029" name="Rectangle 5"/>
            <p:cNvSpPr>
              <a:spLocks noChangeArrowheads="1"/>
            </p:cNvSpPr>
            <p:nvPr/>
          </p:nvSpPr>
          <p:spPr bwMode="auto">
            <a:xfrm>
              <a:off x="1117" y="2874"/>
              <a:ext cx="952" cy="3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lang="en-US" b="1"/>
                <a:t>SUPPLIER</a:t>
              </a:r>
            </a:p>
          </p:txBody>
        </p:sp>
        <p:sp>
          <p:nvSpPr>
            <p:cNvPr id="129030" name="Rectangle 6"/>
            <p:cNvSpPr>
              <a:spLocks noChangeArrowheads="1"/>
            </p:cNvSpPr>
            <p:nvPr/>
          </p:nvSpPr>
          <p:spPr bwMode="auto">
            <a:xfrm>
              <a:off x="3557" y="2874"/>
              <a:ext cx="952" cy="3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lang="en-US" b="1"/>
                <a:t>PART</a:t>
              </a:r>
            </a:p>
          </p:txBody>
        </p:sp>
        <p:sp>
          <p:nvSpPr>
            <p:cNvPr id="129031" name="Rectangle 7"/>
            <p:cNvSpPr>
              <a:spLocks noChangeArrowheads="1"/>
            </p:cNvSpPr>
            <p:nvPr/>
          </p:nvSpPr>
          <p:spPr bwMode="auto">
            <a:xfrm>
              <a:off x="2356" y="3577"/>
              <a:ext cx="922" cy="4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spAutoFit/>
            </a:bodyPr>
            <a:lstStyle/>
            <a:p>
              <a:pPr algn="ctr" eaLnBrk="0" hangingPunct="0"/>
              <a:r>
                <a:rPr lang="en-US" b="1"/>
                <a:t>SUPPLIER_</a:t>
              </a:r>
            </a:p>
            <a:p>
              <a:pPr algn="ctr" eaLnBrk="0" hangingPunct="0"/>
              <a:r>
                <a:rPr lang="en-US" b="1"/>
                <a:t>PART</a:t>
              </a:r>
            </a:p>
          </p:txBody>
        </p:sp>
        <p:sp>
          <p:nvSpPr>
            <p:cNvPr id="129032" name="Line 8"/>
            <p:cNvSpPr>
              <a:spLocks noChangeShapeType="1"/>
            </p:cNvSpPr>
            <p:nvPr/>
          </p:nvSpPr>
          <p:spPr bwMode="auto">
            <a:xfrm>
              <a:off x="1556" y="3210"/>
              <a:ext cx="0" cy="5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3" name="Line 9"/>
            <p:cNvSpPr>
              <a:spLocks noChangeShapeType="1"/>
            </p:cNvSpPr>
            <p:nvPr/>
          </p:nvSpPr>
          <p:spPr bwMode="auto">
            <a:xfrm>
              <a:off x="4070" y="3210"/>
              <a:ext cx="0" cy="5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4" name="Line 10"/>
            <p:cNvSpPr>
              <a:spLocks noChangeShapeType="1"/>
            </p:cNvSpPr>
            <p:nvPr/>
          </p:nvSpPr>
          <p:spPr bwMode="auto">
            <a:xfrm flipH="1">
              <a:off x="3288" y="3754"/>
              <a:ext cx="7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5" name="Line 11"/>
            <p:cNvSpPr>
              <a:spLocks noChangeShapeType="1"/>
            </p:cNvSpPr>
            <p:nvPr/>
          </p:nvSpPr>
          <p:spPr bwMode="auto">
            <a:xfrm flipV="1">
              <a:off x="2240" y="3662"/>
              <a:ext cx="116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6" name="Line 12"/>
            <p:cNvSpPr>
              <a:spLocks noChangeShapeType="1"/>
            </p:cNvSpPr>
            <p:nvPr/>
          </p:nvSpPr>
          <p:spPr bwMode="auto">
            <a:xfrm>
              <a:off x="2250" y="3749"/>
              <a:ext cx="88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7" name="Line 13"/>
            <p:cNvSpPr>
              <a:spLocks noChangeShapeType="1"/>
            </p:cNvSpPr>
            <p:nvPr/>
          </p:nvSpPr>
          <p:spPr bwMode="auto">
            <a:xfrm flipH="1" flipV="1">
              <a:off x="3270" y="3663"/>
              <a:ext cx="104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8" name="Line 14"/>
            <p:cNvSpPr>
              <a:spLocks noChangeShapeType="1"/>
            </p:cNvSpPr>
            <p:nvPr/>
          </p:nvSpPr>
          <p:spPr bwMode="auto">
            <a:xfrm flipH="1">
              <a:off x="3288" y="3758"/>
              <a:ext cx="84" cy="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9" name="Line 15"/>
            <p:cNvSpPr>
              <a:spLocks noChangeShapeType="1"/>
            </p:cNvSpPr>
            <p:nvPr/>
          </p:nvSpPr>
          <p:spPr bwMode="auto">
            <a:xfrm>
              <a:off x="1425" y="3330"/>
              <a:ext cx="26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40" name="Line 16"/>
            <p:cNvSpPr>
              <a:spLocks noChangeShapeType="1"/>
            </p:cNvSpPr>
            <p:nvPr/>
          </p:nvSpPr>
          <p:spPr bwMode="auto">
            <a:xfrm>
              <a:off x="3911" y="3330"/>
              <a:ext cx="26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41" name="Line 17"/>
            <p:cNvSpPr>
              <a:spLocks noChangeShapeType="1"/>
            </p:cNvSpPr>
            <p:nvPr/>
          </p:nvSpPr>
          <p:spPr bwMode="auto">
            <a:xfrm>
              <a:off x="1550" y="3744"/>
              <a:ext cx="79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849564" y="152400"/>
            <a:ext cx="7132637" cy="966788"/>
          </a:xfrm>
          <a:noFill/>
          <a:ln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sz="3200"/>
              <a:t>Guidelines for Drawing </a:t>
            </a:r>
            <a:br>
              <a:rPr lang="en-US" sz="3200"/>
            </a:br>
            <a:r>
              <a:rPr lang="en-US" sz="3200"/>
              <a:t>an E-R Diagram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524000"/>
            <a:ext cx="7772400" cy="4465638"/>
          </a:xfrm>
          <a:noFill/>
          <a:ln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000"/>
              <a:t>Select likely entities.</a:t>
            </a:r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endParaRPr lang="en-US" sz="2000"/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000"/>
              <a:t>Select an identifier for each of the entities.</a:t>
            </a:r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endParaRPr lang="en-US" sz="2000"/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000"/>
              <a:t>Produce an entity relationship grid.</a:t>
            </a:r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endParaRPr lang="en-US" sz="2000"/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000"/>
              <a:t>Identify relationships between the selected entities.</a:t>
            </a:r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endParaRPr lang="en-US" sz="2000"/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000"/>
              <a:t>Sketch an E-R Diagram based on the above.</a:t>
            </a:r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endParaRPr lang="en-US" sz="2000"/>
          </a:p>
          <a:p>
            <a:pPr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000"/>
              <a:t>Decompose any N:M relationships.  (If N:M relationships are present,  2 ERDs will be required.)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349501" y="323850"/>
            <a:ext cx="7599363" cy="57150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Example 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492250"/>
            <a:ext cx="7772400" cy="4603750"/>
          </a:xfrm>
        </p:spPr>
        <p:txBody>
          <a:bodyPr/>
          <a:lstStyle/>
          <a:p>
            <a:pPr algn="just">
              <a:buFontTx/>
              <a:buNone/>
            </a:pPr>
            <a:r>
              <a:rPr lang="en-GB" sz="2400" b="1" dirty="0"/>
              <a:t>Simple Hospital System</a:t>
            </a:r>
          </a:p>
          <a:p>
            <a:pPr>
              <a:buFontTx/>
              <a:buNone/>
            </a:pPr>
            <a:r>
              <a:rPr lang="en-GB" sz="2400" dirty="0"/>
              <a:t> In a hospital system, each ward has many patients who  </a:t>
            </a:r>
          </a:p>
          <a:p>
            <a:pPr>
              <a:buFontTx/>
              <a:buNone/>
            </a:pPr>
            <a:r>
              <a:rPr lang="en-GB" sz="2400" dirty="0"/>
              <a:t> are cared for by nurses assigned to the ward. Patients     </a:t>
            </a:r>
          </a:p>
          <a:p>
            <a:pPr>
              <a:buFontTx/>
              <a:buNone/>
            </a:pPr>
            <a:r>
              <a:rPr lang="en-GB" sz="2400" dirty="0"/>
              <a:t> may have more than one </a:t>
            </a:r>
            <a:r>
              <a:rPr lang="en-US" sz="2400" dirty="0"/>
              <a:t>disease</a:t>
            </a:r>
            <a:r>
              <a:rPr lang="en-GB" sz="2400" dirty="0"/>
              <a:t>, thus requiring              </a:t>
            </a:r>
          </a:p>
          <a:p>
            <a:pPr>
              <a:buFontTx/>
              <a:buNone/>
            </a:pPr>
            <a:r>
              <a:rPr lang="en-GB" sz="2400" dirty="0"/>
              <a:t> treatment by more than one specialist doctor. </a:t>
            </a:r>
          </a:p>
          <a:p>
            <a:pPr>
              <a:buFontTx/>
              <a:buNone/>
            </a:pPr>
            <a:r>
              <a:rPr lang="en-GB" sz="2400" dirty="0"/>
              <a:t> Draw an ERD for the simple hospital system.</a:t>
            </a:r>
          </a:p>
          <a:p>
            <a:pPr>
              <a:buFontTx/>
              <a:buNone/>
            </a:pPr>
            <a:endParaRPr lang="en-GB" sz="2400" dirty="0"/>
          </a:p>
        </p:txBody>
      </p:sp>
      <p:sp>
        <p:nvSpPr>
          <p:cNvPr id="133124" name="Rectangle 4"/>
          <p:cNvSpPr>
            <a:spLocks noChangeArrowheads="1"/>
          </p:cNvSpPr>
          <p:nvPr/>
        </p:nvSpPr>
        <p:spPr bwMode="auto">
          <a:xfrm>
            <a:off x="2286000" y="4630738"/>
            <a:ext cx="7620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349500" y="1"/>
            <a:ext cx="7754938" cy="1008063"/>
          </a:xfrm>
        </p:spPr>
        <p:txBody>
          <a:bodyPr>
            <a:normAutofit fontScale="90000"/>
          </a:bodyPr>
          <a:lstStyle/>
          <a:p>
            <a:r>
              <a:rPr lang="en-US" sz="3200"/>
              <a:t>ERD Example – </a:t>
            </a:r>
            <a:br>
              <a:rPr lang="en-US" sz="3200"/>
            </a:br>
            <a:r>
              <a:rPr lang="en-GB" sz="3200"/>
              <a:t>Simple Hospital System</a:t>
            </a:r>
            <a:endParaRPr lang="en-US" sz="3200"/>
          </a:p>
        </p:txBody>
      </p:sp>
      <p:sp>
        <p:nvSpPr>
          <p:cNvPr id="134147" name="Rectangle 3"/>
          <p:cNvSpPr>
            <a:spLocks noChangeArrowheads="1"/>
          </p:cNvSpPr>
          <p:nvPr/>
        </p:nvSpPr>
        <p:spPr bwMode="auto">
          <a:xfrm>
            <a:off x="3230563" y="2425700"/>
            <a:ext cx="15113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GB" b="1"/>
              <a:t>WARD</a:t>
            </a:r>
          </a:p>
        </p:txBody>
      </p:sp>
      <p:sp>
        <p:nvSpPr>
          <p:cNvPr id="134148" name="Rectangle 4"/>
          <p:cNvSpPr>
            <a:spLocks noChangeArrowheads="1"/>
          </p:cNvSpPr>
          <p:nvPr/>
        </p:nvSpPr>
        <p:spPr bwMode="auto">
          <a:xfrm>
            <a:off x="3186113" y="3949700"/>
            <a:ext cx="15113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GB" b="1"/>
              <a:t>NURSE</a:t>
            </a:r>
          </a:p>
        </p:txBody>
      </p:sp>
      <p:sp>
        <p:nvSpPr>
          <p:cNvPr id="134149" name="Rectangle 5"/>
          <p:cNvSpPr>
            <a:spLocks noChangeArrowheads="1"/>
          </p:cNvSpPr>
          <p:nvPr/>
        </p:nvSpPr>
        <p:spPr bwMode="auto">
          <a:xfrm>
            <a:off x="5916613" y="3949700"/>
            <a:ext cx="15113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GB" b="1" dirty="0"/>
              <a:t>PATIENT</a:t>
            </a:r>
          </a:p>
        </p:txBody>
      </p:sp>
      <p:sp>
        <p:nvSpPr>
          <p:cNvPr id="134150" name="Rectangle 6"/>
          <p:cNvSpPr>
            <a:spLocks noChangeArrowheads="1"/>
          </p:cNvSpPr>
          <p:nvPr/>
        </p:nvSpPr>
        <p:spPr bwMode="auto">
          <a:xfrm>
            <a:off x="5916613" y="2425700"/>
            <a:ext cx="15113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GB" b="1"/>
              <a:t>DOCTOR</a:t>
            </a:r>
          </a:p>
        </p:txBody>
      </p:sp>
      <p:sp>
        <p:nvSpPr>
          <p:cNvPr id="134151" name="Line 7"/>
          <p:cNvSpPr>
            <a:spLocks noChangeShapeType="1"/>
          </p:cNvSpPr>
          <p:nvPr/>
        </p:nvSpPr>
        <p:spPr bwMode="auto">
          <a:xfrm>
            <a:off x="3878263" y="2968626"/>
            <a:ext cx="0" cy="1006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52" name="Line 8"/>
          <p:cNvSpPr>
            <a:spLocks noChangeShapeType="1"/>
          </p:cNvSpPr>
          <p:nvPr/>
        </p:nvSpPr>
        <p:spPr bwMode="auto">
          <a:xfrm>
            <a:off x="4716463" y="2952750"/>
            <a:ext cx="132715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53" name="Line 9"/>
          <p:cNvSpPr>
            <a:spLocks noChangeShapeType="1"/>
          </p:cNvSpPr>
          <p:nvPr/>
        </p:nvSpPr>
        <p:spPr bwMode="auto">
          <a:xfrm>
            <a:off x="7018338" y="2968625"/>
            <a:ext cx="0" cy="958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54" name="Line 10"/>
          <p:cNvSpPr>
            <a:spLocks noChangeShapeType="1"/>
          </p:cNvSpPr>
          <p:nvPr/>
        </p:nvSpPr>
        <p:spPr bwMode="auto">
          <a:xfrm flipH="1">
            <a:off x="3725864" y="3746501"/>
            <a:ext cx="168275" cy="212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55" name="Line 11"/>
          <p:cNvSpPr>
            <a:spLocks noChangeShapeType="1"/>
          </p:cNvSpPr>
          <p:nvPr/>
        </p:nvSpPr>
        <p:spPr bwMode="auto">
          <a:xfrm>
            <a:off x="3894139" y="3759200"/>
            <a:ext cx="123825" cy="184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56" name="Line 12"/>
          <p:cNvSpPr>
            <a:spLocks noChangeShapeType="1"/>
          </p:cNvSpPr>
          <p:nvPr/>
        </p:nvSpPr>
        <p:spPr bwMode="auto">
          <a:xfrm>
            <a:off x="5859463" y="3806826"/>
            <a:ext cx="336550" cy="136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57" name="Line 13"/>
          <p:cNvSpPr>
            <a:spLocks noChangeShapeType="1"/>
          </p:cNvSpPr>
          <p:nvPr/>
        </p:nvSpPr>
        <p:spPr bwMode="auto">
          <a:xfrm>
            <a:off x="5875339" y="3806825"/>
            <a:ext cx="15875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58" name="Line 14"/>
          <p:cNvSpPr>
            <a:spLocks noChangeShapeType="1"/>
          </p:cNvSpPr>
          <p:nvPr/>
        </p:nvSpPr>
        <p:spPr bwMode="auto">
          <a:xfrm flipV="1">
            <a:off x="7018339" y="2952750"/>
            <a:ext cx="168275" cy="196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59" name="Line 15"/>
          <p:cNvSpPr>
            <a:spLocks noChangeShapeType="1"/>
          </p:cNvSpPr>
          <p:nvPr/>
        </p:nvSpPr>
        <p:spPr bwMode="auto">
          <a:xfrm flipH="1" flipV="1">
            <a:off x="6850064" y="2952750"/>
            <a:ext cx="168275" cy="184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60" name="Line 16"/>
          <p:cNvSpPr>
            <a:spLocks noChangeShapeType="1"/>
          </p:cNvSpPr>
          <p:nvPr/>
        </p:nvSpPr>
        <p:spPr bwMode="auto">
          <a:xfrm>
            <a:off x="7002463" y="3775075"/>
            <a:ext cx="152400" cy="184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61" name="Line 17"/>
          <p:cNvSpPr>
            <a:spLocks noChangeShapeType="1"/>
          </p:cNvSpPr>
          <p:nvPr/>
        </p:nvSpPr>
        <p:spPr bwMode="auto">
          <a:xfrm flipH="1">
            <a:off x="6926263" y="3759200"/>
            <a:ext cx="63500" cy="184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62" name="Rectangle 18"/>
          <p:cNvSpPr>
            <a:spLocks noChangeArrowheads="1"/>
          </p:cNvSpPr>
          <p:nvPr/>
        </p:nvSpPr>
        <p:spPr bwMode="auto">
          <a:xfrm>
            <a:off x="7062788" y="3389313"/>
            <a:ext cx="806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b="1"/>
              <a:t>treats</a:t>
            </a:r>
          </a:p>
        </p:txBody>
      </p:sp>
      <p:sp>
        <p:nvSpPr>
          <p:cNvPr id="134163" name="Rectangle 19"/>
          <p:cNvSpPr>
            <a:spLocks noChangeArrowheads="1"/>
          </p:cNvSpPr>
          <p:nvPr/>
        </p:nvSpPr>
        <p:spPr bwMode="auto">
          <a:xfrm>
            <a:off x="4414838" y="3232151"/>
            <a:ext cx="1847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b="1"/>
              <a:t>accommodates</a:t>
            </a:r>
          </a:p>
        </p:txBody>
      </p:sp>
      <p:sp>
        <p:nvSpPr>
          <p:cNvPr id="134164" name="Rectangle 20"/>
          <p:cNvSpPr>
            <a:spLocks noChangeArrowheads="1"/>
          </p:cNvSpPr>
          <p:nvPr/>
        </p:nvSpPr>
        <p:spPr bwMode="auto">
          <a:xfrm>
            <a:off x="2687638" y="3189288"/>
            <a:ext cx="577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b="1"/>
              <a:t>has</a:t>
            </a:r>
          </a:p>
        </p:txBody>
      </p:sp>
      <p:sp>
        <p:nvSpPr>
          <p:cNvPr id="134165" name="Rectangle 21"/>
          <p:cNvSpPr>
            <a:spLocks noChangeArrowheads="1"/>
          </p:cNvSpPr>
          <p:nvPr/>
        </p:nvSpPr>
        <p:spPr bwMode="auto">
          <a:xfrm>
            <a:off x="2687638" y="3430588"/>
            <a:ext cx="1174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b="1"/>
              <a:t>assigned</a:t>
            </a:r>
          </a:p>
        </p:txBody>
      </p:sp>
      <p:sp>
        <p:nvSpPr>
          <p:cNvPr id="134166" name="Line 22"/>
          <p:cNvSpPr>
            <a:spLocks noChangeShapeType="1"/>
          </p:cNvSpPr>
          <p:nvPr/>
        </p:nvSpPr>
        <p:spPr bwMode="auto">
          <a:xfrm>
            <a:off x="4702176" y="4248150"/>
            <a:ext cx="12239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67" name="Line 23"/>
          <p:cNvSpPr>
            <a:spLocks noChangeShapeType="1"/>
          </p:cNvSpPr>
          <p:nvPr/>
        </p:nvSpPr>
        <p:spPr bwMode="auto">
          <a:xfrm flipV="1">
            <a:off x="3765551" y="3070225"/>
            <a:ext cx="246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68" name="Line 24"/>
          <p:cNvSpPr>
            <a:spLocks noChangeShapeType="1"/>
          </p:cNvSpPr>
          <p:nvPr/>
        </p:nvSpPr>
        <p:spPr bwMode="auto">
          <a:xfrm flipH="1">
            <a:off x="4805363" y="2963864"/>
            <a:ext cx="176212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69" name="Line 25"/>
          <p:cNvSpPr>
            <a:spLocks noChangeShapeType="1"/>
          </p:cNvSpPr>
          <p:nvPr/>
        </p:nvSpPr>
        <p:spPr bwMode="auto">
          <a:xfrm flipH="1" flipV="1">
            <a:off x="4700589" y="4092575"/>
            <a:ext cx="122237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70" name="Line 26"/>
          <p:cNvSpPr>
            <a:spLocks noChangeShapeType="1"/>
          </p:cNvSpPr>
          <p:nvPr/>
        </p:nvSpPr>
        <p:spPr bwMode="auto">
          <a:xfrm flipH="1">
            <a:off x="4700589" y="4268788"/>
            <a:ext cx="122237" cy="106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71" name="Line 27"/>
          <p:cNvSpPr>
            <a:spLocks noChangeShapeType="1"/>
          </p:cNvSpPr>
          <p:nvPr/>
        </p:nvSpPr>
        <p:spPr bwMode="auto">
          <a:xfrm flipH="1">
            <a:off x="5757863" y="4092575"/>
            <a:ext cx="15875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72" name="Line 28"/>
          <p:cNvSpPr>
            <a:spLocks noChangeShapeType="1"/>
          </p:cNvSpPr>
          <p:nvPr/>
        </p:nvSpPr>
        <p:spPr bwMode="auto">
          <a:xfrm>
            <a:off x="5757863" y="4251326"/>
            <a:ext cx="158750" cy="1063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73" name="Rectangle 29"/>
          <p:cNvSpPr>
            <a:spLocks noChangeArrowheads="1"/>
          </p:cNvSpPr>
          <p:nvPr/>
        </p:nvSpPr>
        <p:spPr bwMode="auto">
          <a:xfrm>
            <a:off x="8593138" y="3925888"/>
            <a:ext cx="15113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b="1" dirty="0"/>
              <a:t>Disease</a:t>
            </a:r>
            <a:endParaRPr lang="en-GB" b="1" dirty="0"/>
          </a:p>
        </p:txBody>
      </p:sp>
      <p:sp>
        <p:nvSpPr>
          <p:cNvPr id="134174" name="Line 30"/>
          <p:cNvSpPr>
            <a:spLocks noChangeShapeType="1"/>
          </p:cNvSpPr>
          <p:nvPr/>
        </p:nvSpPr>
        <p:spPr bwMode="auto">
          <a:xfrm>
            <a:off x="7434264" y="4216400"/>
            <a:ext cx="11636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75" name="Rectangle 31"/>
          <p:cNvSpPr>
            <a:spLocks noChangeArrowheads="1"/>
          </p:cNvSpPr>
          <p:nvPr/>
        </p:nvSpPr>
        <p:spPr bwMode="auto">
          <a:xfrm>
            <a:off x="7497763" y="4265613"/>
            <a:ext cx="946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b="1"/>
              <a:t>suffers</a:t>
            </a:r>
          </a:p>
          <a:p>
            <a:pPr eaLnBrk="0" hangingPunct="0"/>
            <a:r>
              <a:rPr lang="en-GB" b="1"/>
              <a:t>from</a:t>
            </a:r>
          </a:p>
        </p:txBody>
      </p:sp>
      <p:sp>
        <p:nvSpPr>
          <p:cNvPr id="134176" name="Rectangle 32"/>
          <p:cNvSpPr>
            <a:spLocks noChangeArrowheads="1"/>
          </p:cNvSpPr>
          <p:nvPr/>
        </p:nvSpPr>
        <p:spPr bwMode="auto">
          <a:xfrm>
            <a:off x="4792663" y="4205288"/>
            <a:ext cx="7810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b="1"/>
              <a:t>cares</a:t>
            </a:r>
          </a:p>
          <a:p>
            <a:pPr eaLnBrk="0" hangingPunct="0"/>
            <a:r>
              <a:rPr lang="en-GB" b="1"/>
              <a:t>for</a:t>
            </a:r>
          </a:p>
        </p:txBody>
      </p:sp>
      <p:sp>
        <p:nvSpPr>
          <p:cNvPr id="134177" name="Line 33"/>
          <p:cNvSpPr>
            <a:spLocks noChangeShapeType="1"/>
          </p:cNvSpPr>
          <p:nvPr/>
        </p:nvSpPr>
        <p:spPr bwMode="auto">
          <a:xfrm>
            <a:off x="7434263" y="4110038"/>
            <a:ext cx="176212" cy="106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78" name="Line 34"/>
          <p:cNvSpPr>
            <a:spLocks noChangeShapeType="1"/>
          </p:cNvSpPr>
          <p:nvPr/>
        </p:nvSpPr>
        <p:spPr bwMode="auto">
          <a:xfrm flipH="1">
            <a:off x="7434264" y="4216400"/>
            <a:ext cx="193675" cy="141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79" name="Line 35"/>
          <p:cNvSpPr>
            <a:spLocks noChangeShapeType="1"/>
          </p:cNvSpPr>
          <p:nvPr/>
        </p:nvSpPr>
        <p:spPr bwMode="auto">
          <a:xfrm flipH="1">
            <a:off x="8493126" y="4144964"/>
            <a:ext cx="104775" cy="53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80" name="Line 36"/>
          <p:cNvSpPr>
            <a:spLocks noChangeShapeType="1"/>
          </p:cNvSpPr>
          <p:nvPr/>
        </p:nvSpPr>
        <p:spPr bwMode="auto">
          <a:xfrm>
            <a:off x="8475664" y="4216400"/>
            <a:ext cx="122237" cy="141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475" y="298450"/>
            <a:ext cx="8229600" cy="547688"/>
          </a:xfrm>
        </p:spPr>
        <p:txBody>
          <a:bodyPr>
            <a:normAutofit fontScale="90000"/>
          </a:bodyPr>
          <a:lstStyle/>
          <a:p>
            <a:r>
              <a:rPr lang="en-US" sz="3200"/>
              <a:t>Example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idx="1"/>
          </p:nvPr>
        </p:nvSpPr>
        <p:spPr>
          <a:xfrm>
            <a:off x="1895476" y="1676400"/>
            <a:ext cx="8294687" cy="4089400"/>
          </a:xfrm>
        </p:spPr>
        <p:txBody>
          <a:bodyPr>
            <a:normAutofit lnSpcReduction="10000"/>
          </a:bodyPr>
          <a:lstStyle/>
          <a:p>
            <a:pPr marL="457200" lvl="1" indent="0" algn="ctr">
              <a:buNone/>
            </a:pPr>
            <a:r>
              <a:rPr lang="en-GB" sz="2400" b="1" dirty="0"/>
              <a:t>Small College Database</a:t>
            </a:r>
          </a:p>
          <a:p>
            <a:pPr marL="457200" lvl="1" indent="0" algn="ctr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400" dirty="0"/>
              <a:t>A small college database has the following structure.</a:t>
            </a:r>
          </a:p>
          <a:p>
            <a:pPr marL="0" indent="0">
              <a:buNone/>
            </a:pPr>
            <a:r>
              <a:rPr lang="en-GB" sz="2400" dirty="0"/>
              <a:t>A department has many lecturers.  A lecturer belongs to only one department.  The department offers many different courses, and many lecturers can teach on a single course.  Lecturers can also teach on more than one course.  Many students enrol for many courses.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 algn="just">
              <a:buNone/>
            </a:pPr>
            <a:r>
              <a:rPr lang="en-GB" sz="2400" dirty="0"/>
              <a:t>Draw an ERD for this system.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0" y="274639"/>
            <a:ext cx="6972300" cy="733425"/>
          </a:xfrm>
        </p:spPr>
        <p:txBody>
          <a:bodyPr/>
          <a:lstStyle/>
          <a:p>
            <a:r>
              <a:rPr lang="en-US" sz="3600"/>
              <a:t>Small College Database</a:t>
            </a:r>
          </a:p>
        </p:txBody>
      </p:sp>
      <p:sp>
        <p:nvSpPr>
          <p:cNvPr id="136195" name="Rectangle 3"/>
          <p:cNvSpPr>
            <a:spLocks noChangeArrowheads="1"/>
          </p:cNvSpPr>
          <p:nvPr/>
        </p:nvSpPr>
        <p:spPr bwMode="auto">
          <a:xfrm>
            <a:off x="5157789" y="1916113"/>
            <a:ext cx="1754187" cy="5826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GB" b="1"/>
              <a:t>DEPARTMENT</a:t>
            </a:r>
          </a:p>
        </p:txBody>
      </p:sp>
      <p:sp>
        <p:nvSpPr>
          <p:cNvPr id="136196" name="Rectangle 4"/>
          <p:cNvSpPr>
            <a:spLocks noChangeArrowheads="1"/>
          </p:cNvSpPr>
          <p:nvPr/>
        </p:nvSpPr>
        <p:spPr bwMode="auto">
          <a:xfrm>
            <a:off x="7197725" y="3470275"/>
            <a:ext cx="15113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GB" b="1"/>
              <a:t>LECTURER</a:t>
            </a:r>
          </a:p>
        </p:txBody>
      </p:sp>
      <p:sp>
        <p:nvSpPr>
          <p:cNvPr id="136197" name="Rectangle 5"/>
          <p:cNvSpPr>
            <a:spLocks noChangeArrowheads="1"/>
          </p:cNvSpPr>
          <p:nvPr/>
        </p:nvSpPr>
        <p:spPr bwMode="auto">
          <a:xfrm>
            <a:off x="3238500" y="5221288"/>
            <a:ext cx="15113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GB" b="1"/>
              <a:t>STUDENT</a:t>
            </a:r>
          </a:p>
        </p:txBody>
      </p:sp>
      <p:sp>
        <p:nvSpPr>
          <p:cNvPr id="136198" name="Rectangle 6"/>
          <p:cNvSpPr>
            <a:spLocks noChangeArrowheads="1"/>
          </p:cNvSpPr>
          <p:nvPr/>
        </p:nvSpPr>
        <p:spPr bwMode="auto">
          <a:xfrm>
            <a:off x="3238500" y="3470275"/>
            <a:ext cx="15113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GB" b="1"/>
              <a:t>COURSE</a:t>
            </a:r>
          </a:p>
        </p:txBody>
      </p:sp>
      <p:sp>
        <p:nvSpPr>
          <p:cNvPr id="136199" name="Rectangle 7"/>
          <p:cNvSpPr>
            <a:spLocks noChangeArrowheads="1"/>
          </p:cNvSpPr>
          <p:nvPr/>
        </p:nvSpPr>
        <p:spPr bwMode="auto">
          <a:xfrm>
            <a:off x="3228975" y="2693988"/>
            <a:ext cx="768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00" name="Rectangle 8"/>
          <p:cNvSpPr>
            <a:spLocks noChangeArrowheads="1"/>
          </p:cNvSpPr>
          <p:nvPr/>
        </p:nvSpPr>
        <p:spPr bwMode="auto">
          <a:xfrm>
            <a:off x="5118100" y="2693988"/>
            <a:ext cx="13668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01" name="Rectangle 9"/>
          <p:cNvSpPr>
            <a:spLocks noChangeArrowheads="1"/>
          </p:cNvSpPr>
          <p:nvPr/>
        </p:nvSpPr>
        <p:spPr bwMode="auto">
          <a:xfrm>
            <a:off x="5133975" y="2982913"/>
            <a:ext cx="450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02" name="Rectangle 10"/>
          <p:cNvSpPr>
            <a:spLocks noChangeArrowheads="1"/>
          </p:cNvSpPr>
          <p:nvPr/>
        </p:nvSpPr>
        <p:spPr bwMode="auto">
          <a:xfrm>
            <a:off x="8105775" y="2693988"/>
            <a:ext cx="577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03" name="Rectangle 11"/>
          <p:cNvSpPr>
            <a:spLocks noChangeArrowheads="1"/>
          </p:cNvSpPr>
          <p:nvPr/>
        </p:nvSpPr>
        <p:spPr bwMode="auto">
          <a:xfrm>
            <a:off x="8867775" y="4081463"/>
            <a:ext cx="958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04" name="Rectangle 12"/>
          <p:cNvSpPr>
            <a:spLocks noChangeArrowheads="1"/>
          </p:cNvSpPr>
          <p:nvPr/>
        </p:nvSpPr>
        <p:spPr bwMode="auto">
          <a:xfrm>
            <a:off x="8867775" y="4462463"/>
            <a:ext cx="1047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05" name="Rectangle 13"/>
          <p:cNvSpPr>
            <a:spLocks noChangeArrowheads="1"/>
          </p:cNvSpPr>
          <p:nvPr/>
        </p:nvSpPr>
        <p:spPr bwMode="auto">
          <a:xfrm>
            <a:off x="5651500" y="4446588"/>
            <a:ext cx="1174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06" name="Line 14"/>
          <p:cNvSpPr>
            <a:spLocks noChangeShapeType="1"/>
          </p:cNvSpPr>
          <p:nvPr/>
        </p:nvSpPr>
        <p:spPr bwMode="auto">
          <a:xfrm>
            <a:off x="4770438" y="3724275"/>
            <a:ext cx="243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07" name="Line 15"/>
          <p:cNvSpPr>
            <a:spLocks noChangeShapeType="1"/>
          </p:cNvSpPr>
          <p:nvPr/>
        </p:nvSpPr>
        <p:spPr bwMode="auto">
          <a:xfrm>
            <a:off x="4038600" y="4013201"/>
            <a:ext cx="0" cy="1203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08" name="Line 16"/>
          <p:cNvSpPr>
            <a:spLocks noChangeShapeType="1"/>
          </p:cNvSpPr>
          <p:nvPr/>
        </p:nvSpPr>
        <p:spPr bwMode="auto">
          <a:xfrm flipH="1">
            <a:off x="3641726" y="2138363"/>
            <a:ext cx="1509713" cy="13255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09" name="Line 17"/>
          <p:cNvSpPr>
            <a:spLocks noChangeShapeType="1"/>
          </p:cNvSpPr>
          <p:nvPr/>
        </p:nvSpPr>
        <p:spPr bwMode="auto">
          <a:xfrm>
            <a:off x="6934201" y="2001838"/>
            <a:ext cx="1736725" cy="14779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10" name="Line 18"/>
          <p:cNvSpPr>
            <a:spLocks noChangeShapeType="1"/>
          </p:cNvSpPr>
          <p:nvPr/>
        </p:nvSpPr>
        <p:spPr bwMode="auto">
          <a:xfrm>
            <a:off x="4740275" y="2200275"/>
            <a:ext cx="273050" cy="273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11" name="Line 19"/>
          <p:cNvSpPr>
            <a:spLocks noChangeShapeType="1"/>
          </p:cNvSpPr>
          <p:nvPr/>
        </p:nvSpPr>
        <p:spPr bwMode="auto">
          <a:xfrm flipH="1">
            <a:off x="7086600" y="2016126"/>
            <a:ext cx="152400" cy="3206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12" name="Line 20"/>
          <p:cNvSpPr>
            <a:spLocks noChangeShapeType="1"/>
          </p:cNvSpPr>
          <p:nvPr/>
        </p:nvSpPr>
        <p:spPr bwMode="auto">
          <a:xfrm>
            <a:off x="3825876" y="3235325"/>
            <a:ext cx="60325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13" name="Line 21"/>
          <p:cNvSpPr>
            <a:spLocks noChangeShapeType="1"/>
          </p:cNvSpPr>
          <p:nvPr/>
        </p:nvSpPr>
        <p:spPr bwMode="auto">
          <a:xfrm flipH="1">
            <a:off x="3489325" y="3251201"/>
            <a:ext cx="336550" cy="2127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14" name="Line 22"/>
          <p:cNvSpPr>
            <a:spLocks noChangeShapeType="1"/>
          </p:cNvSpPr>
          <p:nvPr/>
        </p:nvSpPr>
        <p:spPr bwMode="auto">
          <a:xfrm flipV="1">
            <a:off x="4022725" y="3997325"/>
            <a:ext cx="198438" cy="184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15" name="Line 23"/>
          <p:cNvSpPr>
            <a:spLocks noChangeShapeType="1"/>
          </p:cNvSpPr>
          <p:nvPr/>
        </p:nvSpPr>
        <p:spPr bwMode="auto">
          <a:xfrm flipH="1" flipV="1">
            <a:off x="3825875" y="4013201"/>
            <a:ext cx="19685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16" name="Line 24"/>
          <p:cNvSpPr>
            <a:spLocks noChangeShapeType="1"/>
          </p:cNvSpPr>
          <p:nvPr/>
        </p:nvSpPr>
        <p:spPr bwMode="auto">
          <a:xfrm>
            <a:off x="4038601" y="5019675"/>
            <a:ext cx="212725" cy="196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17" name="Line 25"/>
          <p:cNvSpPr>
            <a:spLocks noChangeShapeType="1"/>
          </p:cNvSpPr>
          <p:nvPr/>
        </p:nvSpPr>
        <p:spPr bwMode="auto">
          <a:xfrm flipH="1">
            <a:off x="3856038" y="5033964"/>
            <a:ext cx="182562" cy="1984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18" name="Line 26"/>
          <p:cNvSpPr>
            <a:spLocks noChangeShapeType="1"/>
          </p:cNvSpPr>
          <p:nvPr/>
        </p:nvSpPr>
        <p:spPr bwMode="auto">
          <a:xfrm flipH="1" flipV="1">
            <a:off x="4754564" y="3571875"/>
            <a:ext cx="274637" cy="120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19" name="Line 27"/>
          <p:cNvSpPr>
            <a:spLocks noChangeShapeType="1"/>
          </p:cNvSpPr>
          <p:nvPr/>
        </p:nvSpPr>
        <p:spPr bwMode="auto">
          <a:xfrm flipH="1">
            <a:off x="4770438" y="3708401"/>
            <a:ext cx="258762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20" name="Line 28"/>
          <p:cNvSpPr>
            <a:spLocks noChangeShapeType="1"/>
          </p:cNvSpPr>
          <p:nvPr/>
        </p:nvSpPr>
        <p:spPr bwMode="auto">
          <a:xfrm flipH="1">
            <a:off x="8366125" y="3281363"/>
            <a:ext cx="107950" cy="1825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21" name="Line 29"/>
          <p:cNvSpPr>
            <a:spLocks noChangeShapeType="1"/>
          </p:cNvSpPr>
          <p:nvPr/>
        </p:nvSpPr>
        <p:spPr bwMode="auto">
          <a:xfrm>
            <a:off x="8474076" y="3297239"/>
            <a:ext cx="288925" cy="166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22" name="Rectangle 30"/>
          <p:cNvSpPr>
            <a:spLocks noChangeArrowheads="1"/>
          </p:cNvSpPr>
          <p:nvPr/>
        </p:nvSpPr>
        <p:spPr bwMode="auto">
          <a:xfrm>
            <a:off x="7772400" y="2335213"/>
            <a:ext cx="6477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sz="1600" b="1"/>
              <a:t>is_in</a:t>
            </a:r>
          </a:p>
        </p:txBody>
      </p:sp>
      <p:sp>
        <p:nvSpPr>
          <p:cNvPr id="136223" name="Rectangle 31"/>
          <p:cNvSpPr>
            <a:spLocks noChangeArrowheads="1"/>
          </p:cNvSpPr>
          <p:nvPr/>
        </p:nvSpPr>
        <p:spPr bwMode="auto">
          <a:xfrm>
            <a:off x="3124200" y="4452938"/>
            <a:ext cx="793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sz="1600" b="1"/>
              <a:t>enrols</a:t>
            </a:r>
          </a:p>
        </p:txBody>
      </p:sp>
      <p:sp>
        <p:nvSpPr>
          <p:cNvPr id="136224" name="Rectangle 32"/>
          <p:cNvSpPr>
            <a:spLocks noChangeArrowheads="1"/>
          </p:cNvSpPr>
          <p:nvPr/>
        </p:nvSpPr>
        <p:spPr bwMode="auto">
          <a:xfrm>
            <a:off x="5211763" y="3843338"/>
            <a:ext cx="1312860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sz="1600" b="1"/>
              <a:t>teaches_on</a:t>
            </a:r>
          </a:p>
        </p:txBody>
      </p:sp>
      <p:sp>
        <p:nvSpPr>
          <p:cNvPr id="136225" name="Rectangle 33"/>
          <p:cNvSpPr>
            <a:spLocks noChangeArrowheads="1"/>
          </p:cNvSpPr>
          <p:nvPr/>
        </p:nvSpPr>
        <p:spPr bwMode="auto">
          <a:xfrm>
            <a:off x="3625850" y="2487613"/>
            <a:ext cx="7493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GB" sz="1600" b="1"/>
              <a:t>offers</a:t>
            </a:r>
          </a:p>
        </p:txBody>
      </p:sp>
      <p:sp>
        <p:nvSpPr>
          <p:cNvPr id="136226" name="Line 34"/>
          <p:cNvSpPr>
            <a:spLocks noChangeShapeType="1"/>
          </p:cNvSpPr>
          <p:nvPr/>
        </p:nvSpPr>
        <p:spPr bwMode="auto">
          <a:xfrm flipH="1">
            <a:off x="7027864" y="3635375"/>
            <a:ext cx="193675" cy="88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6227" name="Line 35"/>
          <p:cNvSpPr>
            <a:spLocks noChangeShapeType="1"/>
          </p:cNvSpPr>
          <p:nvPr/>
        </p:nvSpPr>
        <p:spPr bwMode="auto">
          <a:xfrm>
            <a:off x="7027863" y="3724275"/>
            <a:ext cx="176212" cy="122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0"/>
            <a:ext cx="8229600" cy="846138"/>
          </a:xfrm>
        </p:spPr>
        <p:txBody>
          <a:bodyPr/>
          <a:lstStyle/>
          <a:p>
            <a:r>
              <a:rPr lang="en-US" dirty="0"/>
              <a:t>Example of Chen Notation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55125" y="941389"/>
            <a:ext cx="5604856" cy="5735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69888"/>
            <a:ext cx="8229600" cy="1143000"/>
          </a:xfrm>
        </p:spPr>
        <p:txBody>
          <a:bodyPr/>
          <a:lstStyle/>
          <a:p>
            <a:r>
              <a:rPr lang="en-US" dirty="0"/>
              <a:t>Example of Crow’s Feet Notation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8350" y="2090738"/>
            <a:ext cx="8191116" cy="354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990600"/>
            <a:ext cx="7042150" cy="5410200"/>
          </a:xfrm>
        </p:spPr>
        <p:txBody>
          <a:bodyPr/>
          <a:lstStyle/>
          <a:p>
            <a:r>
              <a:rPr lang="en-US" sz="11500" dirty="0"/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APU-2023">
      <a:dk1>
        <a:srgbClr val="082F50"/>
      </a:dk1>
      <a:lt1>
        <a:srgbClr val="FFFFFF"/>
      </a:lt1>
      <a:dk2>
        <a:srgbClr val="0070C0"/>
      </a:dk2>
      <a:lt2>
        <a:srgbClr val="C0F9FC"/>
      </a:lt2>
      <a:accent1>
        <a:srgbClr val="00B0F0"/>
      </a:accent1>
      <a:accent2>
        <a:srgbClr val="079244"/>
      </a:accent2>
      <a:accent3>
        <a:srgbClr val="E02C32"/>
      </a:accent3>
      <a:accent4>
        <a:srgbClr val="45D7EA"/>
      </a:accent4>
      <a:accent5>
        <a:srgbClr val="FAC41B"/>
      </a:accent5>
      <a:accent6>
        <a:srgbClr val="082F50"/>
      </a:accent6>
      <a:hlink>
        <a:srgbClr val="9AB1D0"/>
      </a:hlink>
      <a:folHlink>
        <a:srgbClr val="0D3358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PU-2023">
      <a:dk1>
        <a:srgbClr val="081929"/>
      </a:dk1>
      <a:lt1>
        <a:srgbClr val="FFFFFF"/>
      </a:lt1>
      <a:dk2>
        <a:srgbClr val="0070C0"/>
      </a:dk2>
      <a:lt2>
        <a:srgbClr val="FFFFFF"/>
      </a:lt2>
      <a:accent1>
        <a:srgbClr val="00B0F0"/>
      </a:accent1>
      <a:accent2>
        <a:srgbClr val="99CC00"/>
      </a:accent2>
      <a:accent3>
        <a:srgbClr val="FF9966"/>
      </a:accent3>
      <a:accent4>
        <a:srgbClr val="45D7EA"/>
      </a:accent4>
      <a:accent5>
        <a:srgbClr val="CC66FF"/>
      </a:accent5>
      <a:accent6>
        <a:srgbClr val="FCE456"/>
      </a:accent6>
      <a:hlink>
        <a:srgbClr val="B7C6FE"/>
      </a:hlink>
      <a:folHlink>
        <a:srgbClr val="00B0F0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C09830CF6CB84B8D12D02B69700FAF" ma:contentTypeVersion="14" ma:contentTypeDescription="Create a new document." ma:contentTypeScope="" ma:versionID="91bb3fc2fda44f6dca498e4986d3c34f">
  <xsd:schema xmlns:xsd="http://www.w3.org/2001/XMLSchema" xmlns:xs="http://www.w3.org/2001/XMLSchema" xmlns:p="http://schemas.microsoft.com/office/2006/metadata/properties" xmlns:ns3="c0f90a4e-2534-4174-991f-0eb794d5b859" xmlns:ns4="d2981e9c-0c44-4237-a41f-50944ddb2e5d" targetNamespace="http://schemas.microsoft.com/office/2006/metadata/properties" ma:root="true" ma:fieldsID="d346f1bbf5bc0d23fe733b73729b7857" ns3:_="" ns4:_="">
    <xsd:import namespace="c0f90a4e-2534-4174-991f-0eb794d5b859"/>
    <xsd:import namespace="d2981e9c-0c44-4237-a41f-50944ddb2e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90a4e-2534-4174-991f-0eb794d5b8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981e9c-0c44-4237-a41f-50944ddb2e5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6039F5-814C-4C5B-A6B0-438D9C48F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f90a4e-2534-4174-991f-0eb794d5b859"/>
    <ds:schemaRef ds:uri="d2981e9c-0c44-4237-a41f-50944ddb2e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D3909F-E191-4C23-B23C-BA46B5ADDDA2}">
  <ds:schemaRefs>
    <ds:schemaRef ds:uri="http://purl.org/dc/terms/"/>
    <ds:schemaRef ds:uri="http://schemas.microsoft.com/office/2006/documentManagement/types"/>
    <ds:schemaRef ds:uri="d2981e9c-0c44-4237-a41f-50944ddb2e5d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90a4e-2534-4174-991f-0eb794d5b859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374C82B-844E-4C6D-B41E-036AD4E59A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1421</TotalTime>
  <Pages>11</Pages>
  <Words>1270</Words>
  <Application>Microsoft Office PowerPoint</Application>
  <PresentationFormat>Widescreen</PresentationFormat>
  <Paragraphs>217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Montserrat</vt:lpstr>
      <vt:lpstr>PT Sans</vt:lpstr>
      <vt:lpstr>Times New Roman</vt:lpstr>
      <vt:lpstr>Wingdings</vt:lpstr>
      <vt:lpstr>UCTI-Template-foundation-level</vt:lpstr>
      <vt:lpstr>Entity Relationship Modeling</vt:lpstr>
      <vt:lpstr>Learning objectives</vt:lpstr>
      <vt:lpstr>Entity Relationship Diagram (ERD)</vt:lpstr>
      <vt:lpstr>Entity Relationship Diagram (ERD)</vt:lpstr>
      <vt:lpstr>PowerPoint Presentation</vt:lpstr>
      <vt:lpstr>Components of ERD</vt:lpstr>
      <vt:lpstr>Entities </vt:lpstr>
      <vt:lpstr>Attributes </vt:lpstr>
      <vt:lpstr>PowerPoint Presentation</vt:lpstr>
      <vt:lpstr> Example</vt:lpstr>
      <vt:lpstr>PowerPoint Presentation</vt:lpstr>
      <vt:lpstr>Relationships</vt:lpstr>
      <vt:lpstr>PowerPoint Presentation</vt:lpstr>
      <vt:lpstr>Types of Relationships</vt:lpstr>
      <vt:lpstr>Types of Relationships</vt:lpstr>
      <vt:lpstr>PowerPoint Presentation</vt:lpstr>
      <vt:lpstr>PowerPoint Presentation</vt:lpstr>
      <vt:lpstr>PowerPoint Presentation</vt:lpstr>
      <vt:lpstr>Notation</vt:lpstr>
      <vt:lpstr>Examples</vt:lpstr>
      <vt:lpstr>Many-to-Many Relationship Example</vt:lpstr>
      <vt:lpstr>Many to Many Example Cont’d</vt:lpstr>
      <vt:lpstr>Many to Many Example Cont’d</vt:lpstr>
      <vt:lpstr>Guidelines for Drawing  an E-R Diagram</vt:lpstr>
      <vt:lpstr>Example </vt:lpstr>
      <vt:lpstr>ERD Example –  Simple Hospital System</vt:lpstr>
      <vt:lpstr>Example</vt:lpstr>
      <vt:lpstr>Small College Database</vt:lpstr>
      <vt:lpstr>Example of Chen Notation</vt:lpstr>
      <vt:lpstr>Example of Crow’s Feet Notation</vt:lpstr>
      <vt:lpstr>Q &amp; A</vt:lpstr>
    </vt:vector>
  </TitlesOfParts>
  <Company>APU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Teaching Slides</dc:subject>
  <dc:creator>DBB</dc:creator>
  <cp:keywords>2023</cp:keywords>
  <cp:lastModifiedBy>Lai Chew Ping</cp:lastModifiedBy>
  <cp:revision>332</cp:revision>
  <cp:lastPrinted>2023-02-03T03:07:34Z</cp:lastPrinted>
  <dcterms:created xsi:type="dcterms:W3CDTF">2005-08-02T10:18:20Z</dcterms:created>
  <dcterms:modified xsi:type="dcterms:W3CDTF">2024-01-22T07:01:14Z</dcterms:modified>
  <cp:category>Teaching Slides</cp:category>
  <cp:contentStatus>2023 Version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0x01010050C09830CF6CB84B8D12D02B69700FAF</vt:lpwstr>
  </property>
</Properties>
</file>