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36"/>
  </p:notesMasterIdLst>
  <p:handoutMasterIdLst>
    <p:handoutMasterId r:id="rId37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36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31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baseline="0" dirty="0"/>
              <a:t>One or more than one staff can be located in one division only.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One division only can operate one or more branches.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17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686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16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75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14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One branch only has</a:t>
            </a:r>
            <a:r>
              <a:rPr lang="en-US" baseline="0" dirty="0"/>
              <a:t> one or more than one staff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Zero or one staff can oversees Zero or more than Zero property for rent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Zero or more than Zero can be oversees by zero or </a:t>
            </a:r>
            <a:r>
              <a:rPr lang="en-US" baseline="0"/>
              <a:t>one staff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1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8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3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67D4-F846-4FA7-9735-75DCB8916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319D1-2FDF-4E65-83B0-648B1C48132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E9951-D796-433A-8E14-912855E1F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3CD70-AA0A-4A08-ADA7-3259B35E5D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14400" y="6324600"/>
            <a:ext cx="9042400" cy="254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77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  <p:sldLayoutId id="2147483759" r:id="rId4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3188" y="3733801"/>
            <a:ext cx="6754812" cy="1470025"/>
          </a:xfrm>
        </p:spPr>
        <p:txBody>
          <a:bodyPr/>
          <a:lstStyle/>
          <a:p>
            <a:pPr eaLnBrk="1" hangingPunct="1"/>
            <a:r>
              <a:rPr lang="en-US" sz="3200" dirty="0"/>
              <a:t>Advanced Data Modeling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98900" y="1600200"/>
            <a:ext cx="6769100" cy="1752600"/>
          </a:xfrm>
        </p:spPr>
        <p:txBody>
          <a:bodyPr/>
          <a:lstStyle/>
          <a:p>
            <a:pPr lvl="0"/>
            <a:r>
              <a:rPr lang="en-US" dirty="0"/>
              <a:t>CT004-3.5-3 </a:t>
            </a:r>
            <a:br>
              <a:rPr lang="en-US" dirty="0"/>
            </a:br>
            <a:r>
              <a:rPr lang="en-US" dirty="0"/>
              <a:t>Advanced Database Systems</a:t>
            </a:r>
            <a:endParaRPr lang="en-MY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Topic &amp; Structure of Lesson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 dirty="0"/>
              <a:t>The relevance of data modelling to the relational model</a:t>
            </a:r>
          </a:p>
          <a:p>
            <a:pPr eaLnBrk="1" hangingPunct="1"/>
            <a:r>
              <a:rPr lang="en-GB" sz="2800" dirty="0"/>
              <a:t>Problems with ER Models </a:t>
            </a:r>
          </a:p>
          <a:p>
            <a:pPr eaLnBrk="1" hangingPunct="1"/>
            <a:r>
              <a:rPr lang="en-GB" sz="2800" dirty="0"/>
              <a:t>Developing Enhanced Entity Relationship Modelling</a:t>
            </a:r>
          </a:p>
          <a:p>
            <a:pPr eaLnBrk="1" hangingPunct="1"/>
            <a:r>
              <a:rPr lang="en-GB" sz="2800" dirty="0"/>
              <a:t>Specialization/generalization hierarchies</a:t>
            </a:r>
          </a:p>
        </p:txBody>
      </p:sp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Learning Outcomes</a:t>
            </a:r>
            <a:endParaRPr lang="en-US" sz="320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2011363" y="1697038"/>
            <a:ext cx="8405812" cy="4525962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b="1">
                <a:cs typeface="Times New Roman" pitchFamily="18" charset="0"/>
              </a:rPr>
              <a:t>By the end of this lesson you should be able 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b="1">
              <a:cs typeface="Times New Roman" pitchFamily="18" charset="0"/>
            </a:endParaRPr>
          </a:p>
          <a:p>
            <a:pPr eaLnBrk="1" hangingPunct="1"/>
            <a:r>
              <a:rPr lang="en-GB" sz="2800"/>
              <a:t>Explain the relevance of data modelling to the relational model</a:t>
            </a:r>
          </a:p>
          <a:p>
            <a:pPr eaLnBrk="1" hangingPunct="1"/>
            <a:r>
              <a:rPr lang="en-GB" sz="2800"/>
              <a:t>Explain and develop enhanced Entity Relationship Modelling</a:t>
            </a:r>
          </a:p>
          <a:p>
            <a:pPr eaLnBrk="1" hangingPunct="1"/>
            <a:r>
              <a:rPr lang="en-GB" sz="2800"/>
              <a:t>Describe specialization/generalization hierarchies</a:t>
            </a:r>
          </a:p>
          <a:p>
            <a:pPr eaLnBrk="1" hangingPunct="1"/>
            <a:endParaRPr lang="en-US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ER Modelling</a:t>
            </a:r>
            <a:endParaRPr lang="en-GB" b="1"/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/>
              <a:t>ER Modelling is a very effective tool for standard relational DB tasks</a:t>
            </a:r>
          </a:p>
          <a:p>
            <a:pPr eaLnBrk="1" hangingPunct="1"/>
            <a:endParaRPr lang="en-GB" sz="2800"/>
          </a:p>
          <a:p>
            <a:pPr eaLnBrk="1" hangingPunct="1"/>
            <a:r>
              <a:rPr lang="en-GB" sz="2800"/>
              <a:t>Provides semantic information but not always sufficient</a:t>
            </a:r>
          </a:p>
          <a:p>
            <a:pPr eaLnBrk="1" hangingPunct="1"/>
            <a:endParaRPr lang="en-GB" sz="2800"/>
          </a:p>
          <a:p>
            <a:pPr eaLnBrk="1" hangingPunct="1"/>
            <a:r>
              <a:rPr lang="en-GB" sz="2800"/>
              <a:t>Less adapted for more complex semantics</a:t>
            </a:r>
          </a:p>
        </p:txBody>
      </p:sp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1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60350"/>
            <a:ext cx="8015288" cy="914400"/>
          </a:xfrm>
        </p:spPr>
        <p:txBody>
          <a:bodyPr/>
          <a:lstStyle/>
          <a:p>
            <a:pPr eaLnBrk="1" hangingPunct="1"/>
            <a:r>
              <a:rPr lang="en-GB" sz="3200"/>
              <a:t>The Database Design Process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4511676" y="1484313"/>
            <a:ext cx="2663825" cy="43180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Requirements Definition</a:t>
            </a: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4511676" y="2205038"/>
            <a:ext cx="2663825" cy="43180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Data Analysis</a:t>
            </a: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4511676" y="2924175"/>
            <a:ext cx="2663825" cy="43180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Conceptual data model</a:t>
            </a: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4511676" y="3789363"/>
            <a:ext cx="2663825" cy="43180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Logical data model</a:t>
            </a: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auto">
          <a:xfrm>
            <a:off x="4440239" y="4724400"/>
            <a:ext cx="2663825" cy="431800"/>
          </a:xfrm>
          <a:prstGeom prst="rect">
            <a:avLst/>
          </a:prstGeom>
          <a:solidFill>
            <a:srgbClr val="0066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Physical Design</a:t>
            </a:r>
          </a:p>
        </p:txBody>
      </p:sp>
      <p:sp>
        <p:nvSpPr>
          <p:cNvPr id="7177" name="AutoShape 8"/>
          <p:cNvSpPr>
            <a:spLocks noChangeArrowheads="1"/>
          </p:cNvSpPr>
          <p:nvPr/>
        </p:nvSpPr>
        <p:spPr bwMode="auto">
          <a:xfrm>
            <a:off x="5016500" y="5516563"/>
            <a:ext cx="1657350" cy="576262"/>
          </a:xfrm>
          <a:prstGeom prst="can">
            <a:avLst>
              <a:gd name="adj" fmla="val 25000"/>
            </a:avLst>
          </a:prstGeom>
          <a:solidFill>
            <a:srgbClr val="0066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>
                <a:solidFill>
                  <a:schemeClr val="bg1"/>
                </a:solidFill>
              </a:rPr>
              <a:t>Database</a:t>
            </a:r>
          </a:p>
        </p:txBody>
      </p:sp>
      <p:sp>
        <p:nvSpPr>
          <p:cNvPr id="7178" name="Line 9"/>
          <p:cNvSpPr>
            <a:spLocks noChangeShapeType="1"/>
          </p:cNvSpPr>
          <p:nvPr/>
        </p:nvSpPr>
        <p:spPr bwMode="auto">
          <a:xfrm>
            <a:off x="5808663" y="1916114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9" name="Line 10"/>
          <p:cNvSpPr>
            <a:spLocks noChangeShapeType="1"/>
          </p:cNvSpPr>
          <p:nvPr/>
        </p:nvSpPr>
        <p:spPr bwMode="auto">
          <a:xfrm>
            <a:off x="5808663" y="2636839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0" name="Line 11"/>
          <p:cNvSpPr>
            <a:spLocks noChangeShapeType="1"/>
          </p:cNvSpPr>
          <p:nvPr/>
        </p:nvSpPr>
        <p:spPr bwMode="auto">
          <a:xfrm>
            <a:off x="5808663" y="34290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1" name="Line 12"/>
          <p:cNvSpPr>
            <a:spLocks noChangeShapeType="1"/>
          </p:cNvSpPr>
          <p:nvPr/>
        </p:nvSpPr>
        <p:spPr bwMode="auto">
          <a:xfrm>
            <a:off x="5880100" y="4365625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82" name="Line 13"/>
          <p:cNvSpPr>
            <a:spLocks noChangeShapeType="1"/>
          </p:cNvSpPr>
          <p:nvPr/>
        </p:nvSpPr>
        <p:spPr bwMode="auto">
          <a:xfrm>
            <a:off x="5808663" y="5229225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Problems with ER Models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7727950" cy="4114800"/>
          </a:xfrm>
        </p:spPr>
        <p:txBody>
          <a:bodyPr/>
          <a:lstStyle/>
          <a:p>
            <a:pPr eaLnBrk="1" hangingPunct="1"/>
            <a:r>
              <a:rPr lang="en-GB" sz="2800"/>
              <a:t>Problems may arise when designing a conceptual data model called connection traps.  </a:t>
            </a:r>
          </a:p>
          <a:p>
            <a:pPr eaLnBrk="1" hangingPunct="1">
              <a:lnSpc>
                <a:spcPct val="30000"/>
              </a:lnSpc>
            </a:pPr>
            <a:endParaRPr lang="en-GB" sz="2800"/>
          </a:p>
          <a:p>
            <a:pPr eaLnBrk="1" hangingPunct="1"/>
            <a:r>
              <a:rPr lang="en-GB" sz="2800"/>
              <a:t>Often due to a misinterpretation of the meaning of certain relationships.</a:t>
            </a:r>
          </a:p>
          <a:p>
            <a:pPr eaLnBrk="1" hangingPunct="1">
              <a:lnSpc>
                <a:spcPct val="30000"/>
              </a:lnSpc>
            </a:pPr>
            <a:endParaRPr lang="en-GB" sz="2800"/>
          </a:p>
          <a:p>
            <a:pPr eaLnBrk="1" hangingPunct="1"/>
            <a:r>
              <a:rPr lang="en-GB" sz="2800"/>
              <a:t>Two main types of connection traps are called fan traps and chasm traps.</a:t>
            </a:r>
          </a:p>
        </p:txBody>
      </p:sp>
      <p:sp>
        <p:nvSpPr>
          <p:cNvPr id="819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C6ACD417-B0D3-48AD-A2DB-DE29B84143A9}" type="slidenum">
              <a:rPr lang="en-GB" sz="800" b="1">
                <a:solidFill>
                  <a:schemeClr val="bg1"/>
                </a:solidFill>
              </a:rPr>
              <a:pPr algn="r"/>
              <a:t>6</a:t>
            </a:fld>
            <a:endParaRPr lang="en-GB" sz="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Problems with ER Models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1"/>
            <a:ext cx="8229600" cy="47418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sz="2800" b="1" dirty="0"/>
              <a:t>Fan Trap</a:t>
            </a:r>
          </a:p>
          <a:p>
            <a:pPr marL="673100" lvl="1" indent="-342900" eaLnBrk="1" hangingPunct="1">
              <a:lnSpc>
                <a:spcPct val="90000"/>
              </a:lnSpc>
              <a:buNone/>
              <a:defRPr/>
            </a:pPr>
            <a:r>
              <a:rPr lang="en-AU" dirty="0">
                <a:ea typeface="+mn-ea"/>
                <a:cs typeface="+mn-cs"/>
              </a:rPr>
              <a:t>-	Where a model represents a relationship between entity types, but pathway between certain entity occurrences is ambiguous.</a:t>
            </a:r>
            <a:r>
              <a:rPr lang="en-GB" dirty="0">
                <a:ea typeface="+mn-ea"/>
                <a:cs typeface="+mn-cs"/>
              </a:rPr>
              <a:t> </a:t>
            </a:r>
          </a:p>
          <a:p>
            <a:pPr marL="342900" lvl="1" indent="-342900" eaLnBrk="1" hangingPunct="1">
              <a:lnSpc>
                <a:spcPct val="30000"/>
              </a:lnSpc>
              <a:buFontTx/>
              <a:buChar char="•"/>
              <a:defRPr/>
            </a:pPr>
            <a:endParaRPr lang="en-GB" dirty="0"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b="1" dirty="0"/>
              <a:t>Chasm Trap</a:t>
            </a:r>
          </a:p>
          <a:p>
            <a:pPr marL="673100" lvl="1" indent="-342900" eaLnBrk="1" hangingPunct="1">
              <a:lnSpc>
                <a:spcPct val="90000"/>
              </a:lnSpc>
              <a:buNone/>
              <a:defRPr/>
            </a:pPr>
            <a:r>
              <a:rPr lang="en-AU" dirty="0">
                <a:ea typeface="+mn-ea"/>
                <a:cs typeface="+mn-cs"/>
              </a:rPr>
              <a:t>-	Where a model suggests the existence of a relationship between entity types, but pathway does not exist between certain entity occurrences.</a:t>
            </a:r>
            <a:r>
              <a:rPr lang="en-GB" dirty="0">
                <a:ea typeface="+mn-ea"/>
                <a:cs typeface="+mn-cs"/>
              </a:rPr>
              <a:t> </a:t>
            </a:r>
          </a:p>
        </p:txBody>
      </p:sp>
      <p:sp>
        <p:nvSpPr>
          <p:cNvPr id="921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DF97A187-BF57-42DC-BED9-C3D1F469A09F}" type="slidenum">
              <a:rPr lang="en-GB" sz="800" b="1">
                <a:solidFill>
                  <a:schemeClr val="bg1"/>
                </a:solidFill>
              </a:rPr>
              <a:pPr algn="r"/>
              <a:t>7</a:t>
            </a:fld>
            <a:endParaRPr lang="en-GB" sz="8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An Example of a Fan Trap</a:t>
            </a: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6A0512FE-636D-4EF4-B068-9BFE908D4B62}" type="slidenum">
              <a:rPr lang="en-GB" sz="800" b="1">
                <a:solidFill>
                  <a:schemeClr val="bg1"/>
                </a:solidFill>
              </a:rPr>
              <a:pPr algn="r"/>
              <a:t>8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78856" name="Picture 8" descr="DS3-Figure 11-19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7525" y="2814639"/>
            <a:ext cx="8491538" cy="189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Semantic Net of ER Model with Fan Trap</a:t>
            </a:r>
          </a:p>
        </p:txBody>
      </p:sp>
      <p:sp>
        <p:nvSpPr>
          <p:cNvPr id="80902" name="Rectangle 6"/>
          <p:cNvSpPr>
            <a:spLocks noGrp="1" noChangeArrowheads="1"/>
          </p:cNvSpPr>
          <p:nvPr>
            <p:ph idx="1"/>
          </p:nvPr>
        </p:nvSpPr>
        <p:spPr>
          <a:xfrm>
            <a:off x="2057400" y="1828800"/>
            <a:ext cx="7727950" cy="4114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r>
              <a:rPr lang="en-GB" sz="2600" b="1" dirty="0"/>
              <a:t>At which branch office does staff number SG37 work?</a:t>
            </a:r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22C87953-2E1E-493B-A2DA-9062736F9BA4}" type="slidenum">
              <a:rPr lang="en-GB" sz="800" b="1">
                <a:solidFill>
                  <a:schemeClr val="bg1"/>
                </a:solidFill>
              </a:rPr>
              <a:pPr algn="r"/>
              <a:t>9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80904" name="Picture 8" descr="DS3-Figure 11-19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1981200"/>
            <a:ext cx="76962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7315200" cy="1104900"/>
          </a:xfrm>
        </p:spPr>
        <p:txBody>
          <a:bodyPr/>
          <a:lstStyle/>
          <a:p>
            <a:pPr eaLnBrk="1" hangingPunct="1"/>
            <a:r>
              <a:rPr lang="en-GB" sz="3200" dirty="0"/>
              <a:t>Restructuring ER model to remove Fan Trap</a:t>
            </a:r>
          </a:p>
        </p:txBody>
      </p:sp>
      <p:sp>
        <p:nvSpPr>
          <p:cNvPr id="1229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456C116C-EBDF-43DB-ACAC-7BB64FC7DED5}" type="slidenum">
              <a:rPr lang="en-GB" sz="800" b="1">
                <a:solidFill>
                  <a:schemeClr val="bg1"/>
                </a:solidFill>
              </a:rPr>
              <a:pPr algn="r"/>
              <a:t>10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82952" name="Picture 8" descr="DS3-Figure 11-20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7050" y="2508250"/>
            <a:ext cx="861853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Semantic Net of Restructured ER Model with Fan Trap Removed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72795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r>
              <a:rPr lang="en-GB" sz="2400" b="1" dirty="0"/>
              <a:t>SG37 works at branch B003.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87173641-67B6-4921-9694-0C216A7AEE9E}" type="slidenum">
              <a:rPr lang="en-GB"/>
              <a:pPr/>
              <a:t>11</a:t>
            </a:fld>
            <a:endParaRPr lang="en-GB"/>
          </a:p>
        </p:txBody>
      </p:sp>
      <p:pic>
        <p:nvPicPr>
          <p:cNvPr id="85001" name="Picture 9" descr="DS3-Figure 11-20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1828801"/>
            <a:ext cx="76200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An Example of a Chasm Trap</a:t>
            </a:r>
          </a:p>
        </p:txBody>
      </p:sp>
      <p:sp>
        <p:nvSpPr>
          <p:cNvPr id="1433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72A0A077-2DC8-4F5A-9433-B61086D32B7B}" type="slidenum">
              <a:rPr lang="en-GB" sz="800" b="1">
                <a:solidFill>
                  <a:schemeClr val="bg1"/>
                </a:solidFill>
              </a:rPr>
              <a:pPr algn="r"/>
              <a:t>12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87049" name="Picture 9" descr="DS3-Figure 11-21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7364" y="2606675"/>
            <a:ext cx="8637587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7162800" cy="1104900"/>
          </a:xfrm>
        </p:spPr>
        <p:txBody>
          <a:bodyPr/>
          <a:lstStyle/>
          <a:p>
            <a:pPr eaLnBrk="1" hangingPunct="1"/>
            <a:r>
              <a:rPr lang="en-GB" sz="3200" dirty="0"/>
              <a:t>Semantic Net of ER Model with Chasm Trap</a:t>
            </a:r>
          </a:p>
        </p:txBody>
      </p:sp>
      <p:sp>
        <p:nvSpPr>
          <p:cNvPr id="89094" name="Rectangle 6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72795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endParaRPr lang="en-GB" sz="2800" b="1" dirty="0"/>
          </a:p>
          <a:p>
            <a:pPr eaLnBrk="1" hangingPunct="1">
              <a:lnSpc>
                <a:spcPct val="90000"/>
              </a:lnSpc>
            </a:pPr>
            <a:r>
              <a:rPr lang="en-GB" sz="2400" b="1" dirty="0"/>
              <a:t>At which branch office is property PA14 available?</a:t>
            </a:r>
          </a:p>
        </p:txBody>
      </p:sp>
      <p:sp>
        <p:nvSpPr>
          <p:cNvPr id="1536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9B887925-5FDD-45D3-9214-03DDA1A35C13}" type="slidenum">
              <a:rPr lang="en-GB" sz="800" b="1">
                <a:solidFill>
                  <a:schemeClr val="bg1"/>
                </a:solidFill>
              </a:rPr>
              <a:pPr algn="r"/>
              <a:t>13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89096" name="Picture 8" descr="DS3-Figure 11-21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1752600"/>
            <a:ext cx="7467600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874838" y="306388"/>
            <a:ext cx="7859712" cy="1104900"/>
          </a:xfrm>
        </p:spPr>
        <p:txBody>
          <a:bodyPr/>
          <a:lstStyle/>
          <a:p>
            <a:pPr eaLnBrk="1" hangingPunct="1"/>
            <a:r>
              <a:rPr lang="en-GB" sz="3200"/>
              <a:t>ER Model restructured to remove Chasm Trap</a:t>
            </a:r>
          </a:p>
        </p:txBody>
      </p:sp>
      <p:sp>
        <p:nvSpPr>
          <p:cNvPr id="1638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C6AF4E57-ED49-4107-8F5A-C31F28B368E8}" type="slidenum">
              <a:rPr lang="en-GB" sz="800" b="1">
                <a:solidFill>
                  <a:schemeClr val="bg1"/>
                </a:solidFill>
              </a:rPr>
              <a:pPr algn="r"/>
              <a:t>14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91145" name="Picture 9" descr="DS3-Figure 11-2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9600" y="2197101"/>
            <a:ext cx="8555038" cy="293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/>
              <a:t>Semantic Net of Restructured ER Model with Chasm Trap Removed</a:t>
            </a:r>
          </a:p>
        </p:txBody>
      </p:sp>
      <p:sp>
        <p:nvSpPr>
          <p:cNvPr id="1741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772400" y="6623050"/>
            <a:ext cx="2895600" cy="2349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/>
            <a:fld id="{0F6D4B06-F4F3-4E4A-8CB1-E6B38ECC3E20}" type="slidenum">
              <a:rPr lang="en-GB" sz="800" b="1">
                <a:solidFill>
                  <a:schemeClr val="bg1"/>
                </a:solidFill>
              </a:rPr>
              <a:pPr algn="r"/>
              <a:t>15</a:t>
            </a:fld>
            <a:endParaRPr lang="en-GB" sz="800" b="1">
              <a:solidFill>
                <a:schemeClr val="bg1"/>
              </a:solidFill>
            </a:endParaRPr>
          </a:p>
        </p:txBody>
      </p:sp>
      <p:pic>
        <p:nvPicPr>
          <p:cNvPr id="93193" name="Picture 9" descr="DS3-Figure 11-22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1" y="1581150"/>
            <a:ext cx="6462713" cy="496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1E49B-7EC8-4B1D-BFB8-EE2C578431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66276" name="Rectangle 4">
            <a:extLst>
              <a:ext uri="{FF2B5EF4-FFF2-40B4-BE49-F238E27FC236}">
                <a16:creationId xmlns:a16="http://schemas.microsoft.com/office/drawing/2014/main" id="{1FEE4221-2095-4196-89FB-B780683C7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Extended Entity Relationship Model</a:t>
            </a:r>
          </a:p>
        </p:txBody>
      </p:sp>
      <p:sp>
        <p:nvSpPr>
          <p:cNvPr id="566277" name="Rectangle 5">
            <a:extLst>
              <a:ext uri="{FF2B5EF4-FFF2-40B4-BE49-F238E27FC236}">
                <a16:creationId xmlns:a16="http://schemas.microsoft.com/office/drawing/2014/main" id="{CCB189A7-CB1D-4508-B382-C2A733442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Result of adding more semantic constructs to original entity relationship (ER) model</a:t>
            </a:r>
          </a:p>
          <a:p>
            <a:endParaRPr lang="en-US" altLang="en-US"/>
          </a:p>
          <a:p>
            <a:r>
              <a:rPr lang="en-US" altLang="en-US"/>
              <a:t>Diagram using this model is called an EER diagram (EERD)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221F6-8D96-4E7D-9586-C3226647D9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67300" name="Rectangle 4">
            <a:extLst>
              <a:ext uri="{FF2B5EF4-FFF2-40B4-BE49-F238E27FC236}">
                <a16:creationId xmlns:a16="http://schemas.microsoft.com/office/drawing/2014/main" id="{BC8D2A15-2313-4FFD-9560-C6B94DD7A5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Entity Supertypes and Subtypes</a:t>
            </a:r>
          </a:p>
        </p:txBody>
      </p:sp>
      <p:sp>
        <p:nvSpPr>
          <p:cNvPr id="567301" name="Rectangle 5">
            <a:extLst>
              <a:ext uri="{FF2B5EF4-FFF2-40B4-BE49-F238E27FC236}">
                <a16:creationId xmlns:a16="http://schemas.microsoft.com/office/drawing/2014/main" id="{F485ABE1-98DA-4966-9618-3E6D43AAC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Entity supertype </a:t>
            </a:r>
          </a:p>
          <a:p>
            <a:pPr lvl="1"/>
            <a:r>
              <a:rPr lang="en-US" altLang="en-US"/>
              <a:t>Generic entity type that is related to one or more entity subtypes</a:t>
            </a:r>
          </a:p>
          <a:p>
            <a:pPr lvl="1"/>
            <a:r>
              <a:rPr lang="en-US" altLang="en-US"/>
              <a:t>Contains common characteristics</a:t>
            </a:r>
          </a:p>
          <a:p>
            <a:r>
              <a:rPr lang="en-US" altLang="en-US"/>
              <a:t>Entity subtypes </a:t>
            </a:r>
          </a:p>
          <a:p>
            <a:pPr lvl="1"/>
            <a:r>
              <a:rPr lang="en-US" altLang="en-US"/>
              <a:t>Contains unique characteristics of each entity subtype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2838728-C036-4F33-9B9A-1F771C610B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/>
          </a:p>
        </p:txBody>
      </p:sp>
      <p:sp>
        <p:nvSpPr>
          <p:cNvPr id="387074" name="Rectangle 2">
            <a:extLst>
              <a:ext uri="{FF2B5EF4-FFF2-40B4-BE49-F238E27FC236}">
                <a16:creationId xmlns:a16="http://schemas.microsoft.com/office/drawing/2014/main" id="{14D27BBE-8409-488A-BD8F-9973E7E23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Entity Supertypes and Subtypes (continued)</a:t>
            </a:r>
          </a:p>
        </p:txBody>
      </p:sp>
      <p:pic>
        <p:nvPicPr>
          <p:cNvPr id="387086" name="Picture 14">
            <a:extLst>
              <a:ext uri="{FF2B5EF4-FFF2-40B4-BE49-F238E27FC236}">
                <a16:creationId xmlns:a16="http://schemas.microsoft.com/office/drawing/2014/main" id="{0A80696C-1709-4039-B762-71062074FC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1" y="2082800"/>
            <a:ext cx="9211051" cy="3505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9148-0D77-4368-BEC8-CEE2F40B89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68324" name="Rectangle 4">
            <a:extLst>
              <a:ext uri="{FF2B5EF4-FFF2-40B4-BE49-F238E27FC236}">
                <a16:creationId xmlns:a16="http://schemas.microsoft.com/office/drawing/2014/main" id="{A6AD648A-A760-4B56-A225-3FA027AE0D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Specialization Hierarchy</a:t>
            </a:r>
          </a:p>
        </p:txBody>
      </p:sp>
      <p:sp>
        <p:nvSpPr>
          <p:cNvPr id="568325" name="Rectangle 5">
            <a:extLst>
              <a:ext uri="{FF2B5EF4-FFF2-40B4-BE49-F238E27FC236}">
                <a16:creationId xmlns:a16="http://schemas.microsoft.com/office/drawing/2014/main" id="{F8E5EB15-F1AE-487D-9940-0C3F41252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Depicts arrangement of higher-level entity supertypes (parent entities) and lower-level entity subtypes (child entities)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Relationships sometimes described in terms of “IS-A” relationships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Subtype can exist only within context of supertype and every subtype can have only one supertype to which it is directly related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Can have many levels of supertype/subtype relationships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7870502-BD21-499E-BE9E-94F90B3599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/>
          </a:p>
        </p:txBody>
      </p:sp>
      <p:sp>
        <p:nvSpPr>
          <p:cNvPr id="546818" name="Rectangle 2">
            <a:extLst>
              <a:ext uri="{FF2B5EF4-FFF2-40B4-BE49-F238E27FC236}">
                <a16:creationId xmlns:a16="http://schemas.microsoft.com/office/drawing/2014/main" id="{7EF40648-6D24-4911-AC10-309AA3F92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r>
              <a:rPr lang="en-US" altLang="en-US"/>
              <a:t>Specialization Hierarchy </a:t>
            </a:r>
            <a:br>
              <a:rPr lang="en-US" altLang="en-US"/>
            </a:br>
            <a:r>
              <a:rPr lang="en-US" altLang="en-US"/>
              <a:t>(continued)</a:t>
            </a:r>
          </a:p>
        </p:txBody>
      </p:sp>
      <p:pic>
        <p:nvPicPr>
          <p:cNvPr id="546821" name="Picture 5">
            <a:extLst>
              <a:ext uri="{FF2B5EF4-FFF2-40B4-BE49-F238E27FC236}">
                <a16:creationId xmlns:a16="http://schemas.microsoft.com/office/drawing/2014/main" id="{263B223F-76ED-41B1-9A22-191AA136229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0" y="1447800"/>
            <a:ext cx="6324600" cy="4902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48587-1087-439F-BCC4-6F5BFF06E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69348" name="Rectangle 4">
            <a:extLst>
              <a:ext uri="{FF2B5EF4-FFF2-40B4-BE49-F238E27FC236}">
                <a16:creationId xmlns:a16="http://schemas.microsoft.com/office/drawing/2014/main" id="{5EFEF858-E046-4BE1-91EF-B29F464A3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Specialization Hierarchy (continued)</a:t>
            </a:r>
          </a:p>
        </p:txBody>
      </p:sp>
      <p:sp>
        <p:nvSpPr>
          <p:cNvPr id="569349" name="Rectangle 5">
            <a:extLst>
              <a:ext uri="{FF2B5EF4-FFF2-40B4-BE49-F238E27FC236}">
                <a16:creationId xmlns:a16="http://schemas.microsoft.com/office/drawing/2014/main" id="{525EA570-7D74-466F-9A98-E3BB55413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Support attribute inheritance</a:t>
            </a:r>
          </a:p>
          <a:p>
            <a:r>
              <a:rPr lang="en-US" altLang="en-US"/>
              <a:t>Define special supertype attribute known as subtype discriminator</a:t>
            </a:r>
          </a:p>
          <a:p>
            <a:r>
              <a:rPr lang="en-US" altLang="en-US"/>
              <a:t>Define disjoint/overlapping constraints and complete/partial constraints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4F2D7-19DB-4E3C-957D-900756509D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70372" name="Rectangle 4">
            <a:extLst>
              <a:ext uri="{FF2B5EF4-FFF2-40B4-BE49-F238E27FC236}">
                <a16:creationId xmlns:a16="http://schemas.microsoft.com/office/drawing/2014/main" id="{6CE934A3-0615-4097-BD9B-A24ABA06F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Inheritance</a:t>
            </a:r>
          </a:p>
        </p:txBody>
      </p:sp>
      <p:sp>
        <p:nvSpPr>
          <p:cNvPr id="570373" name="Rectangle 5">
            <a:extLst>
              <a:ext uri="{FF2B5EF4-FFF2-40B4-BE49-F238E27FC236}">
                <a16:creationId xmlns:a16="http://schemas.microsoft.com/office/drawing/2014/main" id="{739F46F0-8FB9-438F-A60B-1DCDB1186F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Enables entity subtype to inherit attributes and relationships of supertype</a:t>
            </a:r>
          </a:p>
          <a:p>
            <a:r>
              <a:rPr lang="en-US" altLang="en-US"/>
              <a:t>All entity subtypes inherit their primary key attribute from their supertype</a:t>
            </a:r>
          </a:p>
          <a:p>
            <a:r>
              <a:rPr lang="en-US" altLang="en-US"/>
              <a:t>At implementation level, supertype and its subtype(s) depicted in specialization hierarchy maintain a 1:1 relationship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8AC0B0-674E-4549-8A05-BF8A8142E2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94090BC2-72DC-483C-B195-12AB55273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r>
              <a:rPr lang="en-US" altLang="en-US"/>
              <a:t>Inheritance (continued)</a:t>
            </a:r>
          </a:p>
        </p:txBody>
      </p:sp>
      <p:pic>
        <p:nvPicPr>
          <p:cNvPr id="547845" name="Picture 5">
            <a:extLst>
              <a:ext uri="{FF2B5EF4-FFF2-40B4-BE49-F238E27FC236}">
                <a16:creationId xmlns:a16="http://schemas.microsoft.com/office/drawing/2014/main" id="{B8E0C4C5-B421-49DA-BACB-AB77FE6860B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2057400"/>
            <a:ext cx="8229600" cy="29083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D4AE2D-DCB8-4C2D-B0FF-3FE3AE5DB1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71396" name="Rectangle 4">
            <a:extLst>
              <a:ext uri="{FF2B5EF4-FFF2-40B4-BE49-F238E27FC236}">
                <a16:creationId xmlns:a16="http://schemas.microsoft.com/office/drawing/2014/main" id="{36FE8F2D-E735-4497-BA5D-A87CE4D36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Subtype Discriminator</a:t>
            </a:r>
          </a:p>
        </p:txBody>
      </p:sp>
      <p:sp>
        <p:nvSpPr>
          <p:cNvPr id="571397" name="Rectangle 5">
            <a:extLst>
              <a:ext uri="{FF2B5EF4-FFF2-40B4-BE49-F238E27FC236}">
                <a16:creationId xmlns:a16="http://schemas.microsoft.com/office/drawing/2014/main" id="{9C410ACD-EF98-45DC-97FA-0C18406C7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attribute in supertype entity that determines to which entity subtype each supertype occurrence is related</a:t>
            </a:r>
          </a:p>
          <a:p>
            <a:r>
              <a:rPr lang="en-US" altLang="en-US"/>
              <a:t>The default comparison condition for subtype discriminator attribute is equality comparison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51E3C-CB56-4464-B880-086699205A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72420" name="Rectangle 4">
            <a:extLst>
              <a:ext uri="{FF2B5EF4-FFF2-40B4-BE49-F238E27FC236}">
                <a16:creationId xmlns:a16="http://schemas.microsoft.com/office/drawing/2014/main" id="{05B478BE-857D-45E4-8AD9-BA979860C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Disjoint and Overlapping Constraints</a:t>
            </a:r>
          </a:p>
        </p:txBody>
      </p:sp>
      <p:sp>
        <p:nvSpPr>
          <p:cNvPr id="572421" name="Rectangle 5">
            <a:extLst>
              <a:ext uri="{FF2B5EF4-FFF2-40B4-BE49-F238E27FC236}">
                <a16:creationId xmlns:a16="http://schemas.microsoft.com/office/drawing/2014/main" id="{26F184F4-4470-4ED2-89C9-2CC376C24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Disjoint subtypes</a:t>
            </a:r>
          </a:p>
          <a:p>
            <a:pPr lvl="1"/>
            <a:r>
              <a:rPr lang="en-US" altLang="en-US"/>
              <a:t>Also known as non-overlapping subtypes</a:t>
            </a:r>
          </a:p>
          <a:p>
            <a:pPr lvl="1"/>
            <a:r>
              <a:rPr lang="en-US" altLang="en-US"/>
              <a:t>Subtypes that contain unique subset of supertype entity set</a:t>
            </a:r>
          </a:p>
          <a:p>
            <a:r>
              <a:rPr lang="en-US" altLang="en-US"/>
              <a:t>Overlapping subtypes</a:t>
            </a:r>
          </a:p>
          <a:p>
            <a:pPr lvl="1"/>
            <a:r>
              <a:rPr lang="en-US" altLang="en-US"/>
              <a:t>Subtypes that contain nonunique subsets of supertype entity set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3FC198-0C4D-4938-94CB-FC00FC6551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/>
          </a:p>
        </p:txBody>
      </p:sp>
      <p:sp>
        <p:nvSpPr>
          <p:cNvPr id="548866" name="Rectangle 2">
            <a:extLst>
              <a:ext uri="{FF2B5EF4-FFF2-40B4-BE49-F238E27FC236}">
                <a16:creationId xmlns:a16="http://schemas.microsoft.com/office/drawing/2014/main" id="{A56D8BFB-6677-4A80-A622-6C6952F77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r>
              <a:rPr lang="en-US" altLang="en-US"/>
              <a:t>Disjoint and Overlapping </a:t>
            </a:r>
            <a:br>
              <a:rPr lang="en-US" altLang="en-US"/>
            </a:br>
            <a:r>
              <a:rPr lang="en-US" altLang="en-US"/>
              <a:t>Constraints (continued)</a:t>
            </a:r>
          </a:p>
        </p:txBody>
      </p:sp>
      <p:pic>
        <p:nvPicPr>
          <p:cNvPr id="548869" name="Picture 5">
            <a:extLst>
              <a:ext uri="{FF2B5EF4-FFF2-40B4-BE49-F238E27FC236}">
                <a16:creationId xmlns:a16="http://schemas.microsoft.com/office/drawing/2014/main" id="{DF7FEAE4-998E-4447-917F-CD019067F35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0" y="1447800"/>
            <a:ext cx="6553200" cy="47688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9427A7-F069-47C7-8949-575F7927C9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/>
          </a:p>
        </p:txBody>
      </p:sp>
      <p:sp>
        <p:nvSpPr>
          <p:cNvPr id="550914" name="Rectangle 2">
            <a:extLst>
              <a:ext uri="{FF2B5EF4-FFF2-40B4-BE49-F238E27FC236}">
                <a16:creationId xmlns:a16="http://schemas.microsoft.com/office/drawing/2014/main" id="{FAB7F28D-3305-44F4-A512-189E94A92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r>
              <a:rPr lang="en-US" altLang="en-US"/>
              <a:t>Disjoint and Overlapping </a:t>
            </a:r>
            <a:br>
              <a:rPr lang="en-US" altLang="en-US"/>
            </a:br>
            <a:r>
              <a:rPr lang="en-US" altLang="en-US"/>
              <a:t>Constraints (continued)</a:t>
            </a:r>
          </a:p>
        </p:txBody>
      </p:sp>
      <p:pic>
        <p:nvPicPr>
          <p:cNvPr id="550917" name="Picture 5">
            <a:extLst>
              <a:ext uri="{FF2B5EF4-FFF2-40B4-BE49-F238E27FC236}">
                <a16:creationId xmlns:a16="http://schemas.microsoft.com/office/drawing/2014/main" id="{6BA745F3-C043-45AB-A792-EE1B630E779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2362200"/>
            <a:ext cx="8763000" cy="17716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9DE22-DAFA-4A2B-A843-9BF3195DAD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74468" name="Rectangle 4">
            <a:extLst>
              <a:ext uri="{FF2B5EF4-FFF2-40B4-BE49-F238E27FC236}">
                <a16:creationId xmlns:a16="http://schemas.microsoft.com/office/drawing/2014/main" id="{CEE72BFE-6800-4520-B4E1-A38BEB50DB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Completeness Constraint</a:t>
            </a:r>
          </a:p>
        </p:txBody>
      </p:sp>
      <p:sp>
        <p:nvSpPr>
          <p:cNvPr id="574469" name="Rectangle 5">
            <a:extLst>
              <a:ext uri="{FF2B5EF4-FFF2-40B4-BE49-F238E27FC236}">
                <a16:creationId xmlns:a16="http://schemas.microsoft.com/office/drawing/2014/main" id="{DAB3ABD4-B082-4F1B-88C9-CCAA93221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Specifies whether each entity supertype occurrence must also be member of at least one subtype</a:t>
            </a:r>
          </a:p>
          <a:p>
            <a:r>
              <a:rPr lang="en-US" altLang="en-US"/>
              <a:t>Can be partial or total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1B72A9B-E6BB-46EF-9234-91A32D626B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Database Systems: Design, Implementation, &amp; Management, 7</a:t>
            </a:r>
            <a:r>
              <a:rPr lang="en-US" altLang="en-US" baseline="30000"/>
              <a:t>th</a:t>
            </a:r>
            <a:r>
              <a:rPr lang="en-US" altLang="en-US"/>
              <a:t> Edition, Rob &amp; Coronel</a:t>
            </a:r>
            <a:endParaRPr lang="en-US" altLang="en-US" sz="1400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C88D0604-8930-4D53-AEDB-03444E71A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r>
              <a:rPr lang="en-US" altLang="en-US"/>
              <a:t>Completeness Constraint </a:t>
            </a:r>
            <a:br>
              <a:rPr lang="en-US" altLang="en-US"/>
            </a:br>
            <a:r>
              <a:rPr lang="en-US" altLang="en-US"/>
              <a:t>(continued)</a:t>
            </a:r>
          </a:p>
        </p:txBody>
      </p:sp>
      <p:pic>
        <p:nvPicPr>
          <p:cNvPr id="551941" name="Picture 5">
            <a:extLst>
              <a:ext uri="{FF2B5EF4-FFF2-40B4-BE49-F238E27FC236}">
                <a16:creationId xmlns:a16="http://schemas.microsoft.com/office/drawing/2014/main" id="{C8C4AF96-62EA-47E6-A87A-CC2EF561A87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2286001"/>
            <a:ext cx="8763000" cy="237331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07A06-EB3B-4D17-8FB5-14E1C937B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75494" name="Rectangle 6">
            <a:extLst>
              <a:ext uri="{FF2B5EF4-FFF2-40B4-BE49-F238E27FC236}">
                <a16:creationId xmlns:a16="http://schemas.microsoft.com/office/drawing/2014/main" id="{BEE79C3B-9221-4DEA-91F2-0B7C04002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Specialization and Generalization</a:t>
            </a:r>
          </a:p>
        </p:txBody>
      </p:sp>
      <p:sp>
        <p:nvSpPr>
          <p:cNvPr id="575495" name="Rectangle 7">
            <a:extLst>
              <a:ext uri="{FF2B5EF4-FFF2-40B4-BE49-F238E27FC236}">
                <a16:creationId xmlns:a16="http://schemas.microsoft.com/office/drawing/2014/main" id="{37FD72A8-2A79-49AE-B8AD-E13972C640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Specialization</a:t>
            </a:r>
          </a:p>
          <a:p>
            <a:pPr lvl="1"/>
            <a:r>
              <a:rPr lang="en-US" altLang="en-US"/>
              <a:t>Top-down process of identifying lower-level, more specific entity subtypes from higher-level entity supertype</a:t>
            </a:r>
          </a:p>
          <a:p>
            <a:pPr lvl="1"/>
            <a:r>
              <a:rPr lang="en-US" altLang="en-US"/>
              <a:t>Based on grouping unique characteristics and relationships of the subtypes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DC6F81-D778-44A7-B228-63C419CE93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400"/>
          </a:p>
        </p:txBody>
      </p:sp>
      <p:sp>
        <p:nvSpPr>
          <p:cNvPr id="576518" name="Rectangle 6">
            <a:extLst>
              <a:ext uri="{FF2B5EF4-FFF2-40B4-BE49-F238E27FC236}">
                <a16:creationId xmlns:a16="http://schemas.microsoft.com/office/drawing/2014/main" id="{D17A7891-B119-4E3D-A7A7-979D4A5F8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Specialization and Generalization</a:t>
            </a:r>
            <a:br>
              <a:rPr lang="en-US" altLang="en-US"/>
            </a:br>
            <a:r>
              <a:rPr lang="en-US" altLang="en-US"/>
              <a:t>(continued)</a:t>
            </a:r>
          </a:p>
        </p:txBody>
      </p:sp>
      <p:sp>
        <p:nvSpPr>
          <p:cNvPr id="576519" name="Rectangle 7">
            <a:extLst>
              <a:ext uri="{FF2B5EF4-FFF2-40B4-BE49-F238E27FC236}">
                <a16:creationId xmlns:a16="http://schemas.microsoft.com/office/drawing/2014/main" id="{A3D8E908-706F-4972-95F1-E5CDF9736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Generalization</a:t>
            </a:r>
          </a:p>
          <a:p>
            <a:pPr lvl="1"/>
            <a:r>
              <a:rPr lang="en-US" altLang="en-US"/>
              <a:t>Bottom-up process of identifying higher-level, more generic entity supertype from lower-level entity subtypes</a:t>
            </a:r>
          </a:p>
          <a:p>
            <a:pPr lvl="1"/>
            <a:r>
              <a:rPr lang="en-US" altLang="en-US"/>
              <a:t>Based on grouping common characteristics and relationships of the subtypes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Pages>11</Pages>
  <Words>837</Words>
  <Application>Microsoft Office PowerPoint</Application>
  <PresentationFormat>Widescreen</PresentationFormat>
  <Paragraphs>141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Montserrat</vt:lpstr>
      <vt:lpstr>PT Sans</vt:lpstr>
      <vt:lpstr>UCTI-Template-foundation-level</vt:lpstr>
      <vt:lpstr>Advanced Data Modeling</vt:lpstr>
      <vt:lpstr>Topic &amp; Structure of Lesson</vt:lpstr>
      <vt:lpstr>Learning Outcomes</vt:lpstr>
      <vt:lpstr>ER Modelling</vt:lpstr>
      <vt:lpstr>The Database Design Process</vt:lpstr>
      <vt:lpstr>Problems with ER Models</vt:lpstr>
      <vt:lpstr>Problems with ER Models</vt:lpstr>
      <vt:lpstr>An Example of a Fan Trap</vt:lpstr>
      <vt:lpstr>Semantic Net of ER Model with Fan Trap</vt:lpstr>
      <vt:lpstr>Restructuring ER model to remove Fan Trap</vt:lpstr>
      <vt:lpstr>Semantic Net of Restructured ER Model with Fan Trap Removed</vt:lpstr>
      <vt:lpstr>An Example of a Chasm Trap</vt:lpstr>
      <vt:lpstr>Semantic Net of ER Model with Chasm Trap</vt:lpstr>
      <vt:lpstr>ER Model restructured to remove Chasm Trap</vt:lpstr>
      <vt:lpstr>Semantic Net of Restructured ER Model with Chasm Trap Removed</vt:lpstr>
      <vt:lpstr>The Extended Entity Relationship Model</vt:lpstr>
      <vt:lpstr>Entity Supertypes and Subtypes</vt:lpstr>
      <vt:lpstr>Entity Supertypes and Subtypes (continued)</vt:lpstr>
      <vt:lpstr>Specialization Hierarchy</vt:lpstr>
      <vt:lpstr>Specialization Hierarchy  (continued)</vt:lpstr>
      <vt:lpstr>Specialization Hierarchy (continued)</vt:lpstr>
      <vt:lpstr>Inheritance</vt:lpstr>
      <vt:lpstr>Inheritance (continued)</vt:lpstr>
      <vt:lpstr>Subtype Discriminator</vt:lpstr>
      <vt:lpstr>Disjoint and Overlapping Constraints</vt:lpstr>
      <vt:lpstr>Disjoint and Overlapping  Constraints (continued)</vt:lpstr>
      <vt:lpstr>Disjoint and Overlapping  Constraints (continued)</vt:lpstr>
      <vt:lpstr>Completeness Constraint</vt:lpstr>
      <vt:lpstr>Completeness Constraint  (continued)</vt:lpstr>
      <vt:lpstr>Specialization and Generalization</vt:lpstr>
      <vt:lpstr>Specialization and Generalization (continued)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331</cp:revision>
  <cp:lastPrinted>2023-02-03T03:07:34Z</cp:lastPrinted>
  <dcterms:created xsi:type="dcterms:W3CDTF">2005-08-02T10:18:20Z</dcterms:created>
  <dcterms:modified xsi:type="dcterms:W3CDTF">2024-01-22T06:31:33Z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