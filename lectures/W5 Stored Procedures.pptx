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9" r:id="rId6"/>
    <p:sldId id="285" r:id="rId7"/>
    <p:sldId id="261" r:id="rId8"/>
    <p:sldId id="281" r:id="rId9"/>
    <p:sldId id="291" r:id="rId10"/>
    <p:sldId id="262" r:id="rId11"/>
    <p:sldId id="280" r:id="rId12"/>
    <p:sldId id="263" r:id="rId13"/>
    <p:sldId id="264" r:id="rId14"/>
    <p:sldId id="265" r:id="rId15"/>
    <p:sldId id="290" r:id="rId16"/>
    <p:sldId id="266" r:id="rId17"/>
    <p:sldId id="267" r:id="rId18"/>
    <p:sldId id="288" r:id="rId19"/>
    <p:sldId id="289" r:id="rId20"/>
    <p:sldId id="287" r:id="rId21"/>
  </p:sldIdLst>
  <p:sldSz cx="12192000" cy="6858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ly Intro - White BG" id="{B4587B1E-BB88-4173-8339-2929187587A5}">
          <p14:sldIdLst>
            <p14:sldId id="256"/>
            <p14:sldId id="259"/>
            <p14:sldId id="285"/>
            <p14:sldId id="261"/>
            <p14:sldId id="281"/>
            <p14:sldId id="291"/>
            <p14:sldId id="262"/>
            <p14:sldId id="280"/>
            <p14:sldId id="263"/>
            <p14:sldId id="264"/>
            <p14:sldId id="265"/>
            <p14:sldId id="290"/>
            <p14:sldId id="266"/>
            <p14:sldId id="267"/>
            <p14:sldId id="288"/>
            <p14:sldId id="289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1449"/>
    <a:srgbClr val="001B4D"/>
    <a:srgbClr val="FB6B53"/>
    <a:srgbClr val="FF6600"/>
    <a:srgbClr val="A2C1FE"/>
    <a:srgbClr val="A2FFA3"/>
    <a:srgbClr val="FFFF99"/>
    <a:srgbClr val="FFFF66"/>
    <a:srgbClr val="FCFEB9"/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9" autoAdjust="0"/>
    <p:restoredTop sz="94249" autoAdjust="0"/>
  </p:normalViewPr>
  <p:slideViewPr>
    <p:cSldViewPr snapToGrid="0">
      <p:cViewPr varScale="1">
        <p:scale>
          <a:sx n="81" d="100"/>
          <a:sy n="81" d="100"/>
        </p:scale>
        <p:origin x="739" y="53"/>
      </p:cViewPr>
      <p:guideLst/>
    </p:cSldViewPr>
  </p:slideViewPr>
  <p:outlineViewPr>
    <p:cViewPr>
      <p:scale>
        <a:sx n="33" d="100"/>
        <a:sy n="33" d="100"/>
      </p:scale>
      <p:origin x="0" y="-40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8"/>
    </p:cViewPr>
  </p:sorterViewPr>
  <p:notesViewPr>
    <p:cSldViewPr snapToGrid="0">
      <p:cViewPr varScale="1">
        <p:scale>
          <a:sx n="52" d="100"/>
          <a:sy n="52" d="100"/>
        </p:scale>
        <p:origin x="300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DAC38E3-5144-412F-83AC-38A5B9DE5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08D27AB-67B4-4693-A97B-2BDB09DB8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127" y="9192936"/>
            <a:ext cx="394340" cy="305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A20BED86-76BB-4410-9008-061BF87713AB}" type="slidenum">
              <a:rPr lang="en-GB" alt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pPr algn="r">
                <a:defRPr/>
              </a:pPr>
              <a:t>‹#›</a:t>
            </a:fld>
            <a:endParaRPr lang="en-GB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71953E81-BBEF-44F9-89AF-8D785172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7839FB2E-0CEB-4E99-ABDC-42A6B27BD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4B6ACB56-54E0-4171-9443-B2E55073F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520" y="4620549"/>
            <a:ext cx="5852160" cy="37803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DBCDF8-B37C-47C2-B6B1-4B2635759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8" y="9119503"/>
            <a:ext cx="3169920" cy="4816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0D94D-E1CF-4942-9670-7567F4F4487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Module 7: Implementing Stored Procedures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884613" y="0"/>
            <a:ext cx="2971800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Course 6232A</a:t>
            </a:r>
          </a:p>
        </p:txBody>
      </p:sp>
      <p:sp>
        <p:nvSpPr>
          <p:cNvPr id="2662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613" y="9286875"/>
            <a:ext cx="2971800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78723084-66BD-4041-80FF-5D71D9F6A528}" type="slidenum">
              <a:rPr lang="en-US"/>
              <a:pPr/>
              <a:t>12</a:t>
            </a:fld>
            <a:endParaRPr lang="en-US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975" y="2297113"/>
            <a:ext cx="6149975" cy="7197725"/>
          </a:xfrm>
          <a:noFill/>
          <a:ln w="9525"/>
        </p:spPr>
        <p:txBody>
          <a:bodyPr/>
          <a:lstStyle/>
          <a:p>
            <a:pPr eaLnBrk="1" hangingPunct="1"/>
            <a:r>
              <a:rPr lang="en-US" dirty="0"/>
              <a:t>On this slide, you will learn parameterized stored procedures, input, output and return values. Mention that to define a stored procedure that accepts input parameters, you declare one or more variables as parameters in the CREATE PROCEDURE statement. Mention that to use an output parameter within Transact-SQL, you must specify the OUTPUT keyword in both the CREATE PROCEDURE and the EXECUTE statements. Also mention that the RETURN statement is most commonly used to return a status result or an error code from a procedure.</a:t>
            </a:r>
          </a:p>
          <a:p>
            <a:endParaRPr lang="en-US" b="1" dirty="0"/>
          </a:p>
          <a:p>
            <a:r>
              <a:rPr lang="en-US" b="1" dirty="0"/>
              <a:t>Input Parameter</a:t>
            </a:r>
            <a:br>
              <a:rPr lang="en-US" dirty="0"/>
            </a:br>
            <a:r>
              <a:rPr lang="en-US" dirty="0"/>
              <a:t>Parameters are used to exchange data between stored procedures and functions and the application or tool that called the stored procedure or function: </a:t>
            </a:r>
          </a:p>
          <a:p>
            <a:r>
              <a:rPr lang="en-US" dirty="0"/>
              <a:t>Input parameters allow the caller to pass a data value to the stored procedure or function.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Output Parameters</a:t>
            </a:r>
          </a:p>
          <a:p>
            <a:r>
              <a:rPr lang="en-US" dirty="0"/>
              <a:t>Output parameters allow the stored procedure to pass a data value or a cursor variable back to the caller. User-defined functions cannot specify output parameters.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Return Values</a:t>
            </a:r>
          </a:p>
          <a:p>
            <a:r>
              <a:rPr lang="en-US" dirty="0"/>
              <a:t>Every stored procedure returns an integer return code to the caller. If the stored procedure does not explicitly set a value for the return code, the return code is 0.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References:</a:t>
            </a:r>
          </a:p>
          <a:p>
            <a:r>
              <a:rPr lang="en-US" dirty="0"/>
              <a:t>For more information about Parameterized Stored Procedures, see “Calling a Stored Procedure”, http://go.microsoft.com/fwlink/?LinkID=126188</a:t>
            </a:r>
          </a:p>
          <a:p>
            <a:r>
              <a:rPr lang="en-US" dirty="0"/>
              <a:t>For more information about using Parameterized Stored Procedures, see “Using Parameters in Stored Procedures and User-Defined Functions”, http://go.microsoft.com/fwlink/?LinkID=126189</a:t>
            </a:r>
          </a:p>
        </p:txBody>
      </p:sp>
    </p:spTree>
    <p:extLst>
      <p:ext uri="{BB962C8B-B14F-4D97-AF65-F5344CB8AC3E}">
        <p14:creationId xmlns:p14="http://schemas.microsoft.com/office/powerpoint/2010/main" val="325738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87F31-FA75-006F-00CD-B701AA25B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6608" y="2200276"/>
            <a:ext cx="9006416" cy="14700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70206" y="3879851"/>
            <a:ext cx="6913767" cy="1752600"/>
          </a:xfrm>
        </p:spPr>
        <p:txBody>
          <a:bodyPr/>
          <a:lstStyle>
            <a:lvl1pPr marL="0" indent="0" algn="r">
              <a:buFontTx/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01C7C8E-F6F3-0FA5-D100-E4D2210601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9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00D48-6E21-4217-3CC3-BFF1E0D918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87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2BECE40-B9F8-5238-73EB-2221EFFF70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>
          <a:xfrm>
            <a:off x="0" y="-87085"/>
            <a:ext cx="12192000" cy="661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127002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5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C35BC7-E310-108C-B8C4-672091E1D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1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82A26D2-4216-FF76-6392-C88F8808F0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3220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ct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1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2E1CC-7F1D-6CF8-6A38-2EE36FC9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84" y="127002"/>
            <a:ext cx="9349316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71BCF8-2B27-BEA0-B962-D2EE1DB6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349316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6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CDEFE03-E507-9264-8C2B-2E78DD2EA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1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83451EB-63F4-DFF6-8522-1522FB643F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441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F68BB6B-7571-DB8A-80FB-F7C3AD261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7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D43B7469-696D-D5B3-7497-03AB7CFB3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35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63C07D3-0112-1601-B752-FDBF091DD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3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802BECB-EBD7-EAF2-F449-AA70E2803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6311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9CBCAFAD-0874-A920-E7D5-68A99F5090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59460E12-C28F-6F47-C8AD-1B01DC7DB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172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7C10021-D30B-49A3-9775-E4B018058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98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067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5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131C5456-E521-C7D4-FB88-68A63787F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999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04DC0352-F5ED-1918-1F8A-8B80BB6E8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54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AA1C13FB-D1A7-194E-A332-391C492A0C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689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3D40C30-8297-E054-688C-7A1636F33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24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53C3B966-D4E4-30D5-4A13-103486C2E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462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8157A30-7FA7-829E-6D9C-4DCC0CDCA7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82C331B9-CEE5-20AD-DD62-DCC7F9E243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979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F80C67-7C47-1046-B1B1-5649F52F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D178921-E6EB-89FB-1721-8D340F832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18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10" descr="APU Logo Final-medium.jpg">
            <a:extLst>
              <a:ext uri="{FF2B5EF4-FFF2-40B4-BE49-F238E27FC236}">
                <a16:creationId xmlns:a16="http://schemas.microsoft.com/office/drawing/2014/main" id="{9186F32B-2E23-EAE7-28F5-E2FCF5E3DF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19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0178BF3-0C44-7F6F-9A93-FAD4F3ED2C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49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60D7C342-4D59-30CD-6ECC-0731D5E44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6F56718-5153-BA4C-1652-9EFB47DA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7577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E97445D-AA3E-4FF1-5C3D-A2CF07C45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D4643407-354C-EF13-0031-A2AB96E23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09964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451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tx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tx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94E1089-2642-1F16-6D34-0AA470DAB4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14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C97ADB29-0190-8E6A-A68B-AEBB217C0E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EAE3BF1D-7538-D216-ADA6-8A61272CEC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793A658E-0EDC-3F4C-BFB3-E8CA966F3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1C42F19-22A5-A6AA-F9A6-B990F2E4BD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88012-5D39-66F9-BCBC-E3DED480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71734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61A374B0-731A-1D13-1D15-DEB568D14E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DD384CD-5B1D-00AA-C88E-51863CE859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0E62B52-2676-DD95-FD76-B834BA0270E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4EF56-AF27-D8AD-DACE-E5CE66A7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890E9656-A63D-02CF-0218-527AB2D41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5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4828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F99F1D5-796D-B18C-4706-ECD5827DB6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5118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E3F9F65D-AB78-8571-A238-B3743684A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169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EDC140F1-7C93-36F2-49E9-260DAC6B7E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22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458D67BC-08A8-B641-2D7F-240DC17CDE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1A76DD4-43F7-C972-85EA-CAFDE2FA0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0D0C3E1-B2D7-E36D-87E0-ECAB470B2D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62331960-A4CD-E907-ACF8-2904680BAD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7A9D95-A204-E92E-A5F8-1E263A7A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0362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14576114-4EE3-A4A4-76CC-B9B2275D1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3B5096E-B439-B90B-5317-2550E3B656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7E850367-FBF9-B7B1-9E76-EC298218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B7999D6D-BA9E-A93A-5AB4-A94911B24D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213A9-305D-2AFC-FF34-19434A2D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137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3" name="Picture 10" descr="APU Logo Final-medium.jpg">
            <a:extLst>
              <a:ext uri="{FF2B5EF4-FFF2-40B4-BE49-F238E27FC236}">
                <a16:creationId xmlns:a16="http://schemas.microsoft.com/office/drawing/2014/main" id="{C388C33F-8C44-39F0-8C2F-7CF690D3C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27490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3D2297B-429D-D242-496A-D8036CC69E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9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CC693F6-F024-A3A9-24FB-E8ED5704B6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815"/>
          <a:stretch/>
        </p:blipFill>
        <p:spPr>
          <a:xfrm>
            <a:off x="0" y="6502398"/>
            <a:ext cx="12192000" cy="355601"/>
          </a:xfrm>
          <a:prstGeom prst="rect">
            <a:avLst/>
          </a:prstGeom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B623752B-4505-458A-8F13-B97CEB0BB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697038"/>
            <a:ext cx="117475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D7F5865-615B-424A-A375-A8F1EEAE7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8569D-7387-4D30-B100-DC94E7D1863E}"/>
              </a:ext>
            </a:extLst>
          </p:cNvPr>
          <p:cNvSpPr txBox="1"/>
          <p:nvPr userDrawn="1"/>
        </p:nvSpPr>
        <p:spPr>
          <a:xfrm>
            <a:off x="10859590" y="6588371"/>
            <a:ext cx="1550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</a:t>
            </a:r>
            <a:fld id="{7E7DF8DA-2BBC-4974-99EF-62657F72EFE3}" type="slidenum">
              <a:rPr lang="en-US" sz="800" smtClean="0">
                <a:solidFill>
                  <a:schemeClr val="bg2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8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C117F-9549-84AD-C279-A42AEB20D920}"/>
              </a:ext>
            </a:extLst>
          </p:cNvPr>
          <p:cNvSpPr txBox="1"/>
          <p:nvPr userDrawn="1"/>
        </p:nvSpPr>
        <p:spPr>
          <a:xfrm>
            <a:off x="39175" y="6588371"/>
            <a:ext cx="23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Module Code &amp; Module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D054F-4D2B-C683-DC2F-88927DD0A10B}"/>
              </a:ext>
            </a:extLst>
          </p:cNvPr>
          <p:cNvSpPr txBox="1"/>
          <p:nvPr userDrawn="1"/>
        </p:nvSpPr>
        <p:spPr>
          <a:xfrm>
            <a:off x="4480560" y="6572476"/>
            <a:ext cx="3396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53" r:id="rId2"/>
    <p:sldLayoutId id="2147483729" r:id="rId3"/>
    <p:sldLayoutId id="2147483757" r:id="rId4"/>
    <p:sldLayoutId id="2147483758" r:id="rId5"/>
    <p:sldLayoutId id="2147483720" r:id="rId6"/>
    <p:sldLayoutId id="2147483756" r:id="rId7"/>
    <p:sldLayoutId id="2147483719" r:id="rId8"/>
    <p:sldLayoutId id="2147483737" r:id="rId9"/>
    <p:sldLayoutId id="2147483723" r:id="rId10"/>
    <p:sldLayoutId id="2147483739" r:id="rId11"/>
    <p:sldLayoutId id="2147483721" r:id="rId12"/>
    <p:sldLayoutId id="2147483744" r:id="rId13"/>
    <p:sldLayoutId id="2147483722" r:id="rId14"/>
    <p:sldLayoutId id="2147483745" r:id="rId15"/>
    <p:sldLayoutId id="2147483731" r:id="rId16"/>
    <p:sldLayoutId id="2147483724" r:id="rId17"/>
    <p:sldLayoutId id="2147483730" r:id="rId18"/>
    <p:sldLayoutId id="2147483735" r:id="rId19"/>
    <p:sldLayoutId id="2147483725" r:id="rId20"/>
    <p:sldLayoutId id="2147483743" r:id="rId21"/>
    <p:sldLayoutId id="2147483726" r:id="rId22"/>
    <p:sldLayoutId id="2147483740" r:id="rId23"/>
    <p:sldLayoutId id="2147483732" r:id="rId24"/>
    <p:sldLayoutId id="2147483742" r:id="rId25"/>
    <p:sldLayoutId id="2147483749" r:id="rId26"/>
    <p:sldLayoutId id="2147483750" r:id="rId27"/>
    <p:sldLayoutId id="2147483741" r:id="rId28"/>
    <p:sldLayoutId id="2147483734" r:id="rId29"/>
    <p:sldLayoutId id="2147483733" r:id="rId30"/>
    <p:sldLayoutId id="2147483752" r:id="rId31"/>
    <p:sldLayoutId id="2147483727" r:id="rId32"/>
    <p:sldLayoutId id="2147483738" r:id="rId33"/>
    <p:sldLayoutId id="2147483751" r:id="rId34"/>
    <p:sldLayoutId id="2147483747" r:id="rId35"/>
    <p:sldLayoutId id="2147483736" r:id="rId36"/>
    <p:sldLayoutId id="2147483748" r:id="rId37"/>
    <p:sldLayoutId id="2147483728" r:id="rId38"/>
    <p:sldLayoutId id="2147483746" r:id="rId39"/>
    <p:sldLayoutId id="2147483754" r:id="rId40"/>
    <p:sldLayoutId id="2147483755" r:id="rId4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j-lt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j-lt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CT004-3.5-3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Advanced Database Systems</a:t>
            </a:r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898900" y="3476625"/>
            <a:ext cx="7507534" cy="1752600"/>
          </a:xfrm>
        </p:spPr>
        <p:txBody>
          <a:bodyPr/>
          <a:lstStyle/>
          <a:p>
            <a:pPr eaLnBrk="1" hangingPunct="1"/>
            <a:r>
              <a:rPr lang="en-US" dirty="0"/>
              <a:t>Implementing Stored</a:t>
            </a:r>
            <a:br>
              <a:rPr lang="en-US" dirty="0"/>
            </a:br>
            <a:r>
              <a:rPr lang="en-US" dirty="0"/>
              <a:t>Procedures</a:t>
            </a:r>
            <a:endParaRPr lang="ms-MY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/>
              <a:t>Topic &amp; Structure of Lesson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800" dirty="0"/>
              <a:t>Implementing Stored Procedures</a:t>
            </a:r>
          </a:p>
          <a:p>
            <a:pPr eaLnBrk="1" hangingPunct="1"/>
            <a:r>
              <a:rPr lang="en-US" sz="2800" dirty="0"/>
              <a:t>Creating Parameterized Stored Procedures </a:t>
            </a:r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/>
              <a:t>Learning Outcomes</a:t>
            </a:r>
            <a:endParaRPr lang="en-US" sz="320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b="1" dirty="0">
                <a:cs typeface="Times New Roman" pitchFamily="18" charset="0"/>
              </a:rPr>
              <a:t>By the end of this lesson you should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b="1" dirty="0">
                <a:cs typeface="Times New Roman" pitchFamily="18" charset="0"/>
              </a:rPr>
              <a:t>be able to:</a:t>
            </a:r>
          </a:p>
          <a:p>
            <a:pPr eaLnBrk="1" hangingPunct="1"/>
            <a:r>
              <a:rPr lang="en-MY" dirty="0"/>
              <a:t>Implement stored procedures.</a:t>
            </a:r>
          </a:p>
          <a:p>
            <a:pPr eaLnBrk="1" hangingPunct="1"/>
            <a:r>
              <a:rPr lang="en-MY" dirty="0"/>
              <a:t>Create parameterized stored procedures.</a:t>
            </a:r>
          </a:p>
          <a:p>
            <a:pPr eaLnBrk="1" hangingPunct="1"/>
            <a:endParaRPr lang="en-US" dirty="0"/>
          </a:p>
        </p:txBody>
      </p:sp>
      <p:sp>
        <p:nvSpPr>
          <p:cNvPr id="512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327275" y="1"/>
            <a:ext cx="7391400" cy="841375"/>
          </a:xfrm>
          <a:noFill/>
        </p:spPr>
        <p:txBody>
          <a:bodyPr/>
          <a:lstStyle/>
          <a:p>
            <a:pPr eaLnBrk="1" hangingPunct="1"/>
            <a:r>
              <a:rPr lang="en-GB"/>
              <a:t>What Is a Stored Procedure?</a:t>
            </a: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2538413" y="1430339"/>
            <a:ext cx="7440612" cy="4694237"/>
          </a:xfrm>
        </p:spPr>
        <p:txBody>
          <a:bodyPr/>
          <a:lstStyle/>
          <a:p>
            <a:pPr marL="342900" lvl="1" indent="-342900" eaLnBrk="1" hangingPunct="1">
              <a:buFontTx/>
              <a:buChar char="•"/>
              <a:defRPr/>
            </a:pPr>
            <a:r>
              <a:rPr lang="en-MY" dirty="0"/>
              <a:t>A stored procedure is a group of Transact-SQL statements compiled into a single execution plan.</a:t>
            </a:r>
          </a:p>
          <a:p>
            <a:pPr eaLnBrk="1" hangingPunct="1">
              <a:defRPr/>
            </a:pPr>
            <a:endParaRPr lang="en-US" sz="28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 dirty="0"/>
              <a:t>Stored Procedures Can:</a:t>
            </a:r>
          </a:p>
          <a:p>
            <a:pPr lvl="1" eaLnBrk="1" hangingPunct="1">
              <a:defRPr/>
            </a:pPr>
            <a:r>
              <a:rPr lang="en-US" altLang="en-US" sz="2400" dirty="0"/>
              <a:t>Contain statements that perform operations</a:t>
            </a:r>
          </a:p>
          <a:p>
            <a:pPr lvl="1" eaLnBrk="1" hangingPunct="1">
              <a:defRPr/>
            </a:pPr>
            <a:r>
              <a:rPr lang="en-US" altLang="en-US" sz="2400" dirty="0"/>
              <a:t>Accept input parameters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Return status value to indicate success or failure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Return multiple output parameters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Advantages of Using Stored Procedures</a:t>
            </a:r>
          </a:p>
        </p:txBody>
      </p:sp>
      <p:sp>
        <p:nvSpPr>
          <p:cNvPr id="717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2800" dirty="0"/>
              <a:t>Share Application Logic</a:t>
            </a:r>
          </a:p>
          <a:p>
            <a:pPr lvl="1" eaLnBrk="1" hangingPunct="1">
              <a:defRPr/>
            </a:pPr>
            <a:r>
              <a:rPr lang="en-MY" sz="2400" dirty="0">
                <a:ea typeface="+mn-ea"/>
                <a:cs typeface="+mn-cs"/>
              </a:rPr>
              <a:t>All clients can use the same stored procedures to ensure consistent data access and modification.</a:t>
            </a:r>
            <a:endParaRPr lang="en-US" altLang="en-US" sz="2400" dirty="0"/>
          </a:p>
          <a:p>
            <a:pPr eaLnBrk="1" hangingPunct="1">
              <a:defRPr/>
            </a:pPr>
            <a:r>
              <a:rPr lang="en-US" altLang="en-US" sz="2800" dirty="0"/>
              <a:t>Shield Database Schema Details</a:t>
            </a:r>
          </a:p>
          <a:p>
            <a:pPr lvl="1" eaLnBrk="1" hangingPunct="1">
              <a:defRPr/>
            </a:pPr>
            <a:r>
              <a:rPr lang="en-MY" sz="2400" dirty="0">
                <a:ea typeface="+mn-ea"/>
                <a:cs typeface="+mn-cs"/>
              </a:rPr>
              <a:t>Users never need to access the tables directly</a:t>
            </a:r>
            <a:endParaRPr lang="en-US" altLang="en-US" sz="2400" dirty="0"/>
          </a:p>
          <a:p>
            <a:pPr eaLnBrk="1" hangingPunct="1">
              <a:defRPr/>
            </a:pPr>
            <a:r>
              <a:rPr lang="en-US" altLang="en-US" sz="2800" dirty="0"/>
              <a:t>Provide Security Mechanisms</a:t>
            </a:r>
          </a:p>
          <a:p>
            <a:pPr lvl="1" eaLnBrk="1" hangingPunct="1">
              <a:defRPr/>
            </a:pPr>
            <a:r>
              <a:rPr lang="en-MY" sz="2400" dirty="0">
                <a:ea typeface="+mn-ea"/>
                <a:cs typeface="+mn-cs"/>
              </a:rPr>
              <a:t>Users can be granted permission to execute a stored procedure even if they do not have permission to access the tables or views to which the stored procedure refers.</a:t>
            </a:r>
            <a:endParaRPr lang="ms-MY" sz="2400" dirty="0"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Advantages of Using Stored Procedures</a:t>
            </a:r>
          </a:p>
        </p:txBody>
      </p:sp>
      <p:sp>
        <p:nvSpPr>
          <p:cNvPr id="717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2800" dirty="0"/>
              <a:t>Improve Performance</a:t>
            </a:r>
          </a:p>
          <a:p>
            <a:pPr lvl="1" eaLnBrk="1" hangingPunct="1">
              <a:defRPr/>
            </a:pPr>
            <a:r>
              <a:rPr lang="en-MY" sz="2400" dirty="0">
                <a:ea typeface="+mn-ea"/>
                <a:cs typeface="+mn-cs"/>
              </a:rPr>
              <a:t>Stored procedures implement many tasks as a series of Transact-SQL statements. All these Transact-SQL statements become part of a single execution plan on the server.</a:t>
            </a:r>
            <a:endParaRPr lang="en-US" altLang="en-US" dirty="0"/>
          </a:p>
          <a:p>
            <a:pPr eaLnBrk="1" hangingPunct="1">
              <a:defRPr/>
            </a:pPr>
            <a:r>
              <a:rPr lang="en-US" altLang="en-US" sz="2800" dirty="0"/>
              <a:t>Reduce Network Traffic</a:t>
            </a:r>
          </a:p>
          <a:p>
            <a:pPr lvl="1" eaLnBrk="1" hangingPunct="1">
              <a:defRPr/>
            </a:pPr>
            <a:r>
              <a:rPr lang="en-MY" sz="2400" dirty="0">
                <a:ea typeface="+mn-ea"/>
                <a:cs typeface="+mn-cs"/>
              </a:rPr>
              <a:t>Rather </a:t>
            </a:r>
            <a:r>
              <a:rPr lang="en-MY" sz="2400">
                <a:ea typeface="+mn-ea"/>
                <a:cs typeface="+mn-cs"/>
              </a:rPr>
              <a:t>than sending </a:t>
            </a:r>
            <a:r>
              <a:rPr lang="en-MY" sz="2400" dirty="0">
                <a:ea typeface="+mn-ea"/>
                <a:cs typeface="+mn-cs"/>
              </a:rPr>
              <a:t>hundreds of Transact-SQL statements over the network, users can perform a complex operation by sending a single statement, which reduces the number of requests that pass between client and server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114551" y="338139"/>
            <a:ext cx="7604125" cy="841375"/>
          </a:xfrm>
          <a:noFill/>
        </p:spPr>
        <p:txBody>
          <a:bodyPr/>
          <a:lstStyle/>
          <a:p>
            <a:pPr eaLnBrk="1" hangingPunct="1"/>
            <a:r>
              <a:rPr lang="en-GB"/>
              <a:t>Syntax for Creating Stored Procedures</a:t>
            </a: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2538414" y="1416050"/>
            <a:ext cx="7026275" cy="4694238"/>
          </a:xfrm>
        </p:spPr>
        <p:txBody>
          <a:bodyPr/>
          <a:lstStyle/>
          <a:p>
            <a:pPr eaLnBrk="1" hangingPunct="1"/>
            <a:r>
              <a:rPr lang="en-US" sz="2000"/>
              <a:t>Create in current database by using the CREATE PROCEDURE statement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endParaRPr lang="en-GB"/>
          </a:p>
          <a:p>
            <a:pPr eaLnBrk="1" hangingPunct="1">
              <a:buFontTx/>
              <a:buNone/>
            </a:pPr>
            <a:br>
              <a:rPr lang="en-GB"/>
            </a:br>
            <a:endParaRPr lang="en-US"/>
          </a:p>
          <a:p>
            <a:pPr eaLnBrk="1" hangingPunct="1"/>
            <a:r>
              <a:rPr lang="en-US" sz="2000"/>
              <a:t>Use EXECUTE to run stored procedure</a:t>
            </a:r>
          </a:p>
        </p:txBody>
      </p:sp>
      <p:sp>
        <p:nvSpPr>
          <p:cNvPr id="9220" name="AutoShape 4"/>
          <p:cNvSpPr>
            <a:spLocks noChangeArrowheads="1"/>
          </p:cNvSpPr>
          <p:nvPr/>
        </p:nvSpPr>
        <p:spPr bwMode="auto">
          <a:xfrm>
            <a:off x="2578100" y="2230438"/>
            <a:ext cx="6935788" cy="2220912"/>
          </a:xfrm>
          <a:prstGeom prst="roundRect">
            <a:avLst>
              <a:gd name="adj" fmla="val 3935"/>
            </a:avLst>
          </a:prstGeom>
          <a:solidFill>
            <a:srgbClr val="F6F7EB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tIns="91440" bIns="91440">
            <a:spAutoFit/>
          </a:bodyPr>
          <a:lstStyle/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MY" dirty="0"/>
              <a:t>CREATE { PROC | PROCEDURE } [</a:t>
            </a:r>
            <a:r>
              <a:rPr lang="en-MY" i="1" dirty="0" err="1"/>
              <a:t>schema_name</a:t>
            </a:r>
            <a:r>
              <a:rPr lang="en-MY" b="1" dirty="0"/>
              <a:t>.</a:t>
            </a:r>
            <a:r>
              <a:rPr lang="en-MY" dirty="0"/>
              <a:t>] </a:t>
            </a:r>
            <a:r>
              <a:rPr lang="en-MY" i="1" dirty="0" err="1"/>
              <a:t>procedure_name</a:t>
            </a:r>
            <a:br>
              <a:rPr lang="en-MY" i="1" dirty="0"/>
            </a:br>
            <a:r>
              <a:rPr lang="en-MY" dirty="0"/>
              <a:t>   [ { </a:t>
            </a:r>
            <a:r>
              <a:rPr lang="en-MY" b="1" dirty="0"/>
              <a:t>@</a:t>
            </a:r>
            <a:r>
              <a:rPr lang="en-MY" i="1" dirty="0"/>
              <a:t>parameter</a:t>
            </a:r>
            <a:r>
              <a:rPr lang="en-MY" dirty="0"/>
              <a:t> </a:t>
            </a:r>
            <a:r>
              <a:rPr lang="en-MY" i="1" dirty="0" err="1"/>
              <a:t>data_type</a:t>
            </a:r>
            <a:r>
              <a:rPr lang="en-MY" i="1" dirty="0"/>
              <a:t> </a:t>
            </a:r>
            <a:r>
              <a:rPr lang="en-MY" dirty="0"/>
              <a:t>}</a:t>
            </a:r>
            <a:br>
              <a:rPr lang="en-MY" dirty="0"/>
            </a:br>
            <a:r>
              <a:rPr lang="en-MY" dirty="0"/>
              <a:t>     </a:t>
            </a:r>
            <a:r>
              <a:rPr lang="en-MY" i="1" dirty="0"/>
              <a:t>    </a:t>
            </a:r>
            <a:r>
              <a:rPr lang="en-MY" dirty="0"/>
              <a:t>[ VARYING ] [ </a:t>
            </a:r>
            <a:r>
              <a:rPr lang="en-MY" b="1" dirty="0"/>
              <a:t>=</a:t>
            </a:r>
            <a:r>
              <a:rPr lang="en-MY" dirty="0"/>
              <a:t> </a:t>
            </a:r>
            <a:r>
              <a:rPr lang="en-MY" i="1" dirty="0"/>
              <a:t>default </a:t>
            </a:r>
            <a:r>
              <a:rPr lang="en-MY" dirty="0"/>
              <a:t>] [ [ OUT [ PUT ]</a:t>
            </a:r>
            <a:br>
              <a:rPr lang="en-MY" dirty="0"/>
            </a:br>
            <a:r>
              <a:rPr lang="en-MY" dirty="0"/>
              <a:t>   ] [ </a:t>
            </a:r>
            <a:r>
              <a:rPr lang="en-MY" b="1" dirty="0"/>
              <a:t>,</a:t>
            </a:r>
            <a:r>
              <a:rPr lang="en-MY" dirty="0"/>
              <a:t>...</a:t>
            </a:r>
            <a:r>
              <a:rPr lang="en-MY" i="1" dirty="0"/>
              <a:t>n </a:t>
            </a:r>
            <a:r>
              <a:rPr lang="en-MY" dirty="0"/>
              <a:t>]</a:t>
            </a:r>
            <a:br>
              <a:rPr lang="en-MY" dirty="0"/>
            </a:br>
            <a:br>
              <a:rPr lang="en-MY" dirty="0"/>
            </a:br>
            <a:r>
              <a:rPr lang="en-MY" dirty="0"/>
              <a:t>AS </a:t>
            </a:r>
            <a:br>
              <a:rPr lang="en-MY" dirty="0"/>
            </a:br>
            <a:r>
              <a:rPr lang="en-MY" dirty="0"/>
              <a:t>{ &lt;</a:t>
            </a:r>
            <a:r>
              <a:rPr lang="en-MY" dirty="0" err="1"/>
              <a:t>sql_statement</a:t>
            </a:r>
            <a:r>
              <a:rPr lang="en-MY" dirty="0"/>
              <a:t>&gt; [;] [ ...</a:t>
            </a:r>
            <a:r>
              <a:rPr lang="en-MY" i="1" dirty="0"/>
              <a:t>n </a:t>
            </a:r>
            <a:r>
              <a:rPr lang="en-MY" dirty="0"/>
              <a:t>]}</a:t>
            </a:r>
            <a:endParaRPr lang="en-US" dirty="0">
              <a:solidFill>
                <a:schemeClr val="tx2"/>
              </a:solidFill>
              <a:latin typeface="Lucida Sans Typewriter" pitchFamily="49" charset="0"/>
            </a:endParaRPr>
          </a:p>
        </p:txBody>
      </p:sp>
      <p:sp>
        <p:nvSpPr>
          <p:cNvPr id="9221" name="AutoShape 5"/>
          <p:cNvSpPr>
            <a:spLocks noChangeArrowheads="1"/>
          </p:cNvSpPr>
          <p:nvPr/>
        </p:nvSpPr>
        <p:spPr bwMode="auto">
          <a:xfrm>
            <a:off x="2579688" y="5448301"/>
            <a:ext cx="6934200" cy="454025"/>
          </a:xfrm>
          <a:prstGeom prst="roundRect">
            <a:avLst>
              <a:gd name="adj" fmla="val 7875"/>
            </a:avLst>
          </a:prstGeom>
          <a:solidFill>
            <a:srgbClr val="F6F7EB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tIns="91440" bIns="91440">
            <a:spAutoFit/>
          </a:bodyPr>
          <a:lstStyle/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>
                <a:solidFill>
                  <a:schemeClr val="tx2"/>
                </a:solidFill>
                <a:latin typeface="Lucida Sans Typewriter" pitchFamily="49" charset="0"/>
              </a:rPr>
              <a:t>EXECUTE </a:t>
            </a:r>
            <a:r>
              <a:rPr lang="en-MY"/>
              <a:t> [</a:t>
            </a:r>
            <a:r>
              <a:rPr lang="en-MY" i="1"/>
              <a:t>schema_name</a:t>
            </a:r>
            <a:r>
              <a:rPr lang="en-MY" b="1"/>
              <a:t>.</a:t>
            </a:r>
            <a:r>
              <a:rPr lang="en-MY"/>
              <a:t>] </a:t>
            </a:r>
            <a:r>
              <a:rPr lang="en-MY" i="1"/>
              <a:t>procedure_name </a:t>
            </a:r>
            <a:endParaRPr lang="en-US">
              <a:solidFill>
                <a:schemeClr val="tx2"/>
              </a:solidFill>
              <a:latin typeface="Lucida Sans Typewriter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14551" y="280988"/>
            <a:ext cx="7604125" cy="1111250"/>
          </a:xfrm>
          <a:noFill/>
        </p:spPr>
        <p:txBody>
          <a:bodyPr/>
          <a:lstStyle/>
          <a:p>
            <a:pPr eaLnBrk="1" hangingPunct="1"/>
            <a:r>
              <a:rPr lang="en-GB"/>
              <a:t>Example for Creating Stored Procedures</a:t>
            </a: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2538414" y="1416050"/>
            <a:ext cx="7026275" cy="4694238"/>
          </a:xfrm>
        </p:spPr>
        <p:txBody>
          <a:bodyPr/>
          <a:lstStyle/>
          <a:p>
            <a:pPr eaLnBrk="1" hangingPunct="1"/>
            <a:r>
              <a:rPr lang="en-US" sz="2000"/>
              <a:t>Create in current database by using the CREATE PROCEDURE statement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endParaRPr lang="en-GB"/>
          </a:p>
          <a:p>
            <a:pPr eaLnBrk="1" hangingPunct="1"/>
            <a:endParaRPr lang="en-US"/>
          </a:p>
          <a:p>
            <a:pPr eaLnBrk="1" hangingPunct="1"/>
            <a:r>
              <a:rPr lang="en-US" sz="2000"/>
              <a:t>Use EXECUTE to run stored procedure</a:t>
            </a:r>
          </a:p>
        </p:txBody>
      </p:sp>
      <p:sp>
        <p:nvSpPr>
          <p:cNvPr id="10244" name="AutoShape 4"/>
          <p:cNvSpPr>
            <a:spLocks noChangeArrowheads="1"/>
          </p:cNvSpPr>
          <p:nvPr/>
        </p:nvSpPr>
        <p:spPr bwMode="auto">
          <a:xfrm>
            <a:off x="2578100" y="2230438"/>
            <a:ext cx="6935788" cy="1968500"/>
          </a:xfrm>
          <a:prstGeom prst="roundRect">
            <a:avLst>
              <a:gd name="adj" fmla="val 3935"/>
            </a:avLst>
          </a:prstGeom>
          <a:solidFill>
            <a:srgbClr val="F6F7EB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tIns="91440" bIns="91440">
            <a:spAutoFit/>
          </a:bodyPr>
          <a:lstStyle/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>
                <a:solidFill>
                  <a:schemeClr val="tx2"/>
                </a:solidFill>
                <a:latin typeface="Lucida Sans Typewriter" pitchFamily="49" charset="0"/>
              </a:rPr>
              <a:t>CREATE PROCEDURE Production.LongLeadProducts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>
                <a:solidFill>
                  <a:schemeClr val="tx2"/>
                </a:solidFill>
                <a:latin typeface="Lucida Sans Typewriter" pitchFamily="49" charset="0"/>
              </a:rPr>
              <a:t>AS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>
                <a:solidFill>
                  <a:schemeClr val="tx2"/>
                </a:solidFill>
                <a:latin typeface="Lucida Sans Typewriter" pitchFamily="49" charset="0"/>
              </a:rPr>
              <a:t>  SELECT	Name, ProductNumber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>
                <a:solidFill>
                  <a:schemeClr val="tx2"/>
                </a:solidFill>
                <a:latin typeface="Lucida Sans Typewriter" pitchFamily="49" charset="0"/>
              </a:rPr>
              <a:t>  FROM		Production.Product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>
                <a:solidFill>
                  <a:schemeClr val="tx2"/>
                </a:solidFill>
                <a:latin typeface="Lucida Sans Typewriter" pitchFamily="49" charset="0"/>
              </a:rPr>
              <a:t>  WHERE	DaysToManufacture &gt;= 1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endParaRPr lang="en-GB">
              <a:solidFill>
                <a:schemeClr val="tx2"/>
              </a:solidFill>
              <a:latin typeface="Lucida Sans Typewriter" pitchFamily="49" charset="0"/>
            </a:endParaRP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GB">
                <a:solidFill>
                  <a:schemeClr val="tx2"/>
                </a:solidFill>
                <a:latin typeface="Lucida Sans Typewriter" pitchFamily="49" charset="0"/>
              </a:rPr>
              <a:t>GO</a:t>
            </a:r>
            <a:endParaRPr lang="en-US">
              <a:solidFill>
                <a:schemeClr val="tx2"/>
              </a:solidFill>
              <a:latin typeface="Lucida Sans Typewriter" pitchFamily="49" charset="0"/>
            </a:endParaRPr>
          </a:p>
        </p:txBody>
      </p:sp>
      <p:sp>
        <p:nvSpPr>
          <p:cNvPr id="10245" name="AutoShape 5"/>
          <p:cNvSpPr>
            <a:spLocks noChangeArrowheads="1"/>
          </p:cNvSpPr>
          <p:nvPr/>
        </p:nvSpPr>
        <p:spPr bwMode="auto">
          <a:xfrm>
            <a:off x="2579688" y="5068889"/>
            <a:ext cx="6934200" cy="454025"/>
          </a:xfrm>
          <a:prstGeom prst="roundRect">
            <a:avLst>
              <a:gd name="adj" fmla="val 7875"/>
            </a:avLst>
          </a:prstGeom>
          <a:solidFill>
            <a:srgbClr val="F6F7EB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tIns="91440" bIns="91440">
            <a:spAutoFit/>
          </a:bodyPr>
          <a:lstStyle/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>
                <a:solidFill>
                  <a:schemeClr val="tx2"/>
                </a:solidFill>
                <a:latin typeface="Lucida Sans Typewriter" pitchFamily="49" charset="0"/>
              </a:rPr>
              <a:t>EXECUTE Production.LongLeadProducts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17"/>
          <p:cNvSpPr>
            <a:spLocks noChangeArrowheads="1"/>
          </p:cNvSpPr>
          <p:nvPr/>
        </p:nvSpPr>
        <p:spPr bwMode="auto">
          <a:xfrm>
            <a:off x="2574926" y="1398589"/>
            <a:ext cx="6937375" cy="3724955"/>
          </a:xfrm>
          <a:prstGeom prst="roundRect">
            <a:avLst>
              <a:gd name="adj" fmla="val 2616"/>
            </a:avLst>
          </a:prstGeom>
          <a:solidFill>
            <a:srgbClr val="BBCDE3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marL="58738"/>
            <a:endParaRPr lang="en-US" sz="2400"/>
          </a:p>
        </p:txBody>
      </p:sp>
      <p:sp>
        <p:nvSpPr>
          <p:cNvPr id="11267" name="AutoShape 18"/>
          <p:cNvSpPr>
            <a:spLocks noChangeArrowheads="1"/>
          </p:cNvSpPr>
          <p:nvPr/>
        </p:nvSpPr>
        <p:spPr bwMode="auto">
          <a:xfrm>
            <a:off x="2803525" y="1668464"/>
            <a:ext cx="6527800" cy="612775"/>
          </a:xfrm>
          <a:prstGeom prst="roundRect">
            <a:avLst>
              <a:gd name="adj" fmla="val 4083"/>
            </a:avLst>
          </a:prstGeom>
          <a:gradFill rotWithShape="1">
            <a:gsLst>
              <a:gs pos="0">
                <a:srgbClr val="F0F1E1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411480" tIns="228600" bIns="228600" anchor="ctr"/>
          <a:lstStyle/>
          <a:p>
            <a:pPr>
              <a:lnSpc>
                <a:spcPct val="90000"/>
              </a:lnSpc>
              <a:spcBef>
                <a:spcPct val="40000"/>
              </a:spcBef>
            </a:pPr>
            <a:r>
              <a:rPr lang="en-GB" sz="2200" dirty="0"/>
              <a:t>Qualify object names inside procedure</a:t>
            </a:r>
            <a:endParaRPr lang="en-US" sz="2200" dirty="0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2327275" y="168276"/>
            <a:ext cx="7399338" cy="1027113"/>
          </a:xfrm>
          <a:noFill/>
        </p:spPr>
        <p:txBody>
          <a:bodyPr/>
          <a:lstStyle/>
          <a:p>
            <a:pPr eaLnBrk="1" hangingPunct="1"/>
            <a:r>
              <a:rPr lang="en-GB"/>
              <a:t>Guidelines for Creating Stored Procedures</a:t>
            </a:r>
            <a:endParaRPr lang="en-US"/>
          </a:p>
        </p:txBody>
      </p:sp>
      <p:sp>
        <p:nvSpPr>
          <p:cNvPr id="365587" name="AutoShape 19"/>
          <p:cNvSpPr>
            <a:spLocks noChangeArrowheads="1"/>
          </p:cNvSpPr>
          <p:nvPr/>
        </p:nvSpPr>
        <p:spPr bwMode="auto">
          <a:xfrm>
            <a:off x="2663826" y="1746250"/>
            <a:ext cx="392113" cy="457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sz="2400">
                <a:solidFill>
                  <a:srgbClr val="990033"/>
                </a:solidFill>
                <a:latin typeface="Wingdings" pitchFamily="2" charset="2"/>
              </a:rPr>
              <a:t>ü</a:t>
            </a:r>
          </a:p>
        </p:txBody>
      </p:sp>
      <p:sp>
        <p:nvSpPr>
          <p:cNvPr id="11270" name="AutoShape 21"/>
          <p:cNvSpPr>
            <a:spLocks noChangeArrowheads="1"/>
          </p:cNvSpPr>
          <p:nvPr/>
        </p:nvSpPr>
        <p:spPr bwMode="auto">
          <a:xfrm>
            <a:off x="2803525" y="2401889"/>
            <a:ext cx="6527800" cy="612775"/>
          </a:xfrm>
          <a:prstGeom prst="roundRect">
            <a:avLst>
              <a:gd name="adj" fmla="val 4083"/>
            </a:avLst>
          </a:prstGeom>
          <a:gradFill rotWithShape="1">
            <a:gsLst>
              <a:gs pos="0">
                <a:srgbClr val="F0F1E1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411480" tIns="228600" bIns="228600" anchor="ctr"/>
          <a:lstStyle/>
          <a:p>
            <a:pPr>
              <a:lnSpc>
                <a:spcPct val="90000"/>
              </a:lnSpc>
              <a:spcBef>
                <a:spcPct val="40000"/>
              </a:spcBef>
            </a:pPr>
            <a:r>
              <a:rPr lang="en-US" sz="2200"/>
              <a:t>Create one stored procedure for one task</a:t>
            </a:r>
          </a:p>
        </p:txBody>
      </p:sp>
      <p:sp>
        <p:nvSpPr>
          <p:cNvPr id="365590" name="AutoShape 22"/>
          <p:cNvSpPr>
            <a:spLocks noChangeArrowheads="1"/>
          </p:cNvSpPr>
          <p:nvPr/>
        </p:nvSpPr>
        <p:spPr bwMode="auto">
          <a:xfrm>
            <a:off x="2663826" y="2479675"/>
            <a:ext cx="392113" cy="457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sz="2400">
                <a:solidFill>
                  <a:srgbClr val="990033"/>
                </a:solidFill>
                <a:latin typeface="Wingdings" pitchFamily="2" charset="2"/>
              </a:rPr>
              <a:t>ü</a:t>
            </a:r>
          </a:p>
        </p:txBody>
      </p:sp>
      <p:sp>
        <p:nvSpPr>
          <p:cNvPr id="11272" name="AutoShape 23"/>
          <p:cNvSpPr>
            <a:spLocks noChangeArrowheads="1"/>
          </p:cNvSpPr>
          <p:nvPr/>
        </p:nvSpPr>
        <p:spPr bwMode="auto">
          <a:xfrm>
            <a:off x="2803525" y="3135314"/>
            <a:ext cx="6527800" cy="612775"/>
          </a:xfrm>
          <a:prstGeom prst="roundRect">
            <a:avLst>
              <a:gd name="adj" fmla="val 4083"/>
            </a:avLst>
          </a:prstGeom>
          <a:gradFill rotWithShape="1">
            <a:gsLst>
              <a:gs pos="0">
                <a:srgbClr val="F0F1E1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411480" tIns="228600" bIns="228600" anchor="ctr"/>
          <a:lstStyle/>
          <a:p>
            <a:pPr>
              <a:lnSpc>
                <a:spcPct val="90000"/>
              </a:lnSpc>
              <a:spcBef>
                <a:spcPct val="40000"/>
              </a:spcBef>
            </a:pPr>
            <a:r>
              <a:rPr lang="en-US" sz="2200"/>
              <a:t>Create, test, and troubleshoot</a:t>
            </a:r>
          </a:p>
        </p:txBody>
      </p:sp>
      <p:sp>
        <p:nvSpPr>
          <p:cNvPr id="365592" name="AutoShape 24"/>
          <p:cNvSpPr>
            <a:spLocks noChangeArrowheads="1"/>
          </p:cNvSpPr>
          <p:nvPr/>
        </p:nvSpPr>
        <p:spPr bwMode="auto">
          <a:xfrm>
            <a:off x="2663826" y="3213100"/>
            <a:ext cx="392113" cy="457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sz="2400">
                <a:solidFill>
                  <a:srgbClr val="990033"/>
                </a:solidFill>
                <a:latin typeface="Wingdings" pitchFamily="2" charset="2"/>
              </a:rPr>
              <a:t>ü</a:t>
            </a:r>
          </a:p>
        </p:txBody>
      </p:sp>
      <p:sp>
        <p:nvSpPr>
          <p:cNvPr id="11274" name="AutoShape 25"/>
          <p:cNvSpPr>
            <a:spLocks noChangeArrowheads="1"/>
          </p:cNvSpPr>
          <p:nvPr/>
        </p:nvSpPr>
        <p:spPr bwMode="auto">
          <a:xfrm>
            <a:off x="2803525" y="3868739"/>
            <a:ext cx="6527800" cy="612775"/>
          </a:xfrm>
          <a:prstGeom prst="roundRect">
            <a:avLst>
              <a:gd name="adj" fmla="val 4083"/>
            </a:avLst>
          </a:prstGeom>
          <a:gradFill rotWithShape="1">
            <a:gsLst>
              <a:gs pos="0">
                <a:srgbClr val="F0F1E1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411480" tIns="228600" bIns="228600" anchor="ctr"/>
          <a:lstStyle/>
          <a:p>
            <a:pPr>
              <a:lnSpc>
                <a:spcPct val="90000"/>
              </a:lnSpc>
              <a:spcBef>
                <a:spcPct val="40000"/>
              </a:spcBef>
            </a:pPr>
            <a:r>
              <a:rPr lang="en-US" sz="2200"/>
              <a:t>Avoid sp_ prefix in stored procedure names</a:t>
            </a:r>
          </a:p>
        </p:txBody>
      </p:sp>
      <p:sp>
        <p:nvSpPr>
          <p:cNvPr id="365594" name="AutoShape 26"/>
          <p:cNvSpPr>
            <a:spLocks noChangeArrowheads="1"/>
          </p:cNvSpPr>
          <p:nvPr/>
        </p:nvSpPr>
        <p:spPr bwMode="auto">
          <a:xfrm>
            <a:off x="2663826" y="3946525"/>
            <a:ext cx="392113" cy="457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sz="2400">
                <a:solidFill>
                  <a:srgbClr val="990033"/>
                </a:solidFill>
                <a:latin typeface="Wingdings" pitchFamily="2" charset="2"/>
              </a:rPr>
              <a:t>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14564" y="196850"/>
            <a:ext cx="7102475" cy="1055688"/>
          </a:xfrm>
          <a:noFill/>
        </p:spPr>
        <p:txBody>
          <a:bodyPr/>
          <a:lstStyle/>
          <a:p>
            <a:pPr eaLnBrk="1" hangingPunct="1"/>
            <a:r>
              <a:rPr lang="en-US"/>
              <a:t>Syntax for Altering and Dropping Stored Procedures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2538414" y="1416050"/>
            <a:ext cx="7026275" cy="4694238"/>
          </a:xfrm>
        </p:spPr>
        <p:txBody>
          <a:bodyPr/>
          <a:lstStyle/>
          <a:p>
            <a:pPr eaLnBrk="1" hangingPunct="1"/>
            <a:r>
              <a:rPr lang="en-US" sz="2800"/>
              <a:t>ALTER PROCEDURE</a:t>
            </a:r>
            <a:endParaRPr lang="en-GB" sz="2800"/>
          </a:p>
          <a:p>
            <a:pPr eaLnBrk="1" hangingPunct="1"/>
            <a:endParaRPr lang="en-GB"/>
          </a:p>
          <a:p>
            <a:pPr eaLnBrk="1" hangingPunct="1"/>
            <a:endParaRPr lang="en-GB"/>
          </a:p>
          <a:p>
            <a:pPr eaLnBrk="1" hangingPunct="1">
              <a:buFontTx/>
              <a:buNone/>
            </a:pPr>
            <a:endParaRPr lang="en-GB"/>
          </a:p>
          <a:p>
            <a:pPr eaLnBrk="1" hangingPunct="1">
              <a:buFontTx/>
              <a:buNone/>
            </a:pPr>
            <a:endParaRPr lang="en-US"/>
          </a:p>
          <a:p>
            <a:pPr eaLnBrk="1" hangingPunct="1">
              <a:buFont typeface="Wingdings" pitchFamily="2" charset="2"/>
              <a:buNone/>
            </a:pPr>
            <a:endParaRPr lang="en-US"/>
          </a:p>
          <a:p>
            <a:pPr eaLnBrk="1" hangingPunct="1"/>
            <a:r>
              <a:rPr lang="en-US" sz="2800"/>
              <a:t>DROP PROCEDURE</a:t>
            </a:r>
          </a:p>
        </p:txBody>
      </p:sp>
      <p:sp>
        <p:nvSpPr>
          <p:cNvPr id="12292" name="AutoShape 4"/>
          <p:cNvSpPr>
            <a:spLocks noChangeArrowheads="1"/>
          </p:cNvSpPr>
          <p:nvPr/>
        </p:nvSpPr>
        <p:spPr bwMode="auto">
          <a:xfrm>
            <a:off x="2576513" y="1976438"/>
            <a:ext cx="6938962" cy="2443162"/>
          </a:xfrm>
          <a:prstGeom prst="roundRect">
            <a:avLst>
              <a:gd name="adj" fmla="val 4037"/>
            </a:avLst>
          </a:prstGeom>
          <a:solidFill>
            <a:srgbClr val="F6F7EB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tIns="91440" bIns="91440">
            <a:spAutoFit/>
          </a:bodyPr>
          <a:lstStyle/>
          <a:p>
            <a:pPr marL="290513" indent="-290513" defTabSz="457200">
              <a:buClr>
                <a:srgbClr val="DC0081"/>
              </a:buClr>
            </a:pPr>
            <a:r>
              <a:rPr lang="en-US">
                <a:solidFill>
                  <a:schemeClr val="tx2"/>
                </a:solidFill>
                <a:latin typeface="Lucida Sans Typewriter" pitchFamily="49" charset="0"/>
              </a:rPr>
              <a:t>ALTER PROC Production.LongLeadProducts</a:t>
            </a:r>
          </a:p>
          <a:p>
            <a:pPr marL="290513" indent="-290513" defTabSz="457200">
              <a:buClr>
                <a:srgbClr val="DC0081"/>
              </a:buClr>
            </a:pPr>
            <a:r>
              <a:rPr lang="en-US">
                <a:solidFill>
                  <a:schemeClr val="tx2"/>
                </a:solidFill>
                <a:latin typeface="Lucida Sans Typewriter" pitchFamily="49" charset="0"/>
              </a:rPr>
              <a:t>AS</a:t>
            </a:r>
          </a:p>
          <a:p>
            <a:pPr marL="290513" indent="-290513" defTabSz="457200">
              <a:buClr>
                <a:srgbClr val="DC0081"/>
              </a:buClr>
            </a:pPr>
            <a:r>
              <a:rPr lang="en-US">
                <a:solidFill>
                  <a:schemeClr val="tx2"/>
                </a:solidFill>
                <a:latin typeface="Lucida Sans Typewriter" pitchFamily="49" charset="0"/>
              </a:rPr>
              <a:t>	SELECT	Name, ProductNumber, DaysToManufacture</a:t>
            </a:r>
          </a:p>
          <a:p>
            <a:pPr marL="290513" indent="-290513" defTabSz="457200">
              <a:buClr>
                <a:srgbClr val="DC0081"/>
              </a:buClr>
            </a:pPr>
            <a:r>
              <a:rPr lang="en-US">
                <a:solidFill>
                  <a:schemeClr val="tx2"/>
                </a:solidFill>
                <a:latin typeface="Lucida Sans Typewriter" pitchFamily="49" charset="0"/>
              </a:rPr>
              <a:t>	FROM		Production.Product</a:t>
            </a:r>
          </a:p>
          <a:p>
            <a:pPr marL="290513" indent="-290513" defTabSz="457200">
              <a:buClr>
                <a:srgbClr val="DC0081"/>
              </a:buClr>
            </a:pPr>
            <a:r>
              <a:rPr lang="en-US">
                <a:solidFill>
                  <a:schemeClr val="tx2"/>
                </a:solidFill>
                <a:latin typeface="Lucida Sans Typewriter" pitchFamily="49" charset="0"/>
              </a:rPr>
              <a:t>	WHERE	DaysToManufacture &gt;= 1</a:t>
            </a:r>
          </a:p>
          <a:p>
            <a:pPr marL="290513" indent="-290513" defTabSz="457200">
              <a:buClr>
                <a:srgbClr val="DC0081"/>
              </a:buClr>
            </a:pPr>
            <a:r>
              <a:rPr lang="en-US">
                <a:solidFill>
                  <a:schemeClr val="tx2"/>
                </a:solidFill>
                <a:latin typeface="Lucida Sans Typewriter" pitchFamily="49" charset="0"/>
              </a:rPr>
              <a:t>	ORDER BY DaysToManufacture DESC, Name</a:t>
            </a:r>
          </a:p>
          <a:p>
            <a:pPr marL="290513" indent="-290513" defTabSz="457200">
              <a:buClr>
                <a:srgbClr val="DC0081"/>
              </a:buClr>
            </a:pPr>
            <a:endParaRPr lang="en-GB">
              <a:solidFill>
                <a:schemeClr val="tx2"/>
              </a:solidFill>
              <a:latin typeface="Lucida Sans Typewriter" pitchFamily="49" charset="0"/>
            </a:endParaRPr>
          </a:p>
          <a:p>
            <a:pPr marL="290513" indent="-290513" defTabSz="457200">
              <a:buClr>
                <a:srgbClr val="DC0081"/>
              </a:buClr>
            </a:pPr>
            <a:r>
              <a:rPr lang="en-GB">
                <a:solidFill>
                  <a:schemeClr val="tx2"/>
                </a:solidFill>
                <a:latin typeface="Lucida Sans Typewriter" pitchFamily="49" charset="0"/>
              </a:rPr>
              <a:t>GO</a:t>
            </a:r>
            <a:endParaRPr lang="en-US">
              <a:solidFill>
                <a:schemeClr val="tx2"/>
              </a:solidFill>
              <a:latin typeface="Lucida Sans Typewriter" pitchFamily="49" charset="0"/>
            </a:endParaRPr>
          </a:p>
        </p:txBody>
      </p:sp>
      <p:sp>
        <p:nvSpPr>
          <p:cNvPr id="12293" name="AutoShape 5"/>
          <p:cNvSpPr>
            <a:spLocks noChangeArrowheads="1"/>
          </p:cNvSpPr>
          <p:nvPr/>
        </p:nvSpPr>
        <p:spPr bwMode="auto">
          <a:xfrm>
            <a:off x="2579689" y="5424489"/>
            <a:ext cx="6935787" cy="454025"/>
          </a:xfrm>
          <a:prstGeom prst="roundRect">
            <a:avLst>
              <a:gd name="adj" fmla="val 7875"/>
            </a:avLst>
          </a:prstGeom>
          <a:solidFill>
            <a:srgbClr val="F6F7EB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tIns="91440" bIns="91440">
            <a:spAutoFit/>
          </a:bodyPr>
          <a:lstStyle/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>
                <a:solidFill>
                  <a:schemeClr val="tx2"/>
                </a:solidFill>
                <a:latin typeface="Lucida Sans Typewriter" pitchFamily="49" charset="0"/>
              </a:rPr>
              <a:t>DROP PROC Production.LongLeadProducts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327276" y="211138"/>
            <a:ext cx="6850063" cy="1027112"/>
          </a:xfrm>
          <a:noFill/>
        </p:spPr>
        <p:txBody>
          <a:bodyPr/>
          <a:lstStyle/>
          <a:p>
            <a:pPr eaLnBrk="1" hangingPunct="1"/>
            <a:r>
              <a:rPr lang="en-US"/>
              <a:t>Creating Parameterized Stored Procedures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2538414" y="1758950"/>
            <a:ext cx="7026275" cy="4351338"/>
          </a:xfrm>
        </p:spPr>
        <p:txBody>
          <a:bodyPr/>
          <a:lstStyle/>
          <a:p>
            <a:pPr eaLnBrk="1" hangingPunct="1"/>
            <a:r>
              <a:rPr lang="en-US" sz="2800"/>
              <a:t>Input Parameters </a:t>
            </a:r>
          </a:p>
          <a:p>
            <a:pPr eaLnBrk="1" hangingPunct="1"/>
            <a:r>
              <a:rPr lang="en-US" sz="2800"/>
              <a:t>Output Parameters and Return Values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ounded Rectangle 849924"/>
          <p:cNvSpPr>
            <a:spLocks noChangeArrowheads="1"/>
          </p:cNvSpPr>
          <p:nvPr/>
        </p:nvSpPr>
        <p:spPr bwMode="auto">
          <a:xfrm>
            <a:off x="3143250" y="2530475"/>
            <a:ext cx="3106738" cy="547688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4CD9A"/>
              </a:gs>
              <a:gs pos="100000">
                <a:srgbClr val="EEEFD7"/>
              </a:gs>
            </a:gsLst>
            <a:lin ang="2700000" scaled="1"/>
          </a:gradFill>
          <a:ln w="9525" algn="ctr">
            <a:solidFill>
              <a:srgbClr val="333333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90000"/>
              </a:lnSpc>
              <a:spcBef>
                <a:spcPct val="40000"/>
              </a:spcBef>
            </a:pPr>
            <a:r>
              <a:rPr lang="en-US"/>
              <a:t>      Input parameters</a:t>
            </a:r>
          </a:p>
        </p:txBody>
      </p:sp>
      <p:sp>
        <p:nvSpPr>
          <p:cNvPr id="14339" name="Rounded Rectangle 849924"/>
          <p:cNvSpPr>
            <a:spLocks noChangeArrowheads="1"/>
          </p:cNvSpPr>
          <p:nvPr/>
        </p:nvSpPr>
        <p:spPr bwMode="auto">
          <a:xfrm>
            <a:off x="5883276" y="3743325"/>
            <a:ext cx="3108325" cy="547688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4CD9A"/>
              </a:gs>
              <a:gs pos="100000">
                <a:srgbClr val="EEEFD7"/>
              </a:gs>
            </a:gsLst>
            <a:lin ang="2700000" scaled="1"/>
          </a:gradFill>
          <a:ln w="9525" algn="ctr">
            <a:solidFill>
              <a:srgbClr val="333333"/>
            </a:solidFill>
            <a:round/>
            <a:headEnd/>
            <a:tailEnd/>
          </a:ln>
        </p:spPr>
        <p:txBody>
          <a:bodyPr wrap="none" anchor="ctr"/>
          <a:lstStyle/>
          <a:p>
            <a:pPr algn="r" eaLnBrk="0" hangingPunct="0">
              <a:lnSpc>
                <a:spcPct val="90000"/>
              </a:lnSpc>
              <a:spcBef>
                <a:spcPct val="40000"/>
              </a:spcBef>
            </a:pPr>
            <a:r>
              <a:rPr lang="en-US"/>
              <a:t>Output parameters     </a:t>
            </a:r>
          </a:p>
        </p:txBody>
      </p:sp>
      <p:sp>
        <p:nvSpPr>
          <p:cNvPr id="14340" name="Rounded Rectangle 849924"/>
          <p:cNvSpPr>
            <a:spLocks noChangeArrowheads="1"/>
          </p:cNvSpPr>
          <p:nvPr/>
        </p:nvSpPr>
        <p:spPr bwMode="auto">
          <a:xfrm>
            <a:off x="3168651" y="4856164"/>
            <a:ext cx="3108325" cy="547687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4CD9A"/>
              </a:gs>
              <a:gs pos="100000">
                <a:srgbClr val="EEEFD7"/>
              </a:gs>
            </a:gsLst>
            <a:lin ang="2700000" scaled="1"/>
          </a:gradFill>
          <a:ln w="9525" algn="ctr">
            <a:solidFill>
              <a:srgbClr val="333333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90000"/>
              </a:lnSpc>
              <a:spcBef>
                <a:spcPct val="40000"/>
              </a:spcBef>
            </a:pPr>
            <a:r>
              <a:rPr lang="en-US"/>
              <a:t>     Return values</a:t>
            </a:r>
          </a:p>
        </p:txBody>
      </p:sp>
      <p:grpSp>
        <p:nvGrpSpPr>
          <p:cNvPr id="14341" name="Group 28"/>
          <p:cNvGrpSpPr>
            <a:grpSpLocks/>
          </p:cNvGrpSpPr>
          <p:nvPr/>
        </p:nvGrpSpPr>
        <p:grpSpPr bwMode="auto">
          <a:xfrm>
            <a:off x="2208213" y="4267200"/>
            <a:ext cx="1473200" cy="1951038"/>
            <a:chOff x="4317" y="1552"/>
            <a:chExt cx="928" cy="1229"/>
          </a:xfrm>
        </p:grpSpPr>
        <p:pic>
          <p:nvPicPr>
            <p:cNvPr id="14350" name="Picture 18" descr="Document_Code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317" y="1552"/>
              <a:ext cx="620" cy="10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51" name="Picture 15" descr="arrow09_0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523" y="2003"/>
              <a:ext cx="722" cy="7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4342" name="Group 26"/>
          <p:cNvGrpSpPr>
            <a:grpSpLocks/>
          </p:cNvGrpSpPr>
          <p:nvPr/>
        </p:nvGrpSpPr>
        <p:grpSpPr bwMode="auto">
          <a:xfrm>
            <a:off x="1677989" y="1822450"/>
            <a:ext cx="2244725" cy="2033588"/>
            <a:chOff x="0" y="551"/>
            <a:chExt cx="1414" cy="1281"/>
          </a:xfrm>
        </p:grpSpPr>
        <p:pic>
          <p:nvPicPr>
            <p:cNvPr id="14348" name="Picture 16" descr="Method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0" y="804"/>
              <a:ext cx="1414" cy="10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49" name="Picture 19" descr="arrow03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 rot="5400000">
              <a:off x="280" y="812"/>
              <a:ext cx="79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4343" name="Group 27"/>
          <p:cNvGrpSpPr>
            <a:grpSpLocks/>
          </p:cNvGrpSpPr>
          <p:nvPr/>
        </p:nvGrpSpPr>
        <p:grpSpPr bwMode="auto">
          <a:xfrm>
            <a:off x="8423276" y="3405188"/>
            <a:ext cx="2244725" cy="1782762"/>
            <a:chOff x="0" y="1849"/>
            <a:chExt cx="1414" cy="1123"/>
          </a:xfrm>
        </p:grpSpPr>
        <p:pic>
          <p:nvPicPr>
            <p:cNvPr id="14346" name="Picture 24" descr="Method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0" y="1849"/>
              <a:ext cx="1414" cy="10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47" name="Picture 25" descr="arrow03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 rot="5400000">
              <a:off x="288" y="2441"/>
              <a:ext cx="79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4344" name="Text Box 29"/>
          <p:cNvSpPr txBox="1">
            <a:spLocks noChangeArrowheads="1"/>
          </p:cNvSpPr>
          <p:nvPr/>
        </p:nvSpPr>
        <p:spPr bwMode="auto">
          <a:xfrm>
            <a:off x="1947863" y="1600201"/>
            <a:ext cx="83740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Parameterized stored procedures contain 3 major components:</a:t>
            </a:r>
          </a:p>
        </p:txBody>
      </p:sp>
      <p:sp>
        <p:nvSpPr>
          <p:cNvPr id="14345" name="Rectangle 2"/>
          <p:cNvSpPr>
            <a:spLocks noGrp="1" noChangeArrowheads="1"/>
          </p:cNvSpPr>
          <p:nvPr>
            <p:ph type="title"/>
          </p:nvPr>
        </p:nvSpPr>
        <p:spPr>
          <a:xfrm>
            <a:off x="2327276" y="211138"/>
            <a:ext cx="6850063" cy="1027112"/>
          </a:xfrm>
          <a:noFill/>
        </p:spPr>
        <p:txBody>
          <a:bodyPr/>
          <a:lstStyle/>
          <a:p>
            <a:pPr eaLnBrk="1" hangingPunct="1"/>
            <a:r>
              <a:rPr lang="en-US"/>
              <a:t>Creating Parameterized Stored Procedures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327275" y="1"/>
            <a:ext cx="7391400" cy="841375"/>
          </a:xfrm>
          <a:noFill/>
        </p:spPr>
        <p:txBody>
          <a:bodyPr vert="horz" wrap="square" lIns="91440" tIns="44450" rIns="90488" bIns="4445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/>
              <a:t>Input Parameters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2538414" y="1096964"/>
            <a:ext cx="6924675" cy="1749425"/>
          </a:xfrm>
        </p:spPr>
        <p:txBody>
          <a:bodyPr/>
          <a:lstStyle/>
          <a:p>
            <a:pPr eaLnBrk="1" hangingPunct="1"/>
            <a:r>
              <a:rPr lang="en-US" sz="1800"/>
              <a:t>Provide appropriate default values</a:t>
            </a:r>
          </a:p>
          <a:p>
            <a:pPr eaLnBrk="1" hangingPunct="1"/>
            <a:r>
              <a:rPr lang="en-US" sz="1800">
                <a:cs typeface="Times New Roman" pitchFamily="18" charset="0"/>
              </a:rPr>
              <a:t>Validate incoming parameter values, </a:t>
            </a:r>
            <a:r>
              <a:rPr lang="en-US" sz="1800"/>
              <a:t>including null checks</a:t>
            </a:r>
          </a:p>
          <a:p>
            <a:pPr eaLnBrk="1" hangingPunct="1"/>
            <a:endParaRPr lang="en-US" sz="1800"/>
          </a:p>
          <a:p>
            <a:pPr eaLnBrk="1" hangingPunct="1"/>
            <a:endParaRPr lang="en-US" sz="1800"/>
          </a:p>
          <a:p>
            <a:pPr eaLnBrk="1" hangingPunct="1"/>
            <a:endParaRPr lang="en-US" sz="1800"/>
          </a:p>
        </p:txBody>
      </p:sp>
      <p:sp>
        <p:nvSpPr>
          <p:cNvPr id="15364" name="AutoShape 6"/>
          <p:cNvSpPr>
            <a:spLocks noChangeArrowheads="1"/>
          </p:cNvSpPr>
          <p:nvPr/>
        </p:nvSpPr>
        <p:spPr bwMode="auto">
          <a:xfrm>
            <a:off x="2579688" y="1841500"/>
            <a:ext cx="6934200" cy="3321050"/>
          </a:xfrm>
          <a:prstGeom prst="roundRect">
            <a:avLst>
              <a:gd name="adj" fmla="val 2097"/>
            </a:avLst>
          </a:prstGeom>
          <a:solidFill>
            <a:srgbClr val="F6F7EB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tIns="91440" bIns="91440" anchor="ctr"/>
          <a:lstStyle/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600">
                <a:solidFill>
                  <a:schemeClr val="tx2"/>
                </a:solidFill>
                <a:latin typeface="Lucida Sans Typewriter" pitchFamily="49" charset="0"/>
              </a:rPr>
              <a:t>ALTER PROC Production.LongLeadProducts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GB" sz="1600">
                <a:solidFill>
                  <a:schemeClr val="tx2"/>
                </a:solidFill>
                <a:latin typeface="Lucida Sans Typewriter" pitchFamily="49" charset="0"/>
              </a:rPr>
              <a:t>  @MinimumLength int = 1 	-- default value</a:t>
            </a:r>
            <a:endParaRPr lang="en-US" sz="1600">
              <a:solidFill>
                <a:schemeClr val="tx2"/>
              </a:solidFill>
              <a:latin typeface="Lucida Sans Typewriter" pitchFamily="49" charset="0"/>
            </a:endParaRP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600">
                <a:solidFill>
                  <a:schemeClr val="tx2"/>
                </a:solidFill>
                <a:latin typeface="Lucida Sans Typewriter" pitchFamily="49" charset="0"/>
              </a:rPr>
              <a:t>AS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endParaRPr lang="en-GB" sz="1600">
              <a:solidFill>
                <a:schemeClr val="tx2"/>
              </a:solidFill>
              <a:latin typeface="Lucida Sans Typewriter" pitchFamily="49" charset="0"/>
            </a:endParaRP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GB" sz="1600">
                <a:solidFill>
                  <a:schemeClr val="tx2"/>
                </a:solidFill>
                <a:latin typeface="Lucida Sans Typewriter" pitchFamily="49" charset="0"/>
              </a:rPr>
              <a:t>IF (@MinimumLength &lt; 0) 	-- validate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GB" sz="1600">
                <a:solidFill>
                  <a:schemeClr val="tx2"/>
                </a:solidFill>
                <a:latin typeface="Lucida Sans Typewriter" pitchFamily="49" charset="0"/>
              </a:rPr>
              <a:t>  </a:t>
            </a:r>
            <a:r>
              <a:rPr lang="en-GB" sz="1600" noProof="1">
                <a:solidFill>
                  <a:schemeClr val="tx2"/>
                </a:solidFill>
                <a:latin typeface="Lucida Sans Typewriter" pitchFamily="49" charset="0"/>
              </a:rPr>
              <a:t>BEGIN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GB" sz="1600">
                <a:solidFill>
                  <a:schemeClr val="tx2"/>
                </a:solidFill>
                <a:latin typeface="Lucida Sans Typewriter" pitchFamily="49" charset="0"/>
              </a:rPr>
              <a:t>    </a:t>
            </a:r>
            <a:r>
              <a:rPr lang="en-GB" sz="1600" noProof="1">
                <a:solidFill>
                  <a:schemeClr val="tx2"/>
                </a:solidFill>
                <a:latin typeface="Lucida Sans Typewriter" pitchFamily="49" charset="0"/>
              </a:rPr>
              <a:t>RAISERROR('</a:t>
            </a:r>
            <a:r>
              <a:rPr lang="en-GB" sz="1600">
                <a:solidFill>
                  <a:schemeClr val="tx2"/>
                </a:solidFill>
                <a:latin typeface="Lucida Sans Typewriter" pitchFamily="49" charset="0"/>
              </a:rPr>
              <a:t>Invalid lead time</a:t>
            </a:r>
            <a:r>
              <a:rPr lang="en-GB" sz="1600" noProof="1">
                <a:solidFill>
                  <a:schemeClr val="tx2"/>
                </a:solidFill>
                <a:latin typeface="Lucida Sans Typewriter" pitchFamily="49" charset="0"/>
              </a:rPr>
              <a:t>.', 14, 1)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GB" sz="1600">
                <a:solidFill>
                  <a:schemeClr val="tx2"/>
                </a:solidFill>
                <a:latin typeface="Lucida Sans Typewriter" pitchFamily="49" charset="0"/>
              </a:rPr>
              <a:t>    </a:t>
            </a:r>
            <a:r>
              <a:rPr lang="en-GB" sz="1600" noProof="1">
                <a:solidFill>
                  <a:schemeClr val="tx2"/>
                </a:solidFill>
                <a:latin typeface="Lucida Sans Typewriter" pitchFamily="49" charset="0"/>
              </a:rPr>
              <a:t>RETURN</a:t>
            </a:r>
            <a:endParaRPr lang="en-GB" sz="1600">
              <a:solidFill>
                <a:schemeClr val="tx2"/>
              </a:solidFill>
              <a:latin typeface="Lucida Sans Typewriter" pitchFamily="49" charset="0"/>
            </a:endParaRP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GB" sz="1600">
                <a:solidFill>
                  <a:schemeClr val="tx2"/>
                </a:solidFill>
                <a:latin typeface="Lucida Sans Typewriter" pitchFamily="49" charset="0"/>
              </a:rPr>
              <a:t>  </a:t>
            </a:r>
            <a:r>
              <a:rPr lang="en-GB" sz="1600" noProof="1">
                <a:solidFill>
                  <a:schemeClr val="tx2"/>
                </a:solidFill>
                <a:latin typeface="Lucida Sans Typewriter" pitchFamily="49" charset="0"/>
              </a:rPr>
              <a:t>E</a:t>
            </a:r>
            <a:r>
              <a:rPr lang="en-US" sz="1600">
                <a:solidFill>
                  <a:schemeClr val="tx2"/>
                </a:solidFill>
                <a:latin typeface="Lucida Sans Typewriter" pitchFamily="49" charset="0"/>
              </a:rPr>
              <a:t>ND</a:t>
            </a:r>
            <a:endParaRPr lang="en-US" sz="1600" noProof="1">
              <a:solidFill>
                <a:schemeClr val="tx2"/>
              </a:solidFill>
              <a:latin typeface="Lucida Sans Typewriter" pitchFamily="49" charset="0"/>
            </a:endParaRP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endParaRPr lang="en-US" sz="1600">
              <a:solidFill>
                <a:schemeClr val="tx2"/>
              </a:solidFill>
              <a:latin typeface="Lucida Sans Typewriter" pitchFamily="49" charset="0"/>
            </a:endParaRP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600">
                <a:solidFill>
                  <a:schemeClr val="tx2"/>
                </a:solidFill>
                <a:latin typeface="Lucida Sans Typewriter" pitchFamily="49" charset="0"/>
              </a:rPr>
              <a:t>SELECT	Name, ProductNumber, DaysToManufacture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600">
                <a:solidFill>
                  <a:schemeClr val="tx2"/>
                </a:solidFill>
                <a:latin typeface="Lucida Sans Typewriter" pitchFamily="49" charset="0"/>
              </a:rPr>
              <a:t>FROM	Production.Product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600">
                <a:solidFill>
                  <a:schemeClr val="tx2"/>
                </a:solidFill>
                <a:latin typeface="Lucida Sans Typewriter" pitchFamily="49" charset="0"/>
              </a:rPr>
              <a:t>WHERE	DaysToManufacture &gt;= </a:t>
            </a:r>
            <a:r>
              <a:rPr lang="en-GB" sz="1600">
                <a:solidFill>
                  <a:schemeClr val="tx2"/>
                </a:solidFill>
                <a:latin typeface="Lucida Sans Typewriter" pitchFamily="49" charset="0"/>
              </a:rPr>
              <a:t>@MinimumLength</a:t>
            </a:r>
            <a:endParaRPr lang="en-US" sz="1600">
              <a:solidFill>
                <a:schemeClr val="tx2"/>
              </a:solidFill>
              <a:latin typeface="Lucida Sans Typewriter" pitchFamily="49" charset="0"/>
            </a:endParaRP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600">
                <a:solidFill>
                  <a:schemeClr val="tx2"/>
                </a:solidFill>
                <a:latin typeface="Lucida Sans Typewriter" pitchFamily="49" charset="0"/>
              </a:rPr>
              <a:t>ORDER BY DaysToManufacture DESC, Name</a:t>
            </a:r>
          </a:p>
        </p:txBody>
      </p:sp>
      <p:sp>
        <p:nvSpPr>
          <p:cNvPr id="15365" name="AutoShape 7"/>
          <p:cNvSpPr>
            <a:spLocks noChangeArrowheads="1"/>
          </p:cNvSpPr>
          <p:nvPr/>
        </p:nvSpPr>
        <p:spPr bwMode="auto">
          <a:xfrm>
            <a:off x="2579688" y="5537200"/>
            <a:ext cx="6934200" cy="425450"/>
          </a:xfrm>
          <a:prstGeom prst="roundRect">
            <a:avLst>
              <a:gd name="adj" fmla="val 7875"/>
            </a:avLst>
          </a:prstGeom>
          <a:solidFill>
            <a:srgbClr val="F6F7EB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tIns="91440" bIns="91440"/>
          <a:lstStyle/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600">
                <a:solidFill>
                  <a:schemeClr val="tx2"/>
                </a:solidFill>
                <a:latin typeface="Lucida Sans Typewriter" pitchFamily="49" charset="0"/>
              </a:rPr>
              <a:t>EXEC Production.LongLeadProducts </a:t>
            </a:r>
            <a:r>
              <a:rPr lang="en-GB" sz="1600">
                <a:solidFill>
                  <a:schemeClr val="tx2"/>
                </a:solidFill>
                <a:latin typeface="Lucida Sans Typewriter" pitchFamily="49" charset="0"/>
              </a:rPr>
              <a:t>@MinimumLength=</a:t>
            </a:r>
            <a:r>
              <a:rPr lang="en-US" sz="1600">
                <a:solidFill>
                  <a:schemeClr val="tx2"/>
                </a:solidFill>
                <a:latin typeface="Lucida Sans Typewriter" pitchFamily="49" charset="0"/>
              </a:rPr>
              <a:t>4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35"/>
          <p:cNvSpPr>
            <a:spLocks noChangeArrowheads="1"/>
          </p:cNvSpPr>
          <p:nvPr/>
        </p:nvSpPr>
        <p:spPr bwMode="auto">
          <a:xfrm>
            <a:off x="2517775" y="1462089"/>
            <a:ext cx="7031038" cy="2955925"/>
          </a:xfrm>
          <a:prstGeom prst="roundRect">
            <a:avLst>
              <a:gd name="adj" fmla="val 7093"/>
            </a:avLst>
          </a:prstGeom>
          <a:solidFill>
            <a:srgbClr val="F6F7EB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tIns="91440" bIns="91440" anchor="ctr"/>
          <a:lstStyle/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>
                <a:solidFill>
                  <a:schemeClr val="tx2"/>
                </a:solidFill>
                <a:latin typeface="Lucida Sans Typewriter" pitchFamily="49" charset="0"/>
              </a:rPr>
              <a:t>CREATE PROC HumanResources.AddDepartment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>
                <a:solidFill>
                  <a:schemeClr val="tx2"/>
                </a:solidFill>
                <a:latin typeface="Lucida Sans Typewriter" pitchFamily="49" charset="0"/>
              </a:rPr>
              <a:t>  @Name nvarchar(50), @GroupName nvarchar(50),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>
                <a:solidFill>
                  <a:schemeClr val="tx2"/>
                </a:solidFill>
                <a:latin typeface="Lucida Sans Typewriter" pitchFamily="49" charset="0"/>
              </a:rPr>
              <a:t>  @DeptID smallint OUTPUT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>
                <a:solidFill>
                  <a:schemeClr val="tx2"/>
                </a:solidFill>
                <a:latin typeface="Lucida Sans Typewriter" pitchFamily="49" charset="0"/>
              </a:rPr>
              <a:t>AS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endParaRPr lang="en-US" sz="1400">
              <a:solidFill>
                <a:schemeClr val="tx2"/>
              </a:solidFill>
              <a:latin typeface="Lucida Sans Typewriter" pitchFamily="49" charset="0"/>
            </a:endParaRP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endParaRPr lang="en-GB" sz="1400">
              <a:solidFill>
                <a:schemeClr val="tx2"/>
              </a:solidFill>
              <a:latin typeface="Lucida Sans Typewriter" pitchFamily="49" charset="0"/>
            </a:endParaRP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endParaRPr lang="en-US" sz="1400">
              <a:solidFill>
                <a:schemeClr val="tx2"/>
              </a:solidFill>
              <a:latin typeface="Lucida Sans Typewriter" pitchFamily="49" charset="0"/>
            </a:endParaRP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>
                <a:solidFill>
                  <a:schemeClr val="tx2"/>
                </a:solidFill>
                <a:latin typeface="Lucida Sans Typewriter" pitchFamily="49" charset="0"/>
              </a:rPr>
              <a:t>INSERT INTO HumanResources.Department (Name, GroupName)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>
                <a:solidFill>
                  <a:schemeClr val="tx2"/>
                </a:solidFill>
                <a:latin typeface="Lucida Sans Typewriter" pitchFamily="49" charset="0"/>
              </a:rPr>
              <a:t>VALUES	(@Name, @GroupName)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endParaRPr lang="en-US" sz="1400">
              <a:solidFill>
                <a:schemeClr val="tx2"/>
              </a:solidFill>
              <a:latin typeface="Lucida Sans Typewriter" pitchFamily="49" charset="0"/>
            </a:endParaRP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>
                <a:solidFill>
                  <a:schemeClr val="tx2"/>
                </a:solidFill>
                <a:latin typeface="Lucida Sans Typewriter" pitchFamily="49" charset="0"/>
              </a:rPr>
              <a:t>SET @DeptID = SCOPE_IDENTITY()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endParaRPr lang="en-US" sz="1400">
              <a:solidFill>
                <a:schemeClr val="tx2"/>
              </a:solidFill>
              <a:latin typeface="Lucida Sans Typewriter" pitchFamily="49" charset="0"/>
            </a:endParaRPr>
          </a:p>
        </p:txBody>
      </p:sp>
      <p:sp>
        <p:nvSpPr>
          <p:cNvPr id="16387" name="AutoShape 36"/>
          <p:cNvSpPr>
            <a:spLocks noChangeArrowheads="1"/>
          </p:cNvSpPr>
          <p:nvPr/>
        </p:nvSpPr>
        <p:spPr bwMode="auto">
          <a:xfrm>
            <a:off x="2517775" y="4556126"/>
            <a:ext cx="7029450" cy="1444625"/>
          </a:xfrm>
          <a:prstGeom prst="roundRect">
            <a:avLst>
              <a:gd name="adj" fmla="val 7093"/>
            </a:avLst>
          </a:prstGeom>
          <a:solidFill>
            <a:srgbClr val="F6F7EB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tIns="91440" bIns="91440" anchor="ctr"/>
          <a:lstStyle/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>
                <a:solidFill>
                  <a:schemeClr val="tx2"/>
                </a:solidFill>
                <a:latin typeface="Lucida Sans Typewriter" pitchFamily="49" charset="0"/>
              </a:rPr>
              <a:t>DECLARE @dept int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>
                <a:solidFill>
                  <a:schemeClr val="tx2"/>
                </a:solidFill>
                <a:latin typeface="Lucida Sans Typewriter" pitchFamily="49" charset="0"/>
              </a:rPr>
              <a:t>EXEC AddDepartment 'Refunds', '', @dept OUTPUT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endParaRPr lang="en-US" sz="1400">
              <a:solidFill>
                <a:schemeClr val="tx2"/>
              </a:solidFill>
              <a:latin typeface="Lucida Sans Typewriter" pitchFamily="49" charset="0"/>
            </a:endParaRP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>
                <a:solidFill>
                  <a:schemeClr val="tx2"/>
                </a:solidFill>
                <a:latin typeface="Lucida Sans Typewriter" pitchFamily="49" charset="0"/>
              </a:rPr>
              <a:t>SELECT @dept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endParaRPr lang="en-GB" sz="1400">
              <a:solidFill>
                <a:schemeClr val="tx2"/>
              </a:solidFill>
              <a:latin typeface="Lucida Sans Typewriter" pitchFamily="49" charset="0"/>
            </a:endParaRP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endParaRPr lang="en-US" sz="1400">
              <a:solidFill>
                <a:schemeClr val="tx2"/>
              </a:solidFill>
              <a:latin typeface="Lucida Sans Typewriter" pitchFamily="49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2327275" y="168276"/>
            <a:ext cx="7399338" cy="1012825"/>
          </a:xfrm>
          <a:noFill/>
        </p:spPr>
        <p:txBody>
          <a:bodyPr/>
          <a:lstStyle/>
          <a:p>
            <a:pPr eaLnBrk="1" hangingPunct="1"/>
            <a:r>
              <a:rPr lang="en-US" dirty="0"/>
              <a:t>Output Parameters and Return Values</a:t>
            </a:r>
          </a:p>
        </p:txBody>
      </p:sp>
      <p:sp>
        <p:nvSpPr>
          <p:cNvPr id="368660" name="AutoShape 20"/>
          <p:cNvSpPr>
            <a:spLocks noChangeArrowheads="1"/>
          </p:cNvSpPr>
          <p:nvPr/>
        </p:nvSpPr>
        <p:spPr bwMode="auto">
          <a:xfrm>
            <a:off x="2517775" y="1462089"/>
            <a:ext cx="7031038" cy="2955925"/>
          </a:xfrm>
          <a:prstGeom prst="roundRect">
            <a:avLst>
              <a:gd name="adj" fmla="val 7093"/>
            </a:avLst>
          </a:prstGeom>
          <a:solidFill>
            <a:srgbClr val="F6F7EB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tIns="91440" bIns="91440" anchor="ctr"/>
          <a:lstStyle/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CREATE PROC </a:t>
            </a:r>
            <a:r>
              <a:rPr lang="en-US" sz="1400" dirty="0" err="1">
                <a:solidFill>
                  <a:schemeClr val="tx2"/>
                </a:solidFill>
                <a:latin typeface="Lucida Sans Typewriter" pitchFamily="49" charset="0"/>
              </a:rPr>
              <a:t>HumanResources.AddDepartment</a:t>
            </a:r>
            <a:endParaRPr lang="en-US" sz="1400" dirty="0">
              <a:solidFill>
                <a:schemeClr val="tx2"/>
              </a:solidFill>
              <a:latin typeface="Lucida Sans Typewriter" pitchFamily="49" charset="0"/>
            </a:endParaRP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  @Name </a:t>
            </a:r>
            <a:r>
              <a:rPr lang="en-US" sz="1400" dirty="0" err="1">
                <a:solidFill>
                  <a:schemeClr val="tx2"/>
                </a:solidFill>
                <a:latin typeface="Lucida Sans Typewriter" pitchFamily="49" charset="0"/>
              </a:rPr>
              <a:t>nvarchar</a:t>
            </a: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(50), @</a:t>
            </a:r>
            <a:r>
              <a:rPr lang="en-US" sz="1400" dirty="0" err="1">
                <a:solidFill>
                  <a:schemeClr val="tx2"/>
                </a:solidFill>
                <a:latin typeface="Lucida Sans Typewriter" pitchFamily="49" charset="0"/>
              </a:rPr>
              <a:t>GroupName</a:t>
            </a: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Lucida Sans Typewriter" pitchFamily="49" charset="0"/>
              </a:rPr>
              <a:t>nvarchar</a:t>
            </a: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(50),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  @</a:t>
            </a:r>
            <a:r>
              <a:rPr lang="en-US" sz="1400" dirty="0" err="1">
                <a:solidFill>
                  <a:schemeClr val="tx2"/>
                </a:solidFill>
                <a:latin typeface="Lucida Sans Typewriter" pitchFamily="49" charset="0"/>
              </a:rPr>
              <a:t>DeptID</a:t>
            </a: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Lucida Sans Typewriter" pitchFamily="49" charset="0"/>
              </a:rPr>
              <a:t>smallint</a:t>
            </a: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 OUTPUT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AS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IF ((@Name = '') OR (@</a:t>
            </a:r>
            <a:r>
              <a:rPr lang="en-US" sz="1400" dirty="0" err="1">
                <a:solidFill>
                  <a:schemeClr val="tx2"/>
                </a:solidFill>
                <a:latin typeface="Lucida Sans Typewriter" pitchFamily="49" charset="0"/>
              </a:rPr>
              <a:t>GroupName</a:t>
            </a: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 = ''))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  RETURN -1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endParaRPr lang="en-US" sz="1400" dirty="0">
              <a:solidFill>
                <a:schemeClr val="tx2"/>
              </a:solidFill>
              <a:latin typeface="Lucida Sans Typewriter" pitchFamily="49" charset="0"/>
            </a:endParaRP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INSERT INTO </a:t>
            </a:r>
            <a:r>
              <a:rPr lang="en-US" sz="1400" dirty="0" err="1">
                <a:solidFill>
                  <a:schemeClr val="tx2"/>
                </a:solidFill>
                <a:latin typeface="Lucida Sans Typewriter" pitchFamily="49" charset="0"/>
              </a:rPr>
              <a:t>HumanResources.Department</a:t>
            </a: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 (Name, </a:t>
            </a:r>
            <a:r>
              <a:rPr lang="en-US" sz="1400" dirty="0" err="1">
                <a:solidFill>
                  <a:schemeClr val="tx2"/>
                </a:solidFill>
                <a:latin typeface="Lucida Sans Typewriter" pitchFamily="49" charset="0"/>
              </a:rPr>
              <a:t>GroupName</a:t>
            </a: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)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VALUES	(@Name, @</a:t>
            </a:r>
            <a:r>
              <a:rPr lang="en-US" sz="1400" dirty="0" err="1">
                <a:solidFill>
                  <a:schemeClr val="tx2"/>
                </a:solidFill>
                <a:latin typeface="Lucida Sans Typewriter" pitchFamily="49" charset="0"/>
              </a:rPr>
              <a:t>GroupName</a:t>
            </a: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)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endParaRPr lang="en-US" sz="1400" dirty="0">
              <a:solidFill>
                <a:schemeClr val="tx2"/>
              </a:solidFill>
              <a:latin typeface="Lucida Sans Typewriter" pitchFamily="49" charset="0"/>
            </a:endParaRP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SET @</a:t>
            </a:r>
            <a:r>
              <a:rPr lang="en-US" sz="1400" dirty="0" err="1">
                <a:solidFill>
                  <a:schemeClr val="tx2"/>
                </a:solidFill>
                <a:latin typeface="Lucida Sans Typewriter" pitchFamily="49" charset="0"/>
              </a:rPr>
              <a:t>DeptID</a:t>
            </a: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 = SCOPE_IDENTITY()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 dirty="0">
                <a:solidFill>
                  <a:schemeClr val="tx2"/>
                </a:solidFill>
                <a:latin typeface="Lucida Sans Typewriter" pitchFamily="49" charset="0"/>
              </a:rPr>
              <a:t>RETURN 0</a:t>
            </a:r>
          </a:p>
        </p:txBody>
      </p:sp>
      <p:sp>
        <p:nvSpPr>
          <p:cNvPr id="368674" name="AutoShape 34"/>
          <p:cNvSpPr>
            <a:spLocks noChangeArrowheads="1"/>
          </p:cNvSpPr>
          <p:nvPr/>
        </p:nvSpPr>
        <p:spPr bwMode="auto">
          <a:xfrm>
            <a:off x="2517775" y="4556126"/>
            <a:ext cx="7029450" cy="1439863"/>
          </a:xfrm>
          <a:prstGeom prst="roundRect">
            <a:avLst>
              <a:gd name="adj" fmla="val 7093"/>
            </a:avLst>
          </a:prstGeom>
          <a:solidFill>
            <a:srgbClr val="F6F7EB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tIns="91440" bIns="91440" anchor="ctr"/>
          <a:lstStyle/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>
                <a:solidFill>
                  <a:schemeClr val="tx2"/>
                </a:solidFill>
                <a:latin typeface="Lucida Sans Typewriter" pitchFamily="49" charset="0"/>
              </a:rPr>
              <a:t>DECLARE @dept int, @result int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>
                <a:solidFill>
                  <a:schemeClr val="tx2"/>
                </a:solidFill>
                <a:latin typeface="Lucida Sans Typewriter" pitchFamily="49" charset="0"/>
              </a:rPr>
              <a:t>EXEC @result = AddDepartment 'Refunds', '', @dept OUTPUT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>
                <a:solidFill>
                  <a:schemeClr val="tx2"/>
                </a:solidFill>
                <a:latin typeface="Lucida Sans Typewriter" pitchFamily="49" charset="0"/>
              </a:rPr>
              <a:t>IF (@result = 0)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>
                <a:solidFill>
                  <a:schemeClr val="tx2"/>
                </a:solidFill>
                <a:latin typeface="Lucida Sans Typewriter" pitchFamily="49" charset="0"/>
              </a:rPr>
              <a:t>	SELECT @deptID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>
                <a:solidFill>
                  <a:schemeClr val="tx2"/>
                </a:solidFill>
                <a:latin typeface="Lucida Sans Typewriter" pitchFamily="49" charset="0"/>
              </a:rPr>
              <a:t>ELSE</a:t>
            </a:r>
          </a:p>
          <a:p>
            <a:pPr marL="290513" indent="-290513" defTabSz="457200">
              <a:lnSpc>
                <a:spcPct val="90000"/>
              </a:lnSpc>
              <a:buClr>
                <a:srgbClr val="DC0081"/>
              </a:buClr>
            </a:pPr>
            <a:r>
              <a:rPr lang="en-US" sz="1400">
                <a:solidFill>
                  <a:schemeClr val="tx2"/>
                </a:solidFill>
                <a:latin typeface="Lucida Sans Typewriter" pitchFamily="49" charset="0"/>
              </a:rPr>
              <a:t>	SELECT 'Error during insert'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0" grpId="0" animBg="1"/>
      <p:bldP spid="36867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>
                <a:solidFill>
                  <a:srgbClr val="003366"/>
                </a:solidFill>
              </a:rPr>
              <a:t>Summary of Main Teaching Points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2011364" y="1697038"/>
            <a:ext cx="8402637" cy="4525962"/>
          </a:xfrm>
        </p:spPr>
        <p:txBody>
          <a:bodyPr/>
          <a:lstStyle/>
          <a:p>
            <a:pPr eaLnBrk="1" hangingPunct="1"/>
            <a:r>
              <a:rPr lang="en-US" sz="2800">
                <a:latin typeface="Times New Roman" pitchFamily="18" charset="0"/>
                <a:cs typeface="Times New Roman" pitchFamily="18" charset="0"/>
              </a:rPr>
              <a:t>Stored procedures definition.</a:t>
            </a:r>
          </a:p>
          <a:p>
            <a:pPr eaLnBrk="1" hangingPunct="1"/>
            <a:r>
              <a:rPr lang="en-US" sz="2800">
                <a:latin typeface="Times New Roman" pitchFamily="18" charset="0"/>
                <a:cs typeface="Times New Roman" pitchFamily="18" charset="0"/>
              </a:rPr>
              <a:t>How to create and execute a simple stored procedures.</a:t>
            </a:r>
          </a:p>
          <a:p>
            <a:pPr eaLnBrk="1" hangingPunct="1"/>
            <a:r>
              <a:rPr lang="en-US" sz="2800">
                <a:latin typeface="Times New Roman" pitchFamily="18" charset="0"/>
                <a:cs typeface="Times New Roman" pitchFamily="18" charset="0"/>
              </a:rPr>
              <a:t>How to create and execute a parameterized stored procedures.</a:t>
            </a:r>
          </a:p>
          <a:p>
            <a:pPr eaLnBrk="1" hangingPunct="1"/>
            <a:r>
              <a:rPr lang="en-US" sz="2800">
                <a:latin typeface="Times New Roman" pitchFamily="18" charset="0"/>
                <a:cs typeface="Times New Roman" pitchFamily="18" charset="0"/>
              </a:rPr>
              <a:t>How to modify and remove existing stored procedures.</a:t>
            </a:r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solidFill>
                  <a:srgbClr val="003366"/>
                </a:solidFill>
              </a:rPr>
              <a:t>Question and Answer Session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9600" b="1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sz="9600" b="1"/>
              <a:t>Q &amp; A</a:t>
            </a:r>
          </a:p>
          <a:p>
            <a:pPr eaLnBrk="1" hangingPunct="1"/>
            <a:endParaRPr lang="en-US"/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b="1"/>
              <a:t>Next Lesson</a:t>
            </a:r>
            <a:endParaRPr lang="en-US" b="1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Implementing Triggers</a:t>
            </a:r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APU-2023">
      <a:dk1>
        <a:srgbClr val="082F50"/>
      </a:dk1>
      <a:lt1>
        <a:srgbClr val="FFFFFF"/>
      </a:lt1>
      <a:dk2>
        <a:srgbClr val="0070C0"/>
      </a:dk2>
      <a:lt2>
        <a:srgbClr val="C0F9FC"/>
      </a:lt2>
      <a:accent1>
        <a:srgbClr val="00B0F0"/>
      </a:accent1>
      <a:accent2>
        <a:srgbClr val="079244"/>
      </a:accent2>
      <a:accent3>
        <a:srgbClr val="E02C32"/>
      </a:accent3>
      <a:accent4>
        <a:srgbClr val="45D7EA"/>
      </a:accent4>
      <a:accent5>
        <a:srgbClr val="FAC41B"/>
      </a:accent5>
      <a:accent6>
        <a:srgbClr val="082F50"/>
      </a:accent6>
      <a:hlink>
        <a:srgbClr val="9AB1D0"/>
      </a:hlink>
      <a:folHlink>
        <a:srgbClr val="0D3358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PU-2023">
      <a:dk1>
        <a:srgbClr val="081929"/>
      </a:dk1>
      <a:lt1>
        <a:srgbClr val="FFFFFF"/>
      </a:lt1>
      <a:dk2>
        <a:srgbClr val="0070C0"/>
      </a:dk2>
      <a:lt2>
        <a:srgbClr val="FFFFFF"/>
      </a:lt2>
      <a:accent1>
        <a:srgbClr val="00B0F0"/>
      </a:accent1>
      <a:accent2>
        <a:srgbClr val="99CC00"/>
      </a:accent2>
      <a:accent3>
        <a:srgbClr val="FF9966"/>
      </a:accent3>
      <a:accent4>
        <a:srgbClr val="45D7EA"/>
      </a:accent4>
      <a:accent5>
        <a:srgbClr val="CC66FF"/>
      </a:accent5>
      <a:accent6>
        <a:srgbClr val="FCE456"/>
      </a:accent6>
      <a:hlink>
        <a:srgbClr val="B7C6FE"/>
      </a:hlink>
      <a:folHlink>
        <a:srgbClr val="00B0F0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C09830CF6CB84B8D12D02B69700FAF" ma:contentTypeVersion="14" ma:contentTypeDescription="Create a new document." ma:contentTypeScope="" ma:versionID="91bb3fc2fda44f6dca498e4986d3c34f">
  <xsd:schema xmlns:xsd="http://www.w3.org/2001/XMLSchema" xmlns:xs="http://www.w3.org/2001/XMLSchema" xmlns:p="http://schemas.microsoft.com/office/2006/metadata/properties" xmlns:ns3="c0f90a4e-2534-4174-991f-0eb794d5b859" xmlns:ns4="d2981e9c-0c44-4237-a41f-50944ddb2e5d" targetNamespace="http://schemas.microsoft.com/office/2006/metadata/properties" ma:root="true" ma:fieldsID="d346f1bbf5bc0d23fe733b73729b7857" ns3:_="" ns4:_="">
    <xsd:import namespace="c0f90a4e-2534-4174-991f-0eb794d5b859"/>
    <xsd:import namespace="d2981e9c-0c44-4237-a41f-50944ddb2e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90a4e-2534-4174-991f-0eb794d5b8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981e9c-0c44-4237-a41f-50944ddb2e5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D3909F-E191-4C23-B23C-BA46B5ADDDA2}">
  <ds:schemaRefs>
    <ds:schemaRef ds:uri="http://purl.org/dc/terms/"/>
    <ds:schemaRef ds:uri="http://schemas.microsoft.com/office/2006/documentManagement/types"/>
    <ds:schemaRef ds:uri="d2981e9c-0c44-4237-a41f-50944ddb2e5d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90a4e-2534-4174-991f-0eb794d5b859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374C82B-844E-4C6D-B41E-036AD4E59A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6039F5-814C-4C5B-A6B0-438D9C48F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f90a4e-2534-4174-991f-0eb794d5b859"/>
    <ds:schemaRef ds:uri="d2981e9c-0c44-4237-a41f-50944ddb2e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1420</TotalTime>
  <Pages>11</Pages>
  <Words>1082</Words>
  <Application>Microsoft Office PowerPoint</Application>
  <PresentationFormat>Widescreen</PresentationFormat>
  <Paragraphs>164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Lucida Sans Typewriter</vt:lpstr>
      <vt:lpstr>Montserrat</vt:lpstr>
      <vt:lpstr>PT Sans</vt:lpstr>
      <vt:lpstr>Times New Roman</vt:lpstr>
      <vt:lpstr>Wingdings</vt:lpstr>
      <vt:lpstr>UCTI-Template-foundation-level</vt:lpstr>
      <vt:lpstr>CT004-3.5-3  Advanced Database Systems</vt:lpstr>
      <vt:lpstr>Topic &amp; Structure of Lesson</vt:lpstr>
      <vt:lpstr>Learning Outcomes</vt:lpstr>
      <vt:lpstr>What Is a Stored Procedure?</vt:lpstr>
      <vt:lpstr>Advantages of Using Stored Procedures</vt:lpstr>
      <vt:lpstr>Advantages of Using Stored Procedures</vt:lpstr>
      <vt:lpstr>Syntax for Creating Stored Procedures</vt:lpstr>
      <vt:lpstr>Example for Creating Stored Procedures</vt:lpstr>
      <vt:lpstr>Guidelines for Creating Stored Procedures</vt:lpstr>
      <vt:lpstr>Syntax for Altering and Dropping Stored Procedures</vt:lpstr>
      <vt:lpstr>Creating Parameterized Stored Procedures</vt:lpstr>
      <vt:lpstr>Creating Parameterized Stored Procedures</vt:lpstr>
      <vt:lpstr>Input Parameters</vt:lpstr>
      <vt:lpstr>Output Parameters and Return Values</vt:lpstr>
      <vt:lpstr>Summary of Main Teaching Points</vt:lpstr>
      <vt:lpstr>Question and Answer Session</vt:lpstr>
      <vt:lpstr>Next Lesson</vt:lpstr>
    </vt:vector>
  </TitlesOfParts>
  <Company>APU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Teaching Slides</dc:subject>
  <dc:creator>DBB</dc:creator>
  <cp:keywords>2023</cp:keywords>
  <cp:lastModifiedBy>Lai Chew Ping</cp:lastModifiedBy>
  <cp:revision>332</cp:revision>
  <cp:lastPrinted>2023-02-03T03:07:34Z</cp:lastPrinted>
  <dcterms:created xsi:type="dcterms:W3CDTF">2005-08-02T10:18:20Z</dcterms:created>
  <dcterms:modified xsi:type="dcterms:W3CDTF">2024-01-22T07:03:23Z</dcterms:modified>
  <cp:category>Teaching Slides</cp:category>
  <cp:contentStatus>2023 Version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0x01010050C09830CF6CB84B8D12D02B69700FAF</vt:lpwstr>
  </property>
</Properties>
</file>