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2" r:id="rId22"/>
    <p:sldId id="283" r:id="rId23"/>
    <p:sldId id="284" r:id="rId24"/>
    <p:sldId id="285" r:id="rId25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857250"/>
            <a:ext cx="4556125" cy="34178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738" y="4635419"/>
            <a:ext cx="4975225" cy="4119313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0488" tIns="44450" rIns="90488" bIns="4445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70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54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54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 </a:t>
            </a:r>
          </a:p>
          <a:p>
            <a:r>
              <a:rPr lang="en-US" dirty="0"/>
              <a:t>542 | Chapter 19 z Security</a:t>
            </a:r>
          </a:p>
          <a:p>
            <a:r>
              <a:rPr lang="en-US" dirty="0"/>
              <a:t>19.1</a:t>
            </a:r>
          </a:p>
          <a:p>
            <a:r>
              <a:rPr lang="en-US" dirty="0"/>
              <a:t>In Section 19.1 we discuss the scope of database security and examine the types of threat</a:t>
            </a:r>
          </a:p>
          <a:p>
            <a:r>
              <a:rPr lang="en-US" dirty="0"/>
              <a:t>that may affect computer systems in general. In Section 19.2 we consider the range of</a:t>
            </a:r>
          </a:p>
          <a:p>
            <a:r>
              <a:rPr lang="en-US" dirty="0"/>
              <a:t>computer-based controls that are available as countermeasures to these threats. In Sec-</a:t>
            </a:r>
          </a:p>
          <a:p>
            <a:r>
              <a:rPr lang="en-US" dirty="0" err="1"/>
              <a:t>tions</a:t>
            </a:r>
            <a:r>
              <a:rPr lang="en-US" dirty="0"/>
              <a:t>  19.3  and  19.4  we  describe  the  security  measures  provided  by  Microsoft  </a:t>
            </a:r>
            <a:r>
              <a:rPr lang="en-US" dirty="0" err="1"/>
              <a:t>Ofﬁce</a:t>
            </a:r>
            <a:endParaRPr lang="en-US" dirty="0"/>
          </a:p>
          <a:p>
            <a:r>
              <a:rPr lang="en-US" dirty="0"/>
              <a:t>Access  2003  DBMS  and  Oracle9i DBMS.  In  Section  19.5  we  identify  the  security </a:t>
            </a:r>
          </a:p>
          <a:p>
            <a:r>
              <a:rPr lang="en-US" dirty="0"/>
              <a:t>measures associated with DBMSs and the Web. The examples used throughout this chapter</a:t>
            </a:r>
          </a:p>
          <a:p>
            <a:r>
              <a:rPr lang="en-US" dirty="0"/>
              <a:t>are taken from the </a:t>
            </a:r>
            <a:r>
              <a:rPr lang="en-US" dirty="0" err="1"/>
              <a:t>DreamHome</a:t>
            </a:r>
            <a:r>
              <a:rPr lang="en-US" dirty="0"/>
              <a:t> case study described in Section 10.4 and Appendix A.</a:t>
            </a:r>
          </a:p>
          <a:p>
            <a:r>
              <a:rPr lang="en-US" dirty="0"/>
              <a:t>Database Security</a:t>
            </a:r>
          </a:p>
          <a:p>
            <a:r>
              <a:rPr lang="en-US" dirty="0"/>
              <a:t>In this section we describe the scope of database security and discuss why organizations</a:t>
            </a:r>
          </a:p>
          <a:p>
            <a:r>
              <a:rPr lang="en-US" dirty="0"/>
              <a:t>must take potential threats to their computer systems seriously. We also identify the range</a:t>
            </a:r>
          </a:p>
          <a:p>
            <a:r>
              <a:rPr lang="en-US" dirty="0"/>
              <a:t>of threats and their consequences on computer systems.</a:t>
            </a:r>
          </a:p>
          <a:p>
            <a:r>
              <a:rPr lang="en-US" dirty="0"/>
              <a:t>Database The mechanisms that protect the database against intentional or </a:t>
            </a:r>
            <a:r>
              <a:rPr lang="en-US" dirty="0" err="1"/>
              <a:t>acci</a:t>
            </a:r>
            <a:r>
              <a:rPr lang="en-US" dirty="0"/>
              <a:t>-</a:t>
            </a:r>
          </a:p>
          <a:p>
            <a:r>
              <a:rPr lang="en-US" dirty="0"/>
              <a:t>security dental threats.</a:t>
            </a:r>
          </a:p>
          <a:p>
            <a:r>
              <a:rPr lang="en-US" dirty="0"/>
              <a:t>Security  considerations  apply  not  only  to  the  data  held  in  a  database:  breaches  of </a:t>
            </a:r>
          </a:p>
          <a:p>
            <a:r>
              <a:rPr lang="en-US" dirty="0"/>
              <a:t>security  may  affect  other  parts  of  the  system,  which  may  in  turn  affect  the  database.</a:t>
            </a:r>
          </a:p>
          <a:p>
            <a:r>
              <a:rPr lang="en-US" dirty="0"/>
              <a:t>Consequently, database security encompasses hardware, software, people, and data. To</a:t>
            </a:r>
          </a:p>
          <a:p>
            <a:r>
              <a:rPr lang="en-US" dirty="0"/>
              <a:t>effectively implement security requires appropriate controls, which are </a:t>
            </a:r>
            <a:r>
              <a:rPr lang="en-US" dirty="0" err="1"/>
              <a:t>deﬁned</a:t>
            </a:r>
            <a:r>
              <a:rPr lang="en-US" dirty="0"/>
              <a:t> in </a:t>
            </a:r>
            <a:r>
              <a:rPr lang="en-US" dirty="0" err="1"/>
              <a:t>speciﬁc</a:t>
            </a:r>
            <a:endParaRPr lang="en-US" dirty="0"/>
          </a:p>
          <a:p>
            <a:r>
              <a:rPr lang="en-US" dirty="0"/>
              <a:t>mission  objectives  for  the  system.  This  need  for  security,  while  often  having  been</a:t>
            </a:r>
          </a:p>
          <a:p>
            <a:r>
              <a:rPr lang="en-US" dirty="0"/>
              <a:t>neglected or overlooked in the past, is now increasingly recognized by organizations. The</a:t>
            </a:r>
          </a:p>
          <a:p>
            <a:r>
              <a:rPr lang="en-US" dirty="0"/>
              <a:t>reason for this turnaround is the increasing amounts of crucial corporate data being stored</a:t>
            </a:r>
          </a:p>
          <a:p>
            <a:r>
              <a:rPr lang="en-US" dirty="0"/>
              <a:t>on computer and the acceptance that any loss or unavailability of this data could prove to</a:t>
            </a:r>
          </a:p>
          <a:p>
            <a:r>
              <a:rPr lang="en-US" dirty="0"/>
              <a:t>be disastrous.</a:t>
            </a:r>
          </a:p>
          <a:p>
            <a:r>
              <a:rPr lang="en-US" dirty="0"/>
              <a:t>A database represents an essential corporate resource that should be properly secured</a:t>
            </a:r>
          </a:p>
          <a:p>
            <a:r>
              <a:rPr lang="en-US" dirty="0"/>
              <a:t>using  appropriate  controls.  We  consider  database  security  in  relation  to  the  following </a:t>
            </a:r>
          </a:p>
          <a:p>
            <a:r>
              <a:rPr lang="en-US" dirty="0"/>
              <a:t>situations:</a:t>
            </a:r>
          </a:p>
          <a:p>
            <a:r>
              <a:rPr lang="en-US" dirty="0"/>
              <a:t>n theft and fraud;</a:t>
            </a:r>
          </a:p>
          <a:p>
            <a:r>
              <a:rPr lang="en-US" dirty="0"/>
              <a:t>n loss of </a:t>
            </a:r>
            <a:r>
              <a:rPr lang="en-US" dirty="0" err="1"/>
              <a:t>conﬁdentiality</a:t>
            </a:r>
            <a:r>
              <a:rPr lang="en-US" dirty="0"/>
              <a:t> (secrecy);</a:t>
            </a:r>
          </a:p>
          <a:p>
            <a:r>
              <a:rPr lang="en-US" dirty="0"/>
              <a:t>n loss of privacy;</a:t>
            </a:r>
          </a:p>
          <a:p>
            <a:r>
              <a:rPr lang="en-US" dirty="0"/>
              <a:t>n loss of integrity;</a:t>
            </a:r>
          </a:p>
          <a:p>
            <a:r>
              <a:rPr lang="en-US" dirty="0"/>
              <a:t>n loss of availability.</a:t>
            </a:r>
          </a:p>
          <a:p>
            <a:r>
              <a:rPr lang="en-US" dirty="0"/>
              <a:t>These situations broadly represent areas in which the organization should seek to reduce </a:t>
            </a:r>
          </a:p>
          <a:p>
            <a:r>
              <a:rPr lang="en-US" dirty="0"/>
              <a:t>risk, that is the possibility of incurring loss or damage. In some situations, these areas are</a:t>
            </a:r>
          </a:p>
          <a:p>
            <a:r>
              <a:rPr lang="en-US" dirty="0"/>
              <a:t>closely related such that an activity that leads to loss in one area may also lead to loss in</a:t>
            </a:r>
          </a:p>
          <a:p>
            <a:r>
              <a:rPr lang="en-US" dirty="0"/>
              <a:t>another. In addition, events such as fraud or loss of privacy may arise because of either</a:t>
            </a:r>
          </a:p>
          <a:p>
            <a:r>
              <a:rPr lang="en-US" dirty="0"/>
              <a:t>intentional or unintentional acts, and do not necessarily result in any detectable changes to</a:t>
            </a:r>
          </a:p>
          <a:p>
            <a:r>
              <a:rPr lang="en-US" dirty="0"/>
              <a:t>the database or the computer system.</a:t>
            </a:r>
          </a:p>
          <a:p>
            <a:r>
              <a:rPr lang="en-US" dirty="0"/>
              <a:t>Theft and fraud affect not only the database environment but also the entire </a:t>
            </a:r>
            <a:r>
              <a:rPr lang="en-US" dirty="0" err="1"/>
              <a:t>organiza</a:t>
            </a:r>
            <a:r>
              <a:rPr lang="en-US" dirty="0"/>
              <a:t>-</a:t>
            </a:r>
          </a:p>
          <a:p>
            <a:r>
              <a:rPr lang="en-US" dirty="0" err="1"/>
              <a:t>tion</a:t>
            </a:r>
            <a:r>
              <a:rPr lang="en-US" dirty="0"/>
              <a:t>. As it is people who perpetrate such activities, attention should focus on reducing the</a:t>
            </a:r>
          </a:p>
          <a:p>
            <a:r>
              <a:rPr lang="en-US" dirty="0"/>
              <a:t>opportunities for this occurring. Theft and fraud do not necessarily alter data, as is the case</a:t>
            </a:r>
          </a:p>
          <a:p>
            <a:r>
              <a:rPr lang="en-US" dirty="0"/>
              <a:t>for activities that result in either loss of </a:t>
            </a:r>
            <a:r>
              <a:rPr lang="en-US" dirty="0" err="1"/>
              <a:t>conﬁdentiality</a:t>
            </a:r>
            <a:r>
              <a:rPr lang="en-US" dirty="0"/>
              <a:t> or loss of privacy.</a:t>
            </a:r>
          </a:p>
          <a:p>
            <a:r>
              <a:rPr lang="en-US" dirty="0" err="1"/>
              <a:t>Conﬁdentiality</a:t>
            </a:r>
            <a:r>
              <a:rPr lang="en-US" dirty="0"/>
              <a:t> refers to the need to maintain secrecy over data, usually only that which</a:t>
            </a:r>
          </a:p>
          <a:p>
            <a:r>
              <a:rPr lang="en-US" dirty="0"/>
              <a:t>is critical to the organization, whereas privacy refers to the need to protect data about in-</a:t>
            </a:r>
          </a:p>
          <a:p>
            <a:r>
              <a:rPr lang="en-US" dirty="0" err="1"/>
              <a:t>dividuals</a:t>
            </a:r>
            <a:r>
              <a:rPr lang="en-US" dirty="0"/>
              <a:t>. Breaches of security resulting in loss of </a:t>
            </a:r>
            <a:r>
              <a:rPr lang="en-US" dirty="0" err="1"/>
              <a:t>conﬁdentiality</a:t>
            </a:r>
            <a:r>
              <a:rPr lang="en-US" dirty="0"/>
              <a:t> could, for instance, lead</a:t>
            </a:r>
          </a:p>
          <a:p>
            <a:r>
              <a:rPr lang="en-US" dirty="0"/>
              <a:t>to  loss  of  competitiveness,  and  loss  of  privacy  could  lead  to  legal  action  being  taken</a:t>
            </a:r>
          </a:p>
          <a:p>
            <a:r>
              <a:rPr lang="en-US" dirty="0"/>
              <a:t>against the organization.</a:t>
            </a:r>
          </a:p>
          <a:p>
            <a:r>
              <a:rPr lang="en-US" dirty="0"/>
              <a:t>Loss of data integrity results in invalid or corrupted data, which may seriously affect the</a:t>
            </a:r>
          </a:p>
          <a:p>
            <a:r>
              <a:rPr lang="en-US" dirty="0"/>
              <a:t>operation of an organization. Many organizations are now seeking virtually continuous</a:t>
            </a:r>
          </a:p>
          <a:p>
            <a:r>
              <a:rPr lang="en-US" dirty="0"/>
              <a:t>operation, the so-called 24/7 availability (that is, 24 hours a day, 7 days a week). Loss </a:t>
            </a:r>
          </a:p>
          <a:p>
            <a:r>
              <a:rPr lang="en-US" dirty="0"/>
              <a:t>of availability means that the data, or the system, or both cannot be accessed, which can</a:t>
            </a:r>
          </a:p>
          <a:p>
            <a:r>
              <a:rPr lang="en-US" dirty="0"/>
              <a:t>seriously affect an organization’s </a:t>
            </a:r>
            <a:r>
              <a:rPr lang="en-US" dirty="0" err="1"/>
              <a:t>ﬁnancial</a:t>
            </a:r>
            <a:r>
              <a:rPr lang="en-US" dirty="0"/>
              <a:t> performance. In some cases, events that cause</a:t>
            </a:r>
          </a:p>
          <a:p>
            <a:r>
              <a:rPr lang="en-US" dirty="0"/>
              <a:t>a system to be unavailable may also cause data corruption.</a:t>
            </a:r>
          </a:p>
          <a:p>
            <a:r>
              <a:rPr lang="en-US" dirty="0"/>
              <a:t>Database  security  aims  to  minimize  losses  caused  by  anticipated  events  in  a  cost-</a:t>
            </a:r>
          </a:p>
          <a:p>
            <a:r>
              <a:rPr lang="en-US" dirty="0"/>
              <a:t>effective manner without unduly constraining the users. In recent times, computer-based</a:t>
            </a:r>
          </a:p>
          <a:p>
            <a:r>
              <a:rPr lang="en-US" dirty="0"/>
              <a:t>criminal activities have </a:t>
            </a:r>
            <a:r>
              <a:rPr lang="en-US" dirty="0" err="1"/>
              <a:t>signiﬁcantly</a:t>
            </a:r>
            <a:r>
              <a:rPr lang="en-US" dirty="0"/>
              <a:t> increased and are forecast to continue to rise over the next few years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3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9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49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72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96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1200" dirty="0"/>
              <a:t>SQL security is centered around three concepts or ideas:</a:t>
            </a:r>
          </a:p>
          <a:p>
            <a:r>
              <a:rPr lang="en-US" sz="1200" dirty="0"/>
              <a:t>❑ Users: Users, or more correctly user IDs, represent people or programs performing actions on</a:t>
            </a:r>
          </a:p>
          <a:p>
            <a:r>
              <a:rPr lang="en-US" sz="1200" dirty="0"/>
              <a:t>objects in the database. Whenever the DBMS creates a new table, inserts or deletes records in</a:t>
            </a:r>
          </a:p>
          <a:p>
            <a:r>
              <a:rPr lang="en-US" sz="1200" dirty="0"/>
              <a:t>that table, or modifies the records in that table, it does so on behalf of a user ID. The DBMS</a:t>
            </a:r>
          </a:p>
          <a:p>
            <a:r>
              <a:rPr lang="en-US" sz="1200" dirty="0"/>
              <a:t>grants user IDs privileges to perform specific actions on specific tables.</a:t>
            </a:r>
          </a:p>
          <a:p>
            <a:r>
              <a:rPr lang="en-US" sz="1200" dirty="0"/>
              <a:t>❑ Objects: The SQL standards define specific objects in the database that users can manipulate.</a:t>
            </a:r>
          </a:p>
          <a:p>
            <a:r>
              <a:rPr lang="en-US" sz="1200" dirty="0"/>
              <a:t>Originally the only objects were tables and views, but the standard has been expanded to</a:t>
            </a:r>
          </a:p>
          <a:p>
            <a:r>
              <a:rPr lang="en-US" sz="1200" dirty="0"/>
              <a:t>include specific columns in tables as well as domains and character sets, and the individual</a:t>
            </a:r>
          </a:p>
          <a:p>
            <a:r>
              <a:rPr lang="en-US" sz="1200" dirty="0"/>
              <a:t>DBMS often adds its own objects that it allows users to manipulate.</a:t>
            </a:r>
          </a:p>
          <a:p>
            <a:r>
              <a:rPr lang="en-US" sz="1200" dirty="0"/>
              <a:t>❑ Privileges: The third leg of SQL security comprises privileges that allow users to manipulate</a:t>
            </a:r>
          </a:p>
          <a:p>
            <a:r>
              <a:rPr lang="en-US" sz="1200" dirty="0"/>
              <a:t>objects. These privileges start with SELECT, INSERT, DELETE, and UPDATE for tables and views</a:t>
            </a:r>
          </a:p>
          <a:p>
            <a:r>
              <a:rPr lang="en-US" sz="1200" dirty="0"/>
              <a:t>but have been expanded to include privileges appropriate to non-data objects.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930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69863" y="733425"/>
            <a:ext cx="6518275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45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69863" y="733425"/>
            <a:ext cx="6518275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92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69863" y="733425"/>
            <a:ext cx="6518275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32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758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768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84250" y="733425"/>
            <a:ext cx="4889500" cy="366712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644947"/>
            <a:ext cx="5486400" cy="439880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3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66700"/>
            <a:ext cx="10363200" cy="1104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80067" y="1676400"/>
            <a:ext cx="10303933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144000" y="61722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D88CEAE-0909-44FB-A733-17D219BFB18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288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  <p:sldLayoutId id="2147483759" r:id="rId4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38610" y="3563169"/>
            <a:ext cx="6913767" cy="1752600"/>
          </a:xfrm>
        </p:spPr>
        <p:txBody>
          <a:bodyPr/>
          <a:lstStyle/>
          <a:p>
            <a:pPr eaLnBrk="1" hangingPunct="1"/>
            <a:r>
              <a:rPr lang="en-US" dirty="0"/>
              <a:t>Database Security</a:t>
            </a:r>
          </a:p>
          <a:p>
            <a:pPr eaLnBrk="1" hangingPunct="1"/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3726375" y="1824807"/>
            <a:ext cx="6754812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CT004-3.5-3 </a:t>
            </a:r>
            <a:b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600" kern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Advanced Database Systems</a:t>
            </a:r>
            <a:endParaRPr lang="en-MY" sz="3600" kern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advTm="187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1" y="266700"/>
            <a:ext cx="8367713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800" dirty="0"/>
              <a:t>Scope of database security.</a:t>
            </a:r>
          </a:p>
          <a:p>
            <a:r>
              <a:rPr lang="en-GB" sz="2800" dirty="0"/>
              <a:t>Why database security is a serious concern for an organization.</a:t>
            </a:r>
          </a:p>
          <a:p>
            <a:r>
              <a:rPr lang="en-GB" sz="2800" dirty="0"/>
              <a:t>Type of threats that can affect a database system.</a:t>
            </a:r>
          </a:p>
          <a:p>
            <a:r>
              <a:rPr lang="en-US" sz="2800" dirty="0"/>
              <a:t>DISCRETIONARY ACCESS CONTROL (SQL security)</a:t>
            </a:r>
            <a:endParaRPr lang="en-GB" sz="2800" dirty="0"/>
          </a:p>
          <a:p>
            <a:endParaRPr lang="en-GB" sz="2800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Database Security 	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/>
              <a:t>Mechanisms that protect the database against intentional or accidental threats</a:t>
            </a:r>
            <a:r>
              <a:rPr lang="en-GB" sz="2800" dirty="0"/>
              <a:t>.</a:t>
            </a:r>
          </a:p>
          <a:p>
            <a:endParaRPr lang="en-GB" sz="28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3243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Database Security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382490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400" dirty="0"/>
              <a:t>Data is a valuable resource that must be strictly controlled and managed, as with any corporate resource. </a:t>
            </a:r>
          </a:p>
          <a:p>
            <a:endParaRPr lang="en-GB" sz="2400" dirty="0"/>
          </a:p>
          <a:p>
            <a:r>
              <a:rPr lang="en-GB" sz="2400" dirty="0"/>
              <a:t>Part or all of the corporate data may have strategic importance and therefore needs to be kept secure and confidential. </a:t>
            </a:r>
          </a:p>
          <a:p>
            <a:endParaRPr lang="en-GB" sz="2400" dirty="0"/>
          </a:p>
          <a:p>
            <a:r>
              <a:rPr lang="en-GB" sz="2400" dirty="0"/>
              <a:t>Security considerations do not only apply to the data held in a database. Breaches of security may affect other parts of the system, which may in turn affect the database. </a:t>
            </a:r>
          </a:p>
          <a:p>
            <a:endParaRPr lang="en-GB" sz="24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Database Security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76400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sz="2800" dirty="0"/>
              <a:t>Involves measures to avoid:</a:t>
            </a:r>
          </a:p>
          <a:p>
            <a:endParaRPr lang="en-GB" sz="2800" dirty="0"/>
          </a:p>
          <a:p>
            <a:pPr marL="342900" lvl="1" indent="-342900">
              <a:buClr>
                <a:srgbClr val="000000"/>
              </a:buClr>
              <a:buFontTx/>
              <a:buChar char="•"/>
            </a:pPr>
            <a:r>
              <a:rPr lang="en-GB" dirty="0">
                <a:ea typeface="+mn-ea"/>
                <a:cs typeface="+mn-cs"/>
              </a:rPr>
              <a:t>Theft and fraud</a:t>
            </a:r>
          </a:p>
          <a:p>
            <a:pPr marL="342900" lvl="1" indent="-342900">
              <a:buClr>
                <a:srgbClr val="000000"/>
              </a:buClr>
              <a:buFontTx/>
              <a:buChar char="•"/>
            </a:pPr>
            <a:r>
              <a:rPr lang="en-GB" dirty="0">
                <a:ea typeface="+mn-ea"/>
                <a:cs typeface="+mn-cs"/>
              </a:rPr>
              <a:t>Loss of confidentiality (secrecy)</a:t>
            </a:r>
          </a:p>
          <a:p>
            <a:pPr marL="342900" lvl="1" indent="-342900">
              <a:buClr>
                <a:srgbClr val="000000"/>
              </a:buClr>
              <a:buFontTx/>
              <a:buChar char="•"/>
            </a:pPr>
            <a:r>
              <a:rPr lang="en-GB" dirty="0">
                <a:ea typeface="+mn-ea"/>
                <a:cs typeface="+mn-cs"/>
              </a:rPr>
              <a:t>Loss of privacy</a:t>
            </a:r>
          </a:p>
          <a:p>
            <a:pPr marL="342900" lvl="1" indent="-342900">
              <a:buClr>
                <a:srgbClr val="000000"/>
              </a:buClr>
              <a:buFontTx/>
              <a:buChar char="•"/>
            </a:pPr>
            <a:r>
              <a:rPr lang="en-GB" dirty="0">
                <a:ea typeface="+mn-ea"/>
                <a:cs typeface="+mn-cs"/>
              </a:rPr>
              <a:t>Loss of integrity</a:t>
            </a:r>
          </a:p>
          <a:p>
            <a:pPr marL="342900" lvl="1" indent="-342900">
              <a:buClr>
                <a:srgbClr val="000000"/>
              </a:buClr>
              <a:buFontTx/>
              <a:buChar char="•"/>
            </a:pPr>
            <a:r>
              <a:rPr lang="en-GB" dirty="0">
                <a:ea typeface="+mn-ea"/>
                <a:cs typeface="+mn-cs"/>
              </a:rPr>
              <a:t>Loss of availability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Threat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2800" dirty="0"/>
          </a:p>
          <a:p>
            <a:pPr marL="342900" lvl="1" indent="-342900">
              <a:buChar char="•"/>
            </a:pPr>
            <a:r>
              <a:rPr lang="en-GB" dirty="0">
                <a:ea typeface="+mn-ea"/>
                <a:cs typeface="+mn-cs"/>
              </a:rPr>
              <a:t>Any situation or event, whether intentional or unintentional, that will negatively affect a system and consequently an organization.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threats and there effects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172200"/>
            <a:ext cx="1905000" cy="457200"/>
          </a:xfrm>
          <a:prstGeom prst="rect">
            <a:avLst/>
          </a:prstGeom>
        </p:spPr>
        <p:txBody>
          <a:bodyPr/>
          <a:lstStyle/>
          <a:p>
            <a:fld id="{E6DBBC86-5DAD-4DD0-B05B-D2EC42900F30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31788" y="1541453"/>
            <a:ext cx="8436178" cy="453171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172200"/>
            <a:ext cx="1905000" cy="457200"/>
          </a:xfrm>
          <a:prstGeom prst="rect">
            <a:avLst/>
          </a:prstGeom>
        </p:spPr>
        <p:txBody>
          <a:bodyPr/>
          <a:lstStyle/>
          <a:p>
            <a:fld id="{E6DBBC86-5DAD-4DD0-B05B-D2EC42900F30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9056" y="1045050"/>
            <a:ext cx="6691066" cy="5507109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915" y="231096"/>
            <a:ext cx="7163254" cy="1143000"/>
          </a:xfrm>
        </p:spPr>
        <p:txBody>
          <a:bodyPr/>
          <a:lstStyle/>
          <a:p>
            <a:r>
              <a:rPr lang="en-US" dirty="0"/>
              <a:t>Representation of a typical multi-user computer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172200"/>
            <a:ext cx="1905000" cy="457200"/>
          </a:xfrm>
          <a:prstGeom prst="rect">
            <a:avLst/>
          </a:prstGeom>
        </p:spPr>
        <p:txBody>
          <a:bodyPr/>
          <a:lstStyle/>
          <a:p>
            <a:fld id="{E6DBBC86-5DAD-4DD0-B05B-D2EC42900F30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2728" y="1409702"/>
            <a:ext cx="5734074" cy="4733942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/>
        </p:spPr>
      </p:pic>
      <p:cxnSp>
        <p:nvCxnSpPr>
          <p:cNvPr id="7" name="Straight Arrow Connector 6"/>
          <p:cNvCxnSpPr/>
          <p:nvPr/>
        </p:nvCxnSpPr>
        <p:spPr bwMode="auto">
          <a:xfrm rot="10800000" flipV="1">
            <a:off x="6810380" y="3786190"/>
            <a:ext cx="1357322" cy="64294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6894068" y="3230444"/>
            <a:ext cx="3806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SQL security</a:t>
            </a:r>
          </a:p>
          <a:p>
            <a:r>
              <a:rPr lang="en-US" sz="1600" dirty="0"/>
              <a:t>DISCRETIONARY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Authorization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2800" dirty="0"/>
              <a:t>Authorization: The granting of a right or privilege that enables a user to have legitimate access to a system or a system’s object.</a:t>
            </a:r>
          </a:p>
          <a:p>
            <a:endParaRPr lang="en-US" sz="2800" dirty="0"/>
          </a:p>
          <a:p>
            <a:r>
              <a:rPr lang="en-US" sz="2800" dirty="0"/>
              <a:t>Authentication: A mechanism that determines whether a user is who he or she claims to be.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83" name="Rectangle 1059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Database Security</a:t>
            </a: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idx="1"/>
          </p:nvPr>
        </p:nvSpPr>
        <p:spPr>
          <a:xfrm>
            <a:off x="2209800" y="1066800"/>
            <a:ext cx="7772400" cy="50292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dirty="0">
                <a:solidFill>
                  <a:schemeClr val="bg2"/>
                </a:solidFill>
              </a:rPr>
              <a:t>											</a:t>
            </a:r>
          </a:p>
          <a:p>
            <a:pPr>
              <a:buFont typeface="Monotype Sorts" pitchFamily="2" charset="2"/>
              <a:buNone/>
            </a:pPr>
            <a:r>
              <a:rPr lang="en-US" dirty="0">
                <a:solidFill>
                  <a:schemeClr val="bg2"/>
                </a:solidFill>
              </a:rPr>
              <a:t>				</a:t>
            </a:r>
            <a:r>
              <a:rPr lang="en-US" sz="1800" dirty="0">
                <a:solidFill>
                  <a:schemeClr val="bg2"/>
                </a:solidFill>
              </a:rPr>
              <a:t>Authorization Rules</a:t>
            </a:r>
            <a:r>
              <a:rPr lang="en-US" dirty="0">
                <a:solidFill>
                  <a:schemeClr val="bg2"/>
                </a:solidFill>
              </a:rPr>
              <a:t>																					</a:t>
            </a:r>
            <a:r>
              <a:rPr lang="en-US" sz="1800" dirty="0">
                <a:solidFill>
                  <a:schemeClr val="bg2"/>
                </a:solidFill>
              </a:rPr>
              <a:t>Authentication Access</a:t>
            </a:r>
          </a:p>
          <a:p>
            <a:pPr>
              <a:buFont typeface="Monotype Sorts" pitchFamily="2" charset="2"/>
              <a:buNone/>
            </a:pPr>
            <a:r>
              <a:rPr lang="en-US" sz="1800" dirty="0">
                <a:solidFill>
                  <a:schemeClr val="bg2"/>
                </a:solidFill>
              </a:rPr>
              <a:t>				 Requests</a:t>
            </a:r>
            <a:r>
              <a:rPr lang="en-US" sz="1600" dirty="0">
                <a:solidFill>
                  <a:schemeClr val="bg2"/>
                </a:solidFill>
              </a:rPr>
              <a:t>												</a:t>
            </a:r>
            <a:r>
              <a:rPr lang="en-US" dirty="0">
                <a:solidFill>
                  <a:schemeClr val="bg2"/>
                </a:solidFill>
              </a:rPr>
              <a:t>											</a:t>
            </a: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78852" name="Oval 1028"/>
          <p:cNvSpPr>
            <a:spLocks noChangeArrowheads="1"/>
          </p:cNvSpPr>
          <p:nvPr/>
        </p:nvSpPr>
        <p:spPr bwMode="auto">
          <a:xfrm>
            <a:off x="2971800" y="16764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Line 1029"/>
          <p:cNvSpPr>
            <a:spLocks noChangeShapeType="1"/>
          </p:cNvSpPr>
          <p:nvPr/>
        </p:nvSpPr>
        <p:spPr bwMode="auto">
          <a:xfrm>
            <a:off x="3124200" y="21336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4" name="Line 1030"/>
          <p:cNvSpPr>
            <a:spLocks noChangeShapeType="1"/>
          </p:cNvSpPr>
          <p:nvPr/>
        </p:nvSpPr>
        <p:spPr bwMode="auto">
          <a:xfrm flipH="1">
            <a:off x="2971800" y="2514600"/>
            <a:ext cx="1524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5" name="Line 1031"/>
          <p:cNvSpPr>
            <a:spLocks noChangeShapeType="1"/>
          </p:cNvSpPr>
          <p:nvPr/>
        </p:nvSpPr>
        <p:spPr bwMode="auto">
          <a:xfrm>
            <a:off x="3124200" y="2514600"/>
            <a:ext cx="1524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6" name="Line 1032"/>
          <p:cNvSpPr>
            <a:spLocks noChangeShapeType="1"/>
          </p:cNvSpPr>
          <p:nvPr/>
        </p:nvSpPr>
        <p:spPr bwMode="auto">
          <a:xfrm>
            <a:off x="2971800" y="22098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7" name="Line 1033"/>
          <p:cNvSpPr>
            <a:spLocks noChangeShapeType="1"/>
          </p:cNvSpPr>
          <p:nvPr/>
        </p:nvSpPr>
        <p:spPr bwMode="auto">
          <a:xfrm>
            <a:off x="3581400" y="2438400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8" name="Line 1034"/>
          <p:cNvSpPr>
            <a:spLocks noChangeShapeType="1"/>
          </p:cNvSpPr>
          <p:nvPr/>
        </p:nvSpPr>
        <p:spPr bwMode="auto">
          <a:xfrm>
            <a:off x="7162800" y="2438400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59" name="Line 1035"/>
          <p:cNvSpPr>
            <a:spLocks noChangeShapeType="1"/>
          </p:cNvSpPr>
          <p:nvPr/>
        </p:nvSpPr>
        <p:spPr bwMode="auto">
          <a:xfrm>
            <a:off x="8458200" y="24384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60" name="Rectangle 1036"/>
          <p:cNvSpPr>
            <a:spLocks noChangeArrowheads="1"/>
          </p:cNvSpPr>
          <p:nvPr/>
        </p:nvSpPr>
        <p:spPr bwMode="auto">
          <a:xfrm>
            <a:off x="7315200" y="3124200"/>
            <a:ext cx="24384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000">
                <a:solidFill>
                  <a:schemeClr val="bg2"/>
                </a:solidFill>
              </a:rPr>
              <a:t>Database Security</a:t>
            </a:r>
          </a:p>
          <a:p>
            <a:pPr algn="ctr" eaLnBrk="1" hangingPunct="1"/>
            <a:r>
              <a:rPr lang="en-US" sz="2000">
                <a:solidFill>
                  <a:schemeClr val="bg2"/>
                </a:solidFill>
              </a:rPr>
              <a:t>System</a:t>
            </a:r>
          </a:p>
        </p:txBody>
      </p:sp>
      <p:sp>
        <p:nvSpPr>
          <p:cNvPr id="78861" name="Line 1037"/>
          <p:cNvSpPr>
            <a:spLocks noChangeShapeType="1"/>
          </p:cNvSpPr>
          <p:nvPr/>
        </p:nvSpPr>
        <p:spPr bwMode="auto">
          <a:xfrm>
            <a:off x="8382000" y="44958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62" name="Line 1038"/>
          <p:cNvSpPr>
            <a:spLocks noChangeShapeType="1"/>
          </p:cNvSpPr>
          <p:nvPr/>
        </p:nvSpPr>
        <p:spPr bwMode="auto">
          <a:xfrm flipV="1">
            <a:off x="8382000" y="41910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63" name="AutoShape 1039"/>
          <p:cNvSpPr>
            <a:spLocks noChangeArrowheads="1"/>
          </p:cNvSpPr>
          <p:nvPr/>
        </p:nvSpPr>
        <p:spPr bwMode="auto">
          <a:xfrm>
            <a:off x="7772400" y="5105400"/>
            <a:ext cx="1371600" cy="10668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</a:rPr>
              <a:t>Database</a:t>
            </a:r>
          </a:p>
        </p:txBody>
      </p:sp>
      <p:sp>
        <p:nvSpPr>
          <p:cNvPr id="78864" name="Line 1040"/>
          <p:cNvSpPr>
            <a:spLocks noChangeShapeType="1"/>
          </p:cNvSpPr>
          <p:nvPr/>
        </p:nvSpPr>
        <p:spPr bwMode="auto">
          <a:xfrm>
            <a:off x="6477000" y="3810000"/>
            <a:ext cx="762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65" name="Line 1041"/>
          <p:cNvSpPr>
            <a:spLocks noChangeShapeType="1"/>
          </p:cNvSpPr>
          <p:nvPr/>
        </p:nvSpPr>
        <p:spPr bwMode="auto">
          <a:xfrm>
            <a:off x="5410200" y="4495800"/>
            <a:ext cx="0" cy="304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66" name="Line 1042"/>
          <p:cNvSpPr>
            <a:spLocks noChangeShapeType="1"/>
          </p:cNvSpPr>
          <p:nvPr/>
        </p:nvSpPr>
        <p:spPr bwMode="auto">
          <a:xfrm flipH="1">
            <a:off x="3886200" y="4800600"/>
            <a:ext cx="152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67" name="Oval 1043"/>
          <p:cNvSpPr>
            <a:spLocks noChangeArrowheads="1"/>
          </p:cNvSpPr>
          <p:nvPr/>
        </p:nvSpPr>
        <p:spPr bwMode="auto">
          <a:xfrm>
            <a:off x="2667000" y="41910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68" name="Oval 1044"/>
          <p:cNvSpPr>
            <a:spLocks noChangeArrowheads="1"/>
          </p:cNvSpPr>
          <p:nvPr/>
        </p:nvSpPr>
        <p:spPr bwMode="auto">
          <a:xfrm>
            <a:off x="3048000" y="41910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69" name="Oval 1045"/>
          <p:cNvSpPr>
            <a:spLocks noChangeArrowheads="1"/>
          </p:cNvSpPr>
          <p:nvPr/>
        </p:nvSpPr>
        <p:spPr bwMode="auto">
          <a:xfrm>
            <a:off x="3429000" y="4191000"/>
            <a:ext cx="304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8870" name="Line 1046"/>
          <p:cNvSpPr>
            <a:spLocks noChangeShapeType="1"/>
          </p:cNvSpPr>
          <p:nvPr/>
        </p:nvSpPr>
        <p:spPr bwMode="auto">
          <a:xfrm>
            <a:off x="3200400" y="4572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1" name="Line 1047"/>
          <p:cNvSpPr>
            <a:spLocks noChangeShapeType="1"/>
          </p:cNvSpPr>
          <p:nvPr/>
        </p:nvSpPr>
        <p:spPr bwMode="auto">
          <a:xfrm>
            <a:off x="3581400" y="4572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2" name="Line 1048"/>
          <p:cNvSpPr>
            <a:spLocks noChangeShapeType="1"/>
          </p:cNvSpPr>
          <p:nvPr/>
        </p:nvSpPr>
        <p:spPr bwMode="auto">
          <a:xfrm>
            <a:off x="2819400" y="4572000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3" name="Line 1049"/>
          <p:cNvSpPr>
            <a:spLocks noChangeShapeType="1"/>
          </p:cNvSpPr>
          <p:nvPr/>
        </p:nvSpPr>
        <p:spPr bwMode="auto">
          <a:xfrm flipH="1">
            <a:off x="2743200" y="4953000"/>
            <a:ext cx="76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4" name="Line 1050"/>
          <p:cNvSpPr>
            <a:spLocks noChangeShapeType="1"/>
          </p:cNvSpPr>
          <p:nvPr/>
        </p:nvSpPr>
        <p:spPr bwMode="auto">
          <a:xfrm>
            <a:off x="2819400" y="4953000"/>
            <a:ext cx="76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5" name="Line 1051"/>
          <p:cNvSpPr>
            <a:spLocks noChangeShapeType="1"/>
          </p:cNvSpPr>
          <p:nvPr/>
        </p:nvSpPr>
        <p:spPr bwMode="auto">
          <a:xfrm flipH="1">
            <a:off x="3124200" y="4953000"/>
            <a:ext cx="76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6" name="Line 1052"/>
          <p:cNvSpPr>
            <a:spLocks noChangeShapeType="1"/>
          </p:cNvSpPr>
          <p:nvPr/>
        </p:nvSpPr>
        <p:spPr bwMode="auto">
          <a:xfrm>
            <a:off x="3200400" y="4953000"/>
            <a:ext cx="76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7" name="Line 1053"/>
          <p:cNvSpPr>
            <a:spLocks noChangeShapeType="1"/>
          </p:cNvSpPr>
          <p:nvPr/>
        </p:nvSpPr>
        <p:spPr bwMode="auto">
          <a:xfrm flipH="1">
            <a:off x="3505200" y="4953000"/>
            <a:ext cx="76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8" name="Line 1054"/>
          <p:cNvSpPr>
            <a:spLocks noChangeShapeType="1"/>
          </p:cNvSpPr>
          <p:nvPr/>
        </p:nvSpPr>
        <p:spPr bwMode="auto">
          <a:xfrm>
            <a:off x="3581400" y="4953000"/>
            <a:ext cx="76200" cy="228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79" name="Line 1055"/>
          <p:cNvSpPr>
            <a:spLocks noChangeShapeType="1"/>
          </p:cNvSpPr>
          <p:nvPr/>
        </p:nvSpPr>
        <p:spPr bwMode="auto">
          <a:xfrm>
            <a:off x="2667000" y="47244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80" name="Line 1056"/>
          <p:cNvSpPr>
            <a:spLocks noChangeShapeType="1"/>
          </p:cNvSpPr>
          <p:nvPr/>
        </p:nvSpPr>
        <p:spPr bwMode="auto">
          <a:xfrm>
            <a:off x="3124200" y="47244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81" name="Line 1057"/>
          <p:cNvSpPr>
            <a:spLocks noChangeShapeType="1"/>
          </p:cNvSpPr>
          <p:nvPr/>
        </p:nvSpPr>
        <p:spPr bwMode="auto">
          <a:xfrm>
            <a:off x="3505200" y="4724400"/>
            <a:ext cx="15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8884" name="Text Box 1060"/>
          <p:cNvSpPr txBox="1">
            <a:spLocks noChangeArrowheads="1"/>
          </p:cNvSpPr>
          <p:nvPr/>
        </p:nvSpPr>
        <p:spPr bwMode="auto">
          <a:xfrm>
            <a:off x="2640014" y="2924176"/>
            <a:ext cx="947737" cy="531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bg2"/>
                </a:solidFill>
              </a:rPr>
              <a:t>DBA</a:t>
            </a:r>
          </a:p>
        </p:txBody>
      </p:sp>
      <p:sp>
        <p:nvSpPr>
          <p:cNvPr id="78886" name="Text Box 1062"/>
          <p:cNvSpPr txBox="1">
            <a:spLocks noChangeArrowheads="1"/>
          </p:cNvSpPr>
          <p:nvPr/>
        </p:nvSpPr>
        <p:spPr bwMode="auto">
          <a:xfrm>
            <a:off x="2640013" y="5373688"/>
            <a:ext cx="1149350" cy="5318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>
                <a:solidFill>
                  <a:schemeClr val="bg2"/>
                </a:solidFill>
              </a:rPr>
              <a:t>Users</a:t>
            </a:r>
          </a:p>
        </p:txBody>
      </p:sp>
      <p:sp>
        <p:nvSpPr>
          <p:cNvPr id="78887" name="AutoShape 1063"/>
          <p:cNvSpPr>
            <a:spLocks noChangeArrowheads="1"/>
          </p:cNvSpPr>
          <p:nvPr/>
        </p:nvSpPr>
        <p:spPr bwMode="auto">
          <a:xfrm>
            <a:off x="8472488" y="5300663"/>
            <a:ext cx="1371600" cy="10668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>
                <a:solidFill>
                  <a:schemeClr val="bg2"/>
                </a:solidFill>
              </a:rPr>
              <a:t>Database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8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Database Security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1992314" y="1214422"/>
            <a:ext cx="8294687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None/>
            </a:pPr>
            <a:r>
              <a:rPr lang="en-US" sz="2800"/>
              <a:t>Three main issues </a:t>
            </a:r>
            <a:r>
              <a:rPr lang="en-US" sz="2800" dirty="0"/>
              <a:t>in DB Security:</a:t>
            </a:r>
          </a:p>
          <a:p>
            <a:endParaRPr lang="en-US" sz="2800" dirty="0"/>
          </a:p>
          <a:p>
            <a:pPr>
              <a:buNone/>
            </a:pPr>
            <a:r>
              <a:rPr lang="en-US" sz="2800" dirty="0"/>
              <a:t>1. Legal and Ethical considerations: who has the right to read what information?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2. Policy issues: Who should enforce security (government, corporations, department)?</a:t>
            </a:r>
          </a:p>
          <a:p>
            <a:pPr>
              <a:buFont typeface="Monotype Sorts" pitchFamily="2" charset="2"/>
              <a:buChar char="•"/>
            </a:pPr>
            <a:endParaRPr lang="en-US" sz="2800" dirty="0"/>
          </a:p>
          <a:p>
            <a:pPr>
              <a:buNone/>
            </a:pPr>
            <a:r>
              <a:rPr lang="en-US" sz="2800" dirty="0"/>
              <a:t>3. System level issues: where should security be enforced in the System and How?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Rectangle 1029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GB" dirty="0"/>
              <a:t>Database Security</a:t>
            </a:r>
          </a:p>
        </p:txBody>
      </p:sp>
      <p:sp>
        <p:nvSpPr>
          <p:cNvPr id="80899" name="Rectangle 1027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/>
              <a:t>ACCESS CONTROL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Who should be allowed access to which databases.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Typically enforced using system level accounts with passwords.</a:t>
            </a:r>
          </a:p>
          <a:p>
            <a:pPr>
              <a:lnSpc>
                <a:spcPct val="90000"/>
              </a:lnSpc>
              <a:buNone/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1027"/>
          <p:cNvSpPr>
            <a:spLocks noGrp="1" noChangeArrowheads="1"/>
          </p:cNvSpPr>
          <p:nvPr>
            <p:ph type="title"/>
          </p:nvPr>
        </p:nvSpPr>
        <p:spPr>
          <a:xfrm>
            <a:off x="1803403" y="266700"/>
            <a:ext cx="8367713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2800" dirty="0"/>
              <a:t>DISCRETIONARY ACCESS CONTROL</a:t>
            </a:r>
            <a:endParaRPr lang="en-GB" sz="2800" dirty="0"/>
          </a:p>
        </p:txBody>
      </p:sp>
      <p:sp>
        <p:nvSpPr>
          <p:cNvPr id="82946" name="Rectangle 1026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8167914" cy="4807857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Authorization rules take into accounts a THREE concepts: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	1. </a:t>
            </a:r>
            <a:r>
              <a:rPr lang="en-US" sz="2400" b="1" dirty="0"/>
              <a:t>Users:</a:t>
            </a:r>
            <a:r>
              <a:rPr lang="en-US" sz="2400" dirty="0"/>
              <a:t> Individuals who perform some activity on the database.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4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	2. </a:t>
            </a:r>
            <a:r>
              <a:rPr lang="en-US" sz="2400" b="1" dirty="0"/>
              <a:t>Objects:</a:t>
            </a:r>
            <a:r>
              <a:rPr lang="en-US" sz="2400" dirty="0"/>
              <a:t> Database units that require authorization in order to manipulate, eg. Table, columns, and rows.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4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/>
              <a:t>	3</a:t>
            </a:r>
            <a:r>
              <a:rPr lang="en-US" sz="2400" b="1" dirty="0"/>
              <a:t>. Privileges: </a:t>
            </a:r>
            <a:r>
              <a:rPr lang="en-US" sz="2400" dirty="0"/>
              <a:t>Any action that might be performed on an object by a user. Eg. Read, update, Insert, Delete.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307" name="Group 339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180080471"/>
              </p:ext>
            </p:extLst>
          </p:nvPr>
        </p:nvGraphicFramePr>
        <p:xfrm>
          <a:off x="3069762" y="1502232"/>
          <a:ext cx="5257800" cy="4829178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USER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OBJECT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Privilege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Read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Insert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Modify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Ed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Grant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Bill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Read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Sally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Purchase Order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Insert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Sally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Purchase Order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Modify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Clerks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Read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4025" name="Rectangle 57"/>
          <p:cNvSpPr>
            <a:spLocks noChangeArrowheads="1"/>
          </p:cNvSpPr>
          <p:nvPr/>
        </p:nvSpPr>
        <p:spPr bwMode="auto">
          <a:xfrm>
            <a:off x="2514600" y="533401"/>
            <a:ext cx="70104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/>
              <a:t>authorization </a:t>
            </a:r>
            <a:r>
              <a:rPr lang="en-US" sz="2400" dirty="0"/>
              <a:t>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266700"/>
            <a:ext cx="8294688" cy="11049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DISCRETIONARY ACCESS CONTROL</a:t>
            </a: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1720850" y="1270262"/>
            <a:ext cx="9506474" cy="1143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User-Based Security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800" dirty="0"/>
              <a:t>Users are individually defined in the DBMS and each object and Privilege is specified.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sz="2000" dirty="0"/>
              <a:t>	</a:t>
            </a:r>
            <a:r>
              <a:rPr lang="en-US" sz="2000" dirty="0" err="1"/>
              <a:t>Eg</a:t>
            </a:r>
            <a:r>
              <a:rPr lang="en-US" sz="2000" dirty="0"/>
              <a:t> . User SMITH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800" b="1" dirty="0">
              <a:solidFill>
                <a:schemeClr val="bg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solidFill>
                <a:schemeClr val="bg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400" dirty="0">
              <a:solidFill>
                <a:schemeClr val="bg2"/>
              </a:solidFill>
            </a:endParaRPr>
          </a:p>
        </p:txBody>
      </p:sp>
      <p:graphicFrame>
        <p:nvGraphicFramePr>
          <p:cNvPr id="8499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31835"/>
              </p:ext>
            </p:extLst>
          </p:nvPr>
        </p:nvGraphicFramePr>
        <p:xfrm>
          <a:off x="2133600" y="2743200"/>
          <a:ext cx="7315200" cy="3459641"/>
        </p:xfrm>
        <a:graphic>
          <a:graphicData uri="http://schemas.openxmlformats.org/drawingml/2006/table">
            <a:tbl>
              <a:tblPr/>
              <a:tblGrid>
                <a:gridCol w="146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0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Objects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Privileges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Employees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Orders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……..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4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8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Insert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4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Modify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8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Delete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88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Grant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title"/>
          </p:nvPr>
        </p:nvSpPr>
        <p:spPr>
          <a:xfrm>
            <a:off x="1759861" y="266700"/>
            <a:ext cx="8367713" cy="1104900"/>
          </a:xfrm>
          <a:noFill/>
          <a:ln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/>
              <a:t>DISCRETIONARY ACCESS CONTROL</a:t>
            </a:r>
            <a:endParaRPr lang="en-GB" sz="2800" dirty="0"/>
          </a:p>
        </p:txBody>
      </p:sp>
      <p:sp>
        <p:nvSpPr>
          <p:cNvPr id="87042" name="Rectangle 2"/>
          <p:cNvSpPr>
            <a:spLocks noGrp="1" noChangeArrowheads="1"/>
          </p:cNvSpPr>
          <p:nvPr>
            <p:ph idx="1"/>
          </p:nvPr>
        </p:nvSpPr>
        <p:spPr>
          <a:xfrm>
            <a:off x="2209800" y="1524000"/>
            <a:ext cx="7772400" cy="1295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1600" dirty="0"/>
              <a:t>Object Based Security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dirty="0"/>
              <a:t>Objects are individually defined in the DBMS and each subject and action is specified.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sz="1600" b="1" dirty="0" err="1"/>
              <a:t>Eg</a:t>
            </a:r>
            <a:r>
              <a:rPr lang="en-US" sz="1600" b="1" dirty="0"/>
              <a:t>. The EMPLOYEES </a:t>
            </a:r>
            <a:r>
              <a:rPr lang="en-US" sz="1600" dirty="0"/>
              <a:t>table has the following authorizations: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US" sz="1600" dirty="0"/>
          </a:p>
          <a:p>
            <a:pPr>
              <a:lnSpc>
                <a:spcPct val="90000"/>
              </a:lnSpc>
              <a:buFontTx/>
              <a:buNone/>
            </a:pPr>
            <a:endParaRPr lang="en-US" sz="1600" dirty="0"/>
          </a:p>
          <a:p>
            <a:pPr>
              <a:lnSpc>
                <a:spcPct val="90000"/>
              </a:lnSpc>
              <a:buFontTx/>
              <a:buChar char="-"/>
            </a:pPr>
            <a:endParaRPr lang="en-US" sz="1600" dirty="0"/>
          </a:p>
        </p:txBody>
      </p:sp>
      <p:graphicFrame>
        <p:nvGraphicFramePr>
          <p:cNvPr id="8704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227009"/>
              </p:ext>
            </p:extLst>
          </p:nvPr>
        </p:nvGraphicFramePr>
        <p:xfrm>
          <a:off x="2286000" y="2962275"/>
          <a:ext cx="7239000" cy="3276602"/>
        </p:xfrm>
        <a:graphic>
          <a:graphicData uri="http://schemas.openxmlformats.org/drawingml/2006/table">
            <a:tbl>
              <a:tblPr/>
              <a:tblGrid>
                <a:gridCol w="12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Users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Privilege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GREEN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Read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Insert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Modify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Delete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Grant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374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GRANT and REVOKE Statements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367976"/>
            <a:ext cx="7727950" cy="41148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000" dirty="0"/>
              <a:t>SQL provides two main statements for setting up authorization.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000" dirty="0"/>
              <a:t>GRANT is used to grant an action on an object to a user.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	GRANT action1, action2,…..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	ON object1, object2, …..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	TO subject1, subject2, ….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000" dirty="0"/>
              <a:t>Another option of the GRANT Statement is WITH GRANT OPTION. This allows grantee to propagate the authorization to another subject. 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 err="1"/>
              <a:t>Eg</a:t>
            </a:r>
            <a:r>
              <a:rPr lang="en-US" sz="2000" dirty="0"/>
              <a:t>. A database with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/>
              <a:t>	Tables: employees, departments, orders,  products.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/>
              <a:t>	Users: Smith, Jones, Green, </a:t>
            </a:r>
            <a:r>
              <a:rPr lang="en-US" sz="2000" dirty="0" err="1"/>
              <a:t>Dba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000" dirty="0"/>
              <a:t>	GRANT INSERT, DELETE, UPDATE, SELECT ON employees, departments TO Smith;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027"/>
          <p:cNvSpPr>
            <a:spLocks noGrp="1" noChangeArrowheads="1"/>
          </p:cNvSpPr>
          <p:nvPr>
            <p:ph type="title"/>
          </p:nvPr>
        </p:nvSpPr>
        <p:spPr>
          <a:xfrm>
            <a:off x="1556664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GRANT and REVOKE Statements</a:t>
            </a:r>
          </a:p>
        </p:txBody>
      </p:sp>
      <p:sp>
        <p:nvSpPr>
          <p:cNvPr id="93186" name="Rectangle 1026"/>
          <p:cNvSpPr>
            <a:spLocks noGrp="1" noChangeArrowheads="1"/>
          </p:cNvSpPr>
          <p:nvPr>
            <p:ph idx="1"/>
          </p:nvPr>
        </p:nvSpPr>
        <p:spPr>
          <a:xfrm>
            <a:off x="1905000" y="1382490"/>
            <a:ext cx="7772400" cy="45720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GRANT INSERT, SELECT ON orders To Smith;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GRANT SELECT ON products To Smith;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GRANT SELECT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ON employees, departments To Jones;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GRANT INSERT, DELETE, UPDATE,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SELECT ON employees, departments, orders,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products To DBA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WITH GRANT OPTION;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Grants can also be done on specific columns in a table: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	GRANT SELECT ON products To Jones;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	GRANT UPDATE ON products (price) to Jones;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If no GRANT statement is issued, it is assumed that no authorization is given (eg. User Green).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455066" y="266700"/>
            <a:ext cx="8294688" cy="11049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GRANT and REVOKE Statements</a:t>
            </a:r>
          </a:p>
        </p:txBody>
      </p:sp>
      <p:sp>
        <p:nvSpPr>
          <p:cNvPr id="95235" name="Rectangle 1027"/>
          <p:cNvSpPr>
            <a:spLocks noGrp="1" noChangeArrowheads="1"/>
          </p:cNvSpPr>
          <p:nvPr>
            <p:ph idx="1"/>
          </p:nvPr>
        </p:nvSpPr>
        <p:spPr>
          <a:xfrm>
            <a:off x="1981200" y="1342578"/>
            <a:ext cx="7727950" cy="472440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REVOKE is used to revoke authorization from Subjects.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/>
              <a:t>	REVOKE action1, action2, ….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/>
              <a:t>	ON object1, object2, ….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/>
              <a:t>	FROM   subject1, subject2, ….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If  Smith leaves the company, then we should REVOKE INSERT, DELETE, UPDATE, SELECT ON employees, departments FROM Smith;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  <a:p>
            <a:pPr marL="342900" lvl="1" indent="-342900">
              <a:lnSpc>
                <a:spcPct val="90000"/>
              </a:lnSpc>
              <a:buNone/>
            </a:pPr>
            <a:r>
              <a:rPr lang="en-US" sz="1800" dirty="0">
                <a:ea typeface="+mn-ea"/>
                <a:cs typeface="+mn-cs"/>
              </a:rPr>
              <a:t>REVOKE INSERT, SELECT ON orders FROM Smith;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	  REVOKE SELECT ON products FROM Smith;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800" dirty="0"/>
              <a:t>			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Many RDBMS have all PRIVILEGES option that will revoke all of the privileges on an object from a Subject.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18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1800" dirty="0"/>
              <a:t>	REVOKE ALL PRIVILEGES ON employees, departments, orders, products FROM Smith;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709" y="464457"/>
            <a:ext cx="8229600" cy="5791200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>
              <a:buNone/>
            </a:pPr>
            <a:endParaRPr lang="en-US" sz="6600" dirty="0"/>
          </a:p>
          <a:p>
            <a:pPr algn="ctr">
              <a:buNone/>
            </a:pPr>
            <a:r>
              <a:rPr lang="en-US" sz="8000" dirty="0"/>
              <a:t>Q &amp; A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1429</TotalTime>
  <Pages>11</Pages>
  <Words>1858</Words>
  <Application>Microsoft Office PowerPoint</Application>
  <PresentationFormat>Widescreen</PresentationFormat>
  <Paragraphs>295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Monotype Sorts</vt:lpstr>
      <vt:lpstr>Arial</vt:lpstr>
      <vt:lpstr>Calibri</vt:lpstr>
      <vt:lpstr>Montserrat</vt:lpstr>
      <vt:lpstr>PT Sans</vt:lpstr>
      <vt:lpstr>Times New Roman</vt:lpstr>
      <vt:lpstr>Wingdings</vt:lpstr>
      <vt:lpstr>UCTI-Template-foundation-level</vt:lpstr>
      <vt:lpstr>PowerPoint Presentation</vt:lpstr>
      <vt:lpstr>Objectives</vt:lpstr>
      <vt:lpstr>Database Security  </vt:lpstr>
      <vt:lpstr>Database Security</vt:lpstr>
      <vt:lpstr>Database Security</vt:lpstr>
      <vt:lpstr>Threat</vt:lpstr>
      <vt:lpstr>List of threats and there effects</vt:lpstr>
      <vt:lpstr>Threats summary</vt:lpstr>
      <vt:lpstr>Representation of a typical multi-user computer environment.</vt:lpstr>
      <vt:lpstr>Authorization &amp; Authentication</vt:lpstr>
      <vt:lpstr>Database Security</vt:lpstr>
      <vt:lpstr>Database Security</vt:lpstr>
      <vt:lpstr>Database Security</vt:lpstr>
      <vt:lpstr>DISCRETIONARY ACCESS CONTROL</vt:lpstr>
      <vt:lpstr>PowerPoint Presentation</vt:lpstr>
      <vt:lpstr>DISCRETIONARY ACCESS CONTROL</vt:lpstr>
      <vt:lpstr>DISCRETIONARY ACCESS CONTROL</vt:lpstr>
      <vt:lpstr>GRANT and REVOKE Statements</vt:lpstr>
      <vt:lpstr>GRANT and REVOKE Statements</vt:lpstr>
      <vt:lpstr>GRANT and REVOKE Statements</vt:lpstr>
      <vt:lpstr>PowerPoint Presentation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335</cp:revision>
  <cp:lastPrinted>2023-02-03T03:07:34Z</cp:lastPrinted>
  <dcterms:created xsi:type="dcterms:W3CDTF">2005-08-02T10:18:20Z</dcterms:created>
  <dcterms:modified xsi:type="dcterms:W3CDTF">2024-11-13T03:41:11Z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