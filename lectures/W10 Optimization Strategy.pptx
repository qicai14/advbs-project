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7" r:id="rId6"/>
    <p:sldId id="259" r:id="rId7"/>
    <p:sldId id="260" r:id="rId8"/>
    <p:sldId id="261" r:id="rId9"/>
    <p:sldId id="262" r:id="rId10"/>
    <p:sldId id="264" r:id="rId11"/>
    <p:sldId id="265" r:id="rId12"/>
    <p:sldId id="278" r:id="rId13"/>
    <p:sldId id="266" r:id="rId14"/>
    <p:sldId id="279" r:id="rId15"/>
    <p:sldId id="267" r:id="rId16"/>
    <p:sldId id="268" r:id="rId17"/>
    <p:sldId id="269" r:id="rId18"/>
    <p:sldId id="280" r:id="rId19"/>
    <p:sldId id="270" r:id="rId20"/>
    <p:sldId id="272" r:id="rId21"/>
    <p:sldId id="274" r:id="rId22"/>
    <p:sldId id="275" r:id="rId23"/>
    <p:sldId id="276" r:id="rId24"/>
    <p:sldId id="277" r:id="rId25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256"/>
            <p14:sldId id="257"/>
            <p14:sldId id="259"/>
            <p14:sldId id="260"/>
            <p14:sldId id="261"/>
            <p14:sldId id="262"/>
            <p14:sldId id="264"/>
            <p14:sldId id="265"/>
            <p14:sldId id="278"/>
            <p14:sldId id="266"/>
            <p14:sldId id="279"/>
            <p14:sldId id="267"/>
            <p14:sldId id="268"/>
            <p14:sldId id="269"/>
            <p14:sldId id="280"/>
            <p14:sldId id="270"/>
            <p14:sldId id="272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9" autoAdjust="0"/>
    <p:restoredTop sz="94249" autoAdjust="0"/>
  </p:normalViewPr>
  <p:slideViewPr>
    <p:cSldViewPr snapToGrid="0">
      <p:cViewPr varScale="1">
        <p:scale>
          <a:sx n="91" d="100"/>
          <a:sy n="91" d="100"/>
        </p:scale>
        <p:origin x="355" y="72"/>
      </p:cViewPr>
      <p:guideLst/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8"/>
    </p:cViewPr>
  </p:sorterViewPr>
  <p:notesViewPr>
    <p:cSldViewPr snapToGrid="0">
      <p:cViewPr varScale="1">
        <p:scale>
          <a:sx n="52" d="100"/>
          <a:sy n="52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6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70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Before copying owner</a:t>
            </a:r>
            <a:r>
              <a:rPr lang="en-US" baseline="0" dirty="0"/>
              <a:t> </a:t>
            </a:r>
            <a:r>
              <a:rPr lang="en-US" baseline="0" dirty="0" err="1"/>
              <a:t>Lname</a:t>
            </a:r>
            <a:endParaRPr lang="en-US" baseline="0" dirty="0"/>
          </a:p>
          <a:p>
            <a:endParaRPr lang="en-US" dirty="0"/>
          </a:p>
          <a:p>
            <a:r>
              <a:rPr lang="en-US" dirty="0"/>
              <a:t>SELECT p.*, </a:t>
            </a:r>
            <a:r>
              <a:rPr lang="en-US" dirty="0" err="1"/>
              <a:t>o.lName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PropertyForRent</a:t>
            </a:r>
            <a:r>
              <a:rPr lang="en-US" dirty="0"/>
              <a:t> p, </a:t>
            </a:r>
            <a:r>
              <a:rPr lang="en-US" dirty="0" err="1"/>
              <a:t>PrivateOwner</a:t>
            </a:r>
            <a:r>
              <a:rPr lang="en-US" dirty="0"/>
              <a:t> o</a:t>
            </a:r>
          </a:p>
          <a:p>
            <a:r>
              <a:rPr lang="en-US" dirty="0"/>
              <a:t>WHERE </a:t>
            </a:r>
            <a:r>
              <a:rPr lang="en-US" dirty="0" err="1"/>
              <a:t>p.ownerNo</a:t>
            </a:r>
            <a:r>
              <a:rPr lang="en-US" dirty="0"/>
              <a:t> = </a:t>
            </a:r>
            <a:r>
              <a:rPr lang="en-US" dirty="0" err="1"/>
              <a:t>o.ownerNo</a:t>
            </a:r>
            <a:r>
              <a:rPr lang="en-US" dirty="0"/>
              <a:t> AND </a:t>
            </a:r>
            <a:r>
              <a:rPr lang="en-US" dirty="0" err="1"/>
              <a:t>branchNo</a:t>
            </a:r>
            <a:r>
              <a:rPr lang="en-US" dirty="0"/>
              <a:t> = ‘B003’;</a:t>
            </a:r>
          </a:p>
          <a:p>
            <a:endParaRPr lang="en-US" dirty="0"/>
          </a:p>
          <a:p>
            <a:r>
              <a:rPr lang="en-US" dirty="0"/>
              <a:t>based on the original relation diagram and sample relations shown in Figure 18.1. If we</a:t>
            </a:r>
          </a:p>
          <a:p>
            <a:r>
              <a:rPr lang="en-US" dirty="0"/>
              <a:t>duplicate the </a:t>
            </a:r>
            <a:r>
              <a:rPr lang="en-US" dirty="0" err="1"/>
              <a:t>lName</a:t>
            </a:r>
            <a:r>
              <a:rPr lang="en-US" dirty="0"/>
              <a:t> attribute in the </a:t>
            </a:r>
            <a:r>
              <a:rPr lang="en-US" dirty="0" err="1"/>
              <a:t>PropertyForRent</a:t>
            </a:r>
            <a:r>
              <a:rPr lang="en-US" dirty="0"/>
              <a:t> relation, we can remove the </a:t>
            </a:r>
            <a:r>
              <a:rPr lang="en-US" dirty="0" err="1"/>
              <a:t>PrivateOwner</a:t>
            </a:r>
            <a:endParaRPr lang="en-US" dirty="0"/>
          </a:p>
          <a:p>
            <a:r>
              <a:rPr lang="en-US" dirty="0"/>
              <a:t>relation from the query, which in SQL becomes:</a:t>
            </a:r>
          </a:p>
          <a:p>
            <a:endParaRPr lang="en-US" dirty="0"/>
          </a:p>
          <a:p>
            <a:r>
              <a:rPr lang="en-US" dirty="0"/>
              <a:t>After copying Owner</a:t>
            </a:r>
            <a:r>
              <a:rPr lang="en-US" baseline="0" dirty="0"/>
              <a:t> </a:t>
            </a:r>
            <a:r>
              <a:rPr lang="en-US" baseline="0" dirty="0" err="1"/>
              <a:t>Lname</a:t>
            </a:r>
            <a:endParaRPr lang="en-US" dirty="0"/>
          </a:p>
          <a:p>
            <a:r>
              <a:rPr lang="en-US" dirty="0"/>
              <a:t>SELECT p.*</a:t>
            </a:r>
          </a:p>
          <a:p>
            <a:r>
              <a:rPr lang="en-US" dirty="0"/>
              <a:t>FROM </a:t>
            </a:r>
            <a:r>
              <a:rPr lang="en-US" dirty="0" err="1"/>
              <a:t>PropertyForRent</a:t>
            </a:r>
            <a:r>
              <a:rPr lang="en-US" dirty="0"/>
              <a:t> p</a:t>
            </a:r>
          </a:p>
          <a:p>
            <a:r>
              <a:rPr lang="en-US" dirty="0"/>
              <a:t>WHERE </a:t>
            </a:r>
            <a:r>
              <a:rPr lang="en-US" dirty="0" err="1"/>
              <a:t>branchNo</a:t>
            </a:r>
            <a:r>
              <a:rPr lang="en-US" dirty="0"/>
              <a:t> = ‘B003’;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2F29F6-96DB-4657-B0F3-14A74704D8C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7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r>
              <a:rPr lang="en-US" dirty="0"/>
              <a:t>If  an  owner  could  rent  properties  through  many  branches,  the  above  change  would </a:t>
            </a:r>
          </a:p>
          <a:p>
            <a:r>
              <a:rPr lang="en-US" dirty="0"/>
              <a:t>not work. In this case, it would be necessary to model a many-to-many (*:*) relation-</a:t>
            </a:r>
          </a:p>
          <a:p>
            <a:r>
              <a:rPr lang="en-US" dirty="0"/>
              <a:t>ship between Branch and </a:t>
            </a:r>
            <a:r>
              <a:rPr lang="en-US" dirty="0" err="1"/>
              <a:t>PrivateOwner</a:t>
            </a:r>
            <a:r>
              <a:rPr lang="en-US" dirty="0"/>
              <a:t>. Note also that the </a:t>
            </a:r>
            <a:r>
              <a:rPr lang="en-US" dirty="0" err="1"/>
              <a:t>PropertyForRent</a:t>
            </a:r>
            <a:r>
              <a:rPr lang="en-US" dirty="0"/>
              <a:t> relation has the</a:t>
            </a:r>
          </a:p>
          <a:p>
            <a:r>
              <a:rPr lang="en-US" dirty="0" err="1"/>
              <a:t>branchNo</a:t>
            </a:r>
            <a:r>
              <a:rPr lang="en-US" dirty="0"/>
              <a:t> attribute because it is possible for a property not to have a member of staff </a:t>
            </a:r>
            <a:r>
              <a:rPr lang="en-US" dirty="0" err="1"/>
              <a:t>allo</a:t>
            </a:r>
            <a:r>
              <a:rPr lang="en-US" dirty="0"/>
              <a:t>-</a:t>
            </a:r>
          </a:p>
          <a:p>
            <a:r>
              <a:rPr lang="en-US" dirty="0" err="1"/>
              <a:t>cated</a:t>
            </a:r>
            <a:r>
              <a:rPr lang="en-US" dirty="0"/>
              <a:t> to it, particularly at the start when the property is </a:t>
            </a:r>
            <a:r>
              <a:rPr lang="en-US" dirty="0" err="1"/>
              <a:t>ﬁrst</a:t>
            </a:r>
            <a:r>
              <a:rPr lang="en-US" dirty="0"/>
              <a:t> taken on by the agency. If the</a:t>
            </a:r>
          </a:p>
          <a:p>
            <a:r>
              <a:rPr lang="en-US" dirty="0" err="1"/>
              <a:t>PropertyForRent</a:t>
            </a:r>
            <a:r>
              <a:rPr lang="en-US" dirty="0"/>
              <a:t> relation did not have the branch number, it would be necessary to join the</a:t>
            </a:r>
          </a:p>
          <a:p>
            <a:r>
              <a:rPr lang="en-US" dirty="0" err="1"/>
              <a:t>PropertyForRent</a:t>
            </a:r>
            <a:r>
              <a:rPr lang="en-US" dirty="0"/>
              <a:t> relation to the Staff relation based on the </a:t>
            </a:r>
            <a:r>
              <a:rPr lang="en-US" dirty="0" err="1"/>
              <a:t>staffNo</a:t>
            </a:r>
            <a:r>
              <a:rPr lang="en-US" dirty="0"/>
              <a:t> attribute to get the required</a:t>
            </a:r>
          </a:p>
          <a:p>
            <a:r>
              <a:rPr lang="en-US" dirty="0"/>
              <a:t>branch number. The original SQL query would then become:</a:t>
            </a:r>
          </a:p>
          <a:p>
            <a:r>
              <a:rPr lang="en-US" dirty="0"/>
              <a:t>SELECT </a:t>
            </a:r>
            <a:r>
              <a:rPr lang="en-US" dirty="0" err="1"/>
              <a:t>o.lName</a:t>
            </a:r>
            <a:endParaRPr lang="en-US" dirty="0"/>
          </a:p>
          <a:p>
            <a:r>
              <a:rPr lang="en-US" dirty="0"/>
              <a:t>FROM Staff s, </a:t>
            </a:r>
            <a:r>
              <a:rPr lang="en-US" dirty="0" err="1"/>
              <a:t>PropertyForRent</a:t>
            </a:r>
            <a:r>
              <a:rPr lang="en-US" dirty="0"/>
              <a:t> p, </a:t>
            </a:r>
            <a:r>
              <a:rPr lang="en-US" dirty="0" err="1"/>
              <a:t>PrivateOwner</a:t>
            </a:r>
            <a:r>
              <a:rPr lang="en-US" dirty="0"/>
              <a:t> o</a:t>
            </a:r>
          </a:p>
          <a:p>
            <a:r>
              <a:rPr lang="en-US" dirty="0"/>
              <a:t>WHERE </a:t>
            </a:r>
            <a:r>
              <a:rPr lang="en-US" dirty="0" err="1"/>
              <a:t>s.staffNo</a:t>
            </a:r>
            <a:r>
              <a:rPr lang="en-US" dirty="0"/>
              <a:t> = </a:t>
            </a:r>
            <a:r>
              <a:rPr lang="en-US" dirty="0" err="1"/>
              <a:t>p.staffNo</a:t>
            </a:r>
            <a:r>
              <a:rPr lang="en-US" dirty="0"/>
              <a:t> AND </a:t>
            </a:r>
            <a:r>
              <a:rPr lang="en-US" dirty="0" err="1"/>
              <a:t>p.ownerNo</a:t>
            </a:r>
            <a:r>
              <a:rPr lang="en-US" dirty="0"/>
              <a:t> = </a:t>
            </a:r>
            <a:r>
              <a:rPr lang="en-US" dirty="0" err="1"/>
              <a:t>o.ownerNo</a:t>
            </a:r>
            <a:r>
              <a:rPr lang="en-US" dirty="0"/>
              <a:t> AND </a:t>
            </a:r>
            <a:r>
              <a:rPr lang="en-US" dirty="0" err="1"/>
              <a:t>s.branchNo</a:t>
            </a:r>
            <a:r>
              <a:rPr lang="en-US" dirty="0"/>
              <a:t> = ‘B003’;</a:t>
            </a:r>
          </a:p>
          <a:p>
            <a:endParaRPr lang="en-US" dirty="0"/>
          </a:p>
          <a:p>
            <a:r>
              <a:rPr lang="en-US" dirty="0"/>
              <a:t>Removing  two  joins  from  the  query  may  provide  greater  </a:t>
            </a:r>
            <a:r>
              <a:rPr lang="en-US" dirty="0" err="1"/>
              <a:t>justiﬁcation</a:t>
            </a:r>
            <a:r>
              <a:rPr lang="en-US" dirty="0"/>
              <a:t>  for  creating  a </a:t>
            </a:r>
          </a:p>
          <a:p>
            <a:r>
              <a:rPr lang="en-US" dirty="0"/>
              <a:t>direct relationship between </a:t>
            </a:r>
            <a:r>
              <a:rPr lang="en-US" dirty="0" err="1"/>
              <a:t>PrivateOwner</a:t>
            </a:r>
            <a:r>
              <a:rPr lang="en-US" dirty="0"/>
              <a:t> and Branch and thereby duplicating the foreign </a:t>
            </a:r>
          </a:p>
          <a:p>
            <a:r>
              <a:rPr lang="en-US" dirty="0"/>
              <a:t>key </a:t>
            </a:r>
            <a:r>
              <a:rPr lang="en-US" dirty="0" err="1"/>
              <a:t>branchNo</a:t>
            </a:r>
            <a:r>
              <a:rPr lang="en-US" dirty="0"/>
              <a:t> in the </a:t>
            </a:r>
            <a:r>
              <a:rPr lang="en-US" dirty="0" err="1"/>
              <a:t>PrivateOwner</a:t>
            </a:r>
            <a:r>
              <a:rPr lang="en-US" dirty="0"/>
              <a:t> relation.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2F29F6-96DB-4657-B0F3-14A74704D8C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10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 general,  this  type  of  </a:t>
            </a:r>
            <a:r>
              <a:rPr lang="en-US" dirty="0" err="1"/>
              <a:t>denormalization</a:t>
            </a:r>
            <a:r>
              <a:rPr lang="en-US" dirty="0"/>
              <a:t>  should  be  considered  only  in  the  following </a:t>
            </a:r>
          </a:p>
          <a:p>
            <a:r>
              <a:rPr lang="en-US" dirty="0"/>
              <a:t>circumstances:</a:t>
            </a:r>
          </a:p>
          <a:p>
            <a:r>
              <a:rPr lang="en-US" dirty="0"/>
              <a:t>n the absolute number of items in the repeating group is known (in this example there is</a:t>
            </a:r>
          </a:p>
          <a:p>
            <a:r>
              <a:rPr lang="en-US" dirty="0"/>
              <a:t>a maximum of three telephone numbers);</a:t>
            </a:r>
          </a:p>
          <a:p>
            <a:r>
              <a:rPr lang="en-US" dirty="0"/>
              <a:t>n the number is static and will not change over time (the maximum number of telephone</a:t>
            </a:r>
          </a:p>
          <a:p>
            <a:r>
              <a:rPr lang="en-US" dirty="0"/>
              <a:t>lines is </a:t>
            </a:r>
            <a:r>
              <a:rPr lang="en-US" dirty="0" err="1"/>
              <a:t>ﬁxed</a:t>
            </a:r>
            <a:r>
              <a:rPr lang="en-US" dirty="0"/>
              <a:t> and is not expected to change);</a:t>
            </a:r>
          </a:p>
          <a:p>
            <a:r>
              <a:rPr lang="en-US" dirty="0"/>
              <a:t>n the number is not very large, typically not greater than 10, although this is not as import-</a:t>
            </a:r>
          </a:p>
          <a:p>
            <a:r>
              <a:rPr lang="en-US" dirty="0"/>
              <a:t>ant as the </a:t>
            </a:r>
            <a:r>
              <a:rPr lang="en-US" dirty="0" err="1"/>
              <a:t>ﬁrst</a:t>
            </a:r>
            <a:r>
              <a:rPr lang="en-US" dirty="0"/>
              <a:t> two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2F29F6-96DB-4657-B0F3-14A74704D8C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3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3BD853D-FBFA-4B40-B484-4D9DBD66549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536573" y="3670301"/>
            <a:ext cx="6913767" cy="1752600"/>
          </a:xfrm>
        </p:spPr>
        <p:txBody>
          <a:bodyPr/>
          <a:lstStyle/>
          <a:p>
            <a:r>
              <a:rPr lang="en-GB" b="1" dirty="0">
                <a:latin typeface="CG Times" charset="0"/>
              </a:rPr>
              <a:t>Optimization Strategy</a:t>
            </a:r>
            <a:endParaRPr lang="en-US" b="1" dirty="0"/>
          </a:p>
        </p:txBody>
      </p:sp>
    </p:spTree>
  </p:cSld>
  <p:clrMapOvr>
    <a:masterClrMapping/>
  </p:clrMapOvr>
  <p:transition spd="slow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GB" b="1" dirty="0">
                <a:latin typeface="CG Times" charset="0"/>
              </a:rPr>
              <a:t>Objectives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557338"/>
            <a:ext cx="7727950" cy="4392612"/>
          </a:xfrm>
          <a:noFill/>
          <a:ln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30000"/>
              </a:lnSpc>
            </a:pPr>
            <a:r>
              <a:rPr lang="en-US" b="1" dirty="0">
                <a:cs typeface="Times New Roman" pitchFamily="18" charset="0"/>
              </a:rPr>
              <a:t>Meaning of </a:t>
            </a:r>
            <a:r>
              <a:rPr lang="en-US" b="1" dirty="0" err="1">
                <a:cs typeface="Times New Roman" pitchFamily="18" charset="0"/>
              </a:rPr>
              <a:t>denormalization</a:t>
            </a:r>
            <a:r>
              <a:rPr lang="en-US" b="1" dirty="0">
                <a:cs typeface="Times New Roman" pitchFamily="18" charset="0"/>
              </a:rPr>
              <a:t>.</a:t>
            </a:r>
            <a:r>
              <a:rPr lang="en-GB" b="1" dirty="0"/>
              <a:t> </a:t>
            </a:r>
          </a:p>
          <a:p>
            <a:pPr>
              <a:lnSpc>
                <a:spcPct val="130000"/>
              </a:lnSpc>
            </a:pPr>
            <a:r>
              <a:rPr lang="en-US" b="1" dirty="0">
                <a:cs typeface="Times New Roman" pitchFamily="18" charset="0"/>
              </a:rPr>
              <a:t>When to </a:t>
            </a:r>
            <a:r>
              <a:rPr lang="en-US" b="1" dirty="0" err="1">
                <a:cs typeface="Times New Roman" pitchFamily="18" charset="0"/>
              </a:rPr>
              <a:t>denormalize</a:t>
            </a:r>
            <a:r>
              <a:rPr lang="en-US" b="1" dirty="0">
                <a:cs typeface="Times New Roman" pitchFamily="18" charset="0"/>
              </a:rPr>
              <a:t> to improve performance.</a:t>
            </a:r>
            <a:r>
              <a:rPr lang="en-GB" b="1" dirty="0"/>
              <a:t>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b="1" dirty="0">
                <a:cs typeface="Times New Roman" pitchFamily="18" charset="0"/>
              </a:rPr>
              <a:t>Introduction</a:t>
            </a:r>
            <a:endParaRPr lang="en-GB" b="1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557338"/>
            <a:ext cx="8070850" cy="4114800"/>
          </a:xfrm>
          <a:noFill/>
          <a:ln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Result of normalization is a design that is structurally consistent with minimal redundancy.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However, sometimes a normalized database does not provide maximum processing efficiency.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May be necessary to accept loss of some benefits of a fully normalized design in favor of performance. </a:t>
            </a:r>
            <a:endParaRPr lang="en-GB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178050" y="228600"/>
            <a:ext cx="7042150" cy="1143000"/>
          </a:xfrm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b="1" dirty="0">
                <a:cs typeface="Times New Roman" pitchFamily="18" charset="0"/>
              </a:rPr>
              <a:t>Introduction</a:t>
            </a:r>
            <a:endParaRPr lang="en-GB" b="1" dirty="0"/>
          </a:p>
        </p:txBody>
      </p:sp>
      <p:sp>
        <p:nvSpPr>
          <p:cNvPr id="88067" name="Rectangle 1027"/>
          <p:cNvSpPr>
            <a:spLocks noGrp="1" noChangeArrowheads="1"/>
          </p:cNvSpPr>
          <p:nvPr>
            <p:ph idx="1"/>
          </p:nvPr>
        </p:nvSpPr>
        <p:spPr>
          <a:xfrm>
            <a:off x="2057400" y="1557338"/>
            <a:ext cx="7727950" cy="4114800"/>
          </a:xfrm>
          <a:noFill/>
          <a:ln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Also consider that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denormalization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makes implementation more complex;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often sacrifices flexibility;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may speed up retrievals but it slows down updates.</a:t>
            </a:r>
          </a:p>
          <a:p>
            <a:pPr lvl="1"/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b="1" dirty="0">
                <a:cs typeface="Times New Roman" pitchFamily="18" charset="0"/>
              </a:rPr>
              <a:t>What is </a:t>
            </a:r>
            <a:r>
              <a:rPr lang="en-US" b="1" dirty="0" err="1">
                <a:cs typeface="Times New Roman" pitchFamily="18" charset="0"/>
              </a:rPr>
              <a:t>Denormalization</a:t>
            </a:r>
            <a:endParaRPr lang="en-GB" b="1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557338"/>
            <a:ext cx="7727950" cy="4114800"/>
          </a:xfrm>
          <a:noFill/>
          <a:ln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Denormalization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refers to a refinement to relational schema such that the degree of normalization for a modified relation is less than the degree of at least one of the original relations.</a:t>
            </a:r>
          </a:p>
          <a:p>
            <a:pPr>
              <a:lnSpc>
                <a:spcPct val="20000"/>
              </a:lnSpc>
            </a:pP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Also use term more loosely to refer to situations where two relations are combined into one new relation, which is still normalized but contains more nulls than original relations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76200"/>
            <a:ext cx="7042150" cy="1143000"/>
          </a:xfrm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GB" b="1" dirty="0"/>
              <a:t>When to apply </a:t>
            </a:r>
            <a:r>
              <a:rPr lang="en-GB" b="1" dirty="0" err="1"/>
              <a:t>denormalization</a:t>
            </a:r>
            <a:endParaRPr lang="en-GB" b="1" dirty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371600"/>
            <a:ext cx="8610600" cy="4876800"/>
          </a:xfrm>
          <a:noFill/>
          <a:ln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Consider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denormalization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in following situations, specifically to speed up frequent or critical transactions:</a:t>
            </a:r>
          </a:p>
          <a:p>
            <a:pPr lvl="1"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Combining 1:1 relationships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Duplicating non-key attributes in 1:* relationships to reduce joins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Duplicating foreign key attributes in 1:* relationships to reduce joins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Introducing repeating groups</a:t>
            </a:r>
          </a:p>
          <a:p>
            <a:pPr lvl="1" algn="just"/>
            <a:r>
              <a:rPr lang="en-US" b="1">
                <a:latin typeface="Times New Roman" pitchFamily="18" charset="0"/>
                <a:cs typeface="Times New Roman" pitchFamily="18" charset="0"/>
              </a:rPr>
              <a:t>Partitioning relations</a:t>
            </a:r>
            <a:endParaRPr lang="en-GB" b="1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cs typeface="Times New Roman" pitchFamily="18" charset="0"/>
              </a:rPr>
              <a:t>Sample Relation Diagram</a:t>
            </a:r>
            <a:endParaRPr lang="en-GB"/>
          </a:p>
        </p:txBody>
      </p:sp>
      <p:pic>
        <p:nvPicPr>
          <p:cNvPr id="77829" name="Picture 5" descr="C18NF1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063751" y="1412876"/>
            <a:ext cx="5688013" cy="5351463"/>
          </a:xfrm>
          <a:noFill/>
          <a:ln/>
        </p:spPr>
      </p:pic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cs typeface="Times New Roman" pitchFamily="18" charset="0"/>
              </a:rPr>
              <a:t>Sample Relations</a:t>
            </a:r>
            <a:endParaRPr lang="en-GB"/>
          </a:p>
        </p:txBody>
      </p:sp>
      <p:pic>
        <p:nvPicPr>
          <p:cNvPr id="78851" name="Picture 3" descr="DS3-Figure 17-01"/>
          <p:cNvPicPr>
            <a:picLocks noChangeAspect="1" noChangeArrowheads="1"/>
          </p:cNvPicPr>
          <p:nvPr/>
        </p:nvPicPr>
        <p:blipFill>
          <a:blip r:embed="rId2" cstate="print"/>
          <a:srcRect t="51239"/>
          <a:stretch>
            <a:fillRect/>
          </a:stretch>
        </p:blipFill>
        <p:spPr bwMode="auto">
          <a:xfrm>
            <a:off x="1703389" y="1484314"/>
            <a:ext cx="4968875" cy="3635375"/>
          </a:xfrm>
          <a:prstGeom prst="rect">
            <a:avLst/>
          </a:prstGeom>
          <a:noFill/>
        </p:spPr>
      </p:pic>
      <p:pic>
        <p:nvPicPr>
          <p:cNvPr id="78852" name="Picture 4" descr="DS3-Figure 17-01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1484313"/>
            <a:ext cx="3702050" cy="5073650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itchFamily="18" charset="0"/>
              </a:rPr>
              <a:t>Combining 1:1 relationships</a:t>
            </a:r>
            <a:r>
              <a:rPr lang="en-US" dirty="0">
                <a:cs typeface="Times New Roman" pitchFamily="18" charset="0"/>
              </a:rPr>
              <a:t> </a:t>
            </a:r>
            <a:endParaRPr lang="en-US" dirty="0"/>
          </a:p>
        </p:txBody>
      </p:sp>
      <p:pic>
        <p:nvPicPr>
          <p:cNvPr id="1026" name="Picture 2" descr="C:\Users\abdallah\Desktop\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4138" y="1752601"/>
            <a:ext cx="5910262" cy="382875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itchFamily="18" charset="0"/>
              </a:rPr>
              <a:t>Combining 1:1 relationships</a:t>
            </a:r>
            <a:r>
              <a:rPr lang="en-US" dirty="0">
                <a:cs typeface="Times New Roman" pitchFamily="18" charset="0"/>
              </a:rPr>
              <a:t> </a:t>
            </a:r>
            <a:endParaRPr lang="en-GB" dirty="0">
              <a:cs typeface="Times New Roman" pitchFamily="18" charset="0"/>
            </a:endParaRPr>
          </a:p>
        </p:txBody>
      </p:sp>
      <p:pic>
        <p:nvPicPr>
          <p:cNvPr id="79877" name="Picture 5" descr="C18NF0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03389" y="1484314"/>
            <a:ext cx="8675687" cy="4987925"/>
          </a:xfrm>
          <a:noFill/>
          <a:ln/>
        </p:spPr>
      </p:pic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9775" y="274638"/>
            <a:ext cx="7743825" cy="1143000"/>
          </a:xfrm>
        </p:spPr>
        <p:txBody>
          <a:bodyPr/>
          <a:lstStyle/>
          <a:p>
            <a:r>
              <a:rPr lang="en-US" sz="2800" dirty="0">
                <a:cs typeface="Times New Roman" pitchFamily="18" charset="0"/>
              </a:rPr>
              <a:t>Duplicating non-key attributes in 1:* relationships to reduce joins</a:t>
            </a:r>
            <a:r>
              <a:rPr lang="en-GB" sz="2800" dirty="0"/>
              <a:t>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4572000"/>
            <a:ext cx="8229600" cy="2057400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SELECT p.*, </a:t>
            </a:r>
            <a:r>
              <a:rPr lang="en-US" sz="2400" dirty="0" err="1"/>
              <a:t>o.lName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FROM </a:t>
            </a:r>
            <a:r>
              <a:rPr lang="en-US" sz="2400" dirty="0" err="1"/>
              <a:t>PropertyForRent</a:t>
            </a:r>
            <a:r>
              <a:rPr lang="en-US" sz="2400" dirty="0"/>
              <a:t> p, </a:t>
            </a:r>
            <a:r>
              <a:rPr lang="en-US" sz="2400" dirty="0" err="1"/>
              <a:t>PrivateOwner</a:t>
            </a:r>
            <a:r>
              <a:rPr lang="en-US" sz="2400" dirty="0"/>
              <a:t> o</a:t>
            </a:r>
          </a:p>
          <a:p>
            <a:pPr>
              <a:buNone/>
            </a:pPr>
            <a:r>
              <a:rPr lang="en-US" sz="2400" dirty="0"/>
              <a:t>WHERE </a:t>
            </a:r>
            <a:r>
              <a:rPr lang="en-US" sz="2400" dirty="0" err="1"/>
              <a:t>p.ownerNo</a:t>
            </a:r>
            <a:r>
              <a:rPr lang="en-US" sz="2400" dirty="0"/>
              <a:t> = </a:t>
            </a:r>
            <a:r>
              <a:rPr lang="en-US" sz="2400" dirty="0" err="1"/>
              <a:t>o.ownerNo</a:t>
            </a:r>
            <a:r>
              <a:rPr lang="en-US" sz="2400" dirty="0"/>
              <a:t> AND </a:t>
            </a:r>
            <a:r>
              <a:rPr lang="en-US" sz="2400" dirty="0" err="1"/>
              <a:t>branchNo</a:t>
            </a:r>
            <a:r>
              <a:rPr lang="en-US" sz="2400" dirty="0"/>
              <a:t> = ‘B003’;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1" y="1697914"/>
            <a:ext cx="5410200" cy="279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cs typeface="Times New Roman" pitchFamily="18" charset="0"/>
              </a:rPr>
              <a:t>Duplicating non-key attributes in 1:* relationships to reduce joins</a:t>
            </a:r>
            <a:r>
              <a:rPr lang="en-GB" dirty="0"/>
              <a:t> </a:t>
            </a:r>
          </a:p>
        </p:txBody>
      </p:sp>
      <p:pic>
        <p:nvPicPr>
          <p:cNvPr id="80900" name="Picture 4" descr="DS3-Figure 17-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47850" y="1371600"/>
            <a:ext cx="8496300" cy="2951162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133600" y="4724401"/>
            <a:ext cx="655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SELECT p.*</a:t>
            </a:r>
          </a:p>
          <a:p>
            <a:r>
              <a:rPr lang="en-US" sz="2400" dirty="0"/>
              <a:t>FROM </a:t>
            </a:r>
            <a:r>
              <a:rPr lang="en-US" sz="2400" dirty="0" err="1"/>
              <a:t>PropertyForRent</a:t>
            </a:r>
            <a:r>
              <a:rPr lang="en-US" sz="2400" dirty="0"/>
              <a:t> p</a:t>
            </a:r>
          </a:p>
          <a:p>
            <a:r>
              <a:rPr lang="en-US" sz="2400" dirty="0"/>
              <a:t>WHERE </a:t>
            </a:r>
            <a:r>
              <a:rPr lang="en-US" sz="2400" dirty="0" err="1"/>
              <a:t>branchNo</a:t>
            </a:r>
            <a:r>
              <a:rPr lang="en-US" sz="2400" dirty="0"/>
              <a:t> = ‘B003’;</a:t>
            </a:r>
          </a:p>
        </p:txBody>
      </p:sp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cs typeface="Times New Roman" pitchFamily="18" charset="0"/>
              </a:rPr>
              <a:t>Duplicating non-key attributes in 1:* relationships: Lookup Table</a:t>
            </a:r>
            <a:endParaRPr lang="en-GB" sz="2800" dirty="0">
              <a:cs typeface="Times New Roman" pitchFamily="18" charset="0"/>
            </a:endParaRPr>
          </a:p>
        </p:txBody>
      </p:sp>
      <p:pic>
        <p:nvPicPr>
          <p:cNvPr id="100357" name="Picture 5" descr="C18NF04b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92314" y="1765300"/>
            <a:ext cx="8351837" cy="4254500"/>
          </a:xfrm>
          <a:noFill/>
          <a:ln/>
        </p:spPr>
      </p:pic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cs typeface="Times New Roman" pitchFamily="18" charset="0"/>
              </a:rPr>
              <a:t>Duplicating non-key attributes in 1:* relationships: Lookup Table</a:t>
            </a:r>
            <a:endParaRPr lang="en-GB" sz="2800" dirty="0">
              <a:cs typeface="Times New Roman" pitchFamily="18" charset="0"/>
            </a:endParaRPr>
          </a:p>
        </p:txBody>
      </p:sp>
      <p:pic>
        <p:nvPicPr>
          <p:cNvPr id="102404" name="Picture 4" descr="C18NF0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03388" y="1700214"/>
            <a:ext cx="8820150" cy="2808287"/>
          </a:xfrm>
          <a:noFill/>
          <a:ln/>
        </p:spPr>
      </p:pic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cs typeface="Times New Roman" pitchFamily="18" charset="0"/>
              </a:rPr>
              <a:t>Duplicating FK attributes in 1:* relationship to reduce joins </a:t>
            </a:r>
            <a:endParaRPr 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1" y="1828800"/>
            <a:ext cx="8405091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cs typeface="Times New Roman" pitchFamily="18" charset="0"/>
              </a:rPr>
              <a:t>Duplicating FK attributes in 1:* relationship to reduce joins</a:t>
            </a:r>
            <a:r>
              <a:rPr lang="en-US" dirty="0">
                <a:cs typeface="Times New Roman" pitchFamily="18" charset="0"/>
              </a:rPr>
              <a:t> </a:t>
            </a:r>
            <a:endParaRPr lang="en-GB" dirty="0">
              <a:cs typeface="Times New Roman" pitchFamily="18" charset="0"/>
            </a:endParaRPr>
          </a:p>
        </p:txBody>
      </p:sp>
      <p:pic>
        <p:nvPicPr>
          <p:cNvPr id="101381" name="Picture 5" descr="C18NF06a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486026" y="1489076"/>
            <a:ext cx="6048375" cy="5216525"/>
          </a:xfrm>
          <a:noFill/>
          <a:ln/>
        </p:spPr>
      </p:pic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Introducing repeating groups 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3973" name="Picture 5" descr="C18NF08a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992314" y="1484314"/>
            <a:ext cx="7488237" cy="5159375"/>
          </a:xfrm>
          <a:noFill/>
          <a:ln/>
        </p:spPr>
      </p:pic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itchFamily="18" charset="0"/>
              </a:rPr>
              <a:t>Partitioning relations</a:t>
            </a:r>
            <a:endParaRPr lang="en-GB" dirty="0">
              <a:cs typeface="Times New Roman" pitchFamily="18" charset="0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557338"/>
            <a:ext cx="8305800" cy="4114800"/>
          </a:xfrm>
        </p:spPr>
        <p:txBody>
          <a:bodyPr/>
          <a:lstStyle/>
          <a:p>
            <a:r>
              <a:rPr lang="en-US" sz="3000" b="1" dirty="0">
                <a:cs typeface="Times New Roman" pitchFamily="18" charset="0"/>
              </a:rPr>
              <a:t>Rather than combining relations together, alternative approach is to decompose them into a number of smaller and more manageable </a:t>
            </a:r>
            <a:r>
              <a:rPr lang="en-US" sz="3000" b="1" u="sng" dirty="0">
                <a:cs typeface="Times New Roman" pitchFamily="18" charset="0"/>
              </a:rPr>
              <a:t>partitions</a:t>
            </a:r>
            <a:r>
              <a:rPr lang="en-US" sz="3000" b="1" dirty="0">
                <a:cs typeface="Times New Roman" pitchFamily="18" charset="0"/>
              </a:rPr>
              <a:t>.</a:t>
            </a:r>
            <a:r>
              <a:rPr lang="en-GB" sz="3000" b="1" dirty="0"/>
              <a:t> </a:t>
            </a:r>
          </a:p>
          <a:p>
            <a:r>
              <a:rPr lang="en-GB" sz="3000" b="1" dirty="0"/>
              <a:t>Two main types of partitioning: horizontal and vertical.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042150" cy="1143000"/>
          </a:xfrm>
        </p:spPr>
        <p:txBody>
          <a:bodyPr/>
          <a:lstStyle/>
          <a:p>
            <a:r>
              <a:rPr lang="en-US" b="1" dirty="0">
                <a:cs typeface="Times New Roman" pitchFamily="18" charset="0"/>
              </a:rPr>
              <a:t>Partitioning relations</a:t>
            </a:r>
            <a:endParaRPr lang="en-GB" dirty="0">
              <a:cs typeface="Times New Roman" pitchFamily="18" charset="0"/>
            </a:endParaRPr>
          </a:p>
        </p:txBody>
      </p:sp>
      <p:pic>
        <p:nvPicPr>
          <p:cNvPr id="105476" name="Picture 4" descr="C18NF09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92314" y="1557339"/>
            <a:ext cx="8351837" cy="4264025"/>
          </a:xfrm>
          <a:noFill/>
          <a:ln/>
        </p:spPr>
      </p:pic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cs typeface="Times New Roman" pitchFamily="18" charset="0"/>
              </a:rPr>
              <a:t>Advantages and disadvantages of denormalization</a:t>
            </a:r>
            <a:endParaRPr lang="en-GB">
              <a:cs typeface="Times New Roman" pitchFamily="18" charset="0"/>
            </a:endParaRPr>
          </a:p>
        </p:txBody>
      </p:sp>
      <p:pic>
        <p:nvPicPr>
          <p:cNvPr id="93189" name="Picture 5" descr="C18NT0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780571" y="1535184"/>
            <a:ext cx="11001605" cy="4563612"/>
          </a:xfrm>
          <a:noFill/>
          <a:ln/>
        </p:spPr>
      </p:pic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US" dirty="0"/>
          </a:p>
          <a:p>
            <a:pPr algn="ctr">
              <a:buNone/>
            </a:pPr>
            <a:r>
              <a:rPr lang="en-US" sz="7200" dirty="0"/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09830CF6CB84B8D12D02B69700FAF" ma:contentTypeVersion="14" ma:contentTypeDescription="Create a new document." ma:contentTypeScope="" ma:versionID="91bb3fc2fda44f6dca498e4986d3c34f">
  <xsd:schema xmlns:xsd="http://www.w3.org/2001/XMLSchema" xmlns:xs="http://www.w3.org/2001/XMLSchema" xmlns:p="http://schemas.microsoft.com/office/2006/metadata/properties" xmlns:ns3="c0f90a4e-2534-4174-991f-0eb794d5b859" xmlns:ns4="d2981e9c-0c44-4237-a41f-50944ddb2e5d" targetNamespace="http://schemas.microsoft.com/office/2006/metadata/properties" ma:root="true" ma:fieldsID="d346f1bbf5bc0d23fe733b73729b7857" ns3:_="" ns4:_="">
    <xsd:import namespace="c0f90a4e-2534-4174-991f-0eb794d5b859"/>
    <xsd:import namespace="d2981e9c-0c44-4237-a41f-50944ddb2e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90a4e-2534-4174-991f-0eb794d5b8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981e9c-0c44-4237-a41f-50944ddb2e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D3909F-E191-4C23-B23C-BA46B5ADDDA2}">
  <ds:schemaRefs>
    <ds:schemaRef ds:uri="http://purl.org/dc/terms/"/>
    <ds:schemaRef ds:uri="http://schemas.microsoft.com/office/2006/documentManagement/types"/>
    <ds:schemaRef ds:uri="d2981e9c-0c44-4237-a41f-50944ddb2e5d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90a4e-2534-4174-991f-0eb794d5b85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B6039F5-814C-4C5B-A6B0-438D9C48F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90a4e-2534-4174-991f-0eb794d5b859"/>
    <ds:schemaRef ds:uri="d2981e9c-0c44-4237-a41f-50944ddb2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</TotalTime>
  <Pages>11</Pages>
  <Words>733</Words>
  <Application>Microsoft Office PowerPoint</Application>
  <PresentationFormat>Widescreen</PresentationFormat>
  <Paragraphs>89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CG Times</vt:lpstr>
      <vt:lpstr>Arial</vt:lpstr>
      <vt:lpstr>Calibri</vt:lpstr>
      <vt:lpstr>Montserrat</vt:lpstr>
      <vt:lpstr>PT Sans</vt:lpstr>
      <vt:lpstr>Times New Roman</vt:lpstr>
      <vt:lpstr>UCTI-Template-foundation-level</vt:lpstr>
      <vt:lpstr>PowerPoint Presentation</vt:lpstr>
      <vt:lpstr>Objectives</vt:lpstr>
      <vt:lpstr>Introduction</vt:lpstr>
      <vt:lpstr>Introduction</vt:lpstr>
      <vt:lpstr>What is Denormalization</vt:lpstr>
      <vt:lpstr>When to apply denormalization</vt:lpstr>
      <vt:lpstr>Sample Relation Diagram</vt:lpstr>
      <vt:lpstr>Sample Relations</vt:lpstr>
      <vt:lpstr>Combining 1:1 relationships </vt:lpstr>
      <vt:lpstr>Combining 1:1 relationships </vt:lpstr>
      <vt:lpstr>Duplicating non-key attributes in 1:* relationships to reduce joins </vt:lpstr>
      <vt:lpstr>Duplicating non-key attributes in 1:* relationships to reduce joins </vt:lpstr>
      <vt:lpstr>Duplicating non-key attributes in 1:* relationships: Lookup Table</vt:lpstr>
      <vt:lpstr>Duplicating non-key attributes in 1:* relationships: Lookup Table</vt:lpstr>
      <vt:lpstr>Duplicating FK attributes in 1:* relationship to reduce joins </vt:lpstr>
      <vt:lpstr>Duplicating FK attributes in 1:* relationship to reduce joins </vt:lpstr>
      <vt:lpstr>Introducing repeating groups </vt:lpstr>
      <vt:lpstr>Partitioning relations</vt:lpstr>
      <vt:lpstr>Partitioning relations</vt:lpstr>
      <vt:lpstr>Advantages and disadvantages of denormalization</vt:lpstr>
      <vt:lpstr>PowerPoint Presentation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lastModifiedBy>Lai Chew Ping</cp:lastModifiedBy>
  <cp:revision>333</cp:revision>
  <cp:lastPrinted>2023-02-03T03:07:34Z</cp:lastPrinted>
  <dcterms:created xsi:type="dcterms:W3CDTF">2005-08-02T10:18:20Z</dcterms:created>
  <dcterms:modified xsi:type="dcterms:W3CDTF">2025-09-11T03:53:49Z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0x01010050C09830CF6CB84B8D12D02B69700FAF</vt:lpwstr>
  </property>
</Properties>
</file>