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108"/>
  </p:notesMasterIdLst>
  <p:handoutMasterIdLst>
    <p:handoutMasterId r:id="rId109"/>
  </p:handout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  <p:sldId id="26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6" r:id="rId52"/>
    <p:sldId id="317" r:id="rId53"/>
    <p:sldId id="318" r:id="rId54"/>
    <p:sldId id="315" r:id="rId55"/>
    <p:sldId id="319" r:id="rId56"/>
    <p:sldId id="320" r:id="rId57"/>
    <p:sldId id="321" r:id="rId58"/>
    <p:sldId id="323" r:id="rId59"/>
    <p:sldId id="322" r:id="rId60"/>
    <p:sldId id="324" r:id="rId61"/>
    <p:sldId id="325" r:id="rId62"/>
    <p:sldId id="326" r:id="rId63"/>
    <p:sldId id="327" r:id="rId64"/>
    <p:sldId id="328" r:id="rId65"/>
    <p:sldId id="329" r:id="rId66"/>
    <p:sldId id="330" r:id="rId67"/>
    <p:sldId id="331" r:id="rId68"/>
    <p:sldId id="332" r:id="rId69"/>
    <p:sldId id="333" r:id="rId70"/>
    <p:sldId id="334" r:id="rId71"/>
    <p:sldId id="335" r:id="rId72"/>
    <p:sldId id="336" r:id="rId73"/>
    <p:sldId id="337" r:id="rId74"/>
    <p:sldId id="338" r:id="rId75"/>
    <p:sldId id="339" r:id="rId76"/>
    <p:sldId id="340" r:id="rId77"/>
    <p:sldId id="341" r:id="rId78"/>
    <p:sldId id="342" r:id="rId79"/>
    <p:sldId id="343" r:id="rId80"/>
    <p:sldId id="344" r:id="rId81"/>
    <p:sldId id="345" r:id="rId82"/>
    <p:sldId id="346" r:id="rId83"/>
    <p:sldId id="347" r:id="rId84"/>
    <p:sldId id="348" r:id="rId85"/>
    <p:sldId id="350" r:id="rId86"/>
    <p:sldId id="351" r:id="rId87"/>
    <p:sldId id="349" r:id="rId88"/>
    <p:sldId id="352" r:id="rId89"/>
    <p:sldId id="353" r:id="rId90"/>
    <p:sldId id="354" r:id="rId91"/>
    <p:sldId id="355" r:id="rId92"/>
    <p:sldId id="356" r:id="rId93"/>
    <p:sldId id="357" r:id="rId94"/>
    <p:sldId id="358" r:id="rId95"/>
    <p:sldId id="359" r:id="rId96"/>
    <p:sldId id="360" r:id="rId97"/>
    <p:sldId id="361" r:id="rId98"/>
    <p:sldId id="362" r:id="rId99"/>
    <p:sldId id="363" r:id="rId100"/>
    <p:sldId id="364" r:id="rId101"/>
    <p:sldId id="365" r:id="rId102"/>
    <p:sldId id="366" r:id="rId103"/>
    <p:sldId id="367" r:id="rId104"/>
    <p:sldId id="368" r:id="rId105"/>
    <p:sldId id="369" r:id="rId106"/>
    <p:sldId id="370" r:id="rId107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Intro - White BG" id="{B4587B1E-BB88-4173-8339-2929187587A5}">
          <p14:sldIdLst>
            <p14:sldId id="256"/>
            <p14:sldId id="257"/>
            <p14:sldId id="258"/>
            <p14:sldId id="260"/>
            <p14:sldId id="261"/>
            <p14:sldId id="262"/>
            <p14:sldId id="263"/>
            <p14:sldId id="26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6"/>
            <p14:sldId id="317"/>
            <p14:sldId id="318"/>
            <p14:sldId id="315"/>
            <p14:sldId id="319"/>
            <p14:sldId id="320"/>
            <p14:sldId id="321"/>
            <p14:sldId id="323"/>
            <p14:sldId id="322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50"/>
            <p14:sldId id="351"/>
            <p14:sldId id="349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1449"/>
    <a:srgbClr val="001B4D"/>
    <a:srgbClr val="FB6B53"/>
    <a:srgbClr val="FF6600"/>
    <a:srgbClr val="A2C1FE"/>
    <a:srgbClr val="A2FFA3"/>
    <a:srgbClr val="FFFF99"/>
    <a:srgbClr val="FFFF66"/>
    <a:srgbClr val="FCFEB9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9" autoAdjust="0"/>
    <p:restoredTop sz="94249" autoAdjust="0"/>
  </p:normalViewPr>
  <p:slideViewPr>
    <p:cSldViewPr snapToGrid="0">
      <p:cViewPr varScale="1">
        <p:scale>
          <a:sx n="81" d="100"/>
          <a:sy n="81" d="100"/>
        </p:scale>
        <p:origin x="739" y="53"/>
      </p:cViewPr>
      <p:guideLst/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8"/>
    </p:cViewPr>
  </p:sorterViewPr>
  <p:notesViewPr>
    <p:cSldViewPr snapToGrid="0">
      <p:cViewPr varScale="1">
        <p:scale>
          <a:sx n="52" d="100"/>
          <a:sy n="52" d="100"/>
        </p:scale>
        <p:origin x="30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theme" Target="theme/theme1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tableStyles" Target="tableStyle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presProps" Target="pres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AC38E3-5144-412F-83AC-38A5B9DE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08D27AB-67B4-4693-A97B-2BDB09D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27" y="9192936"/>
            <a:ext cx="394340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20BED86-76BB-4410-9008-061BF87713AB}" type="slidenum">
              <a:rPr lang="en-GB" alt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71953E81-BBEF-44F9-89AF-8D785172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39FB2E-0CEB-4E99-ABDC-42A6B27BD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4B6ACB56-54E0-4171-9443-B2E55073F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" y="4620549"/>
            <a:ext cx="5852160" cy="37803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DBCDF8-B37C-47C2-B6B1-4B2635759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8" y="9119503"/>
            <a:ext cx="3169920" cy="4816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0D94D-E1CF-4942-9670-7567F4F4487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8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3220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35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31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172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8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6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9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4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689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462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79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8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1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577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996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45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14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173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482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118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169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0362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13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749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9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 userDrawn="1"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 userDrawn="1"/>
        </p:nvSpPr>
        <p:spPr>
          <a:xfrm>
            <a:off x="39175" y="6588371"/>
            <a:ext cx="23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 userDrawn="1"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53" r:id="rId2"/>
    <p:sldLayoutId id="2147483729" r:id="rId3"/>
    <p:sldLayoutId id="2147483757" r:id="rId4"/>
    <p:sldLayoutId id="2147483758" r:id="rId5"/>
    <p:sldLayoutId id="2147483720" r:id="rId6"/>
    <p:sldLayoutId id="2147483756" r:id="rId7"/>
    <p:sldLayoutId id="2147483719" r:id="rId8"/>
    <p:sldLayoutId id="2147483737" r:id="rId9"/>
    <p:sldLayoutId id="2147483723" r:id="rId10"/>
    <p:sldLayoutId id="2147483739" r:id="rId11"/>
    <p:sldLayoutId id="2147483721" r:id="rId12"/>
    <p:sldLayoutId id="2147483744" r:id="rId13"/>
    <p:sldLayoutId id="2147483722" r:id="rId14"/>
    <p:sldLayoutId id="2147483745" r:id="rId15"/>
    <p:sldLayoutId id="2147483731" r:id="rId16"/>
    <p:sldLayoutId id="2147483724" r:id="rId17"/>
    <p:sldLayoutId id="2147483730" r:id="rId18"/>
    <p:sldLayoutId id="2147483735" r:id="rId19"/>
    <p:sldLayoutId id="2147483725" r:id="rId20"/>
    <p:sldLayoutId id="2147483743" r:id="rId21"/>
    <p:sldLayoutId id="2147483726" r:id="rId22"/>
    <p:sldLayoutId id="2147483740" r:id="rId23"/>
    <p:sldLayoutId id="2147483732" r:id="rId24"/>
    <p:sldLayoutId id="2147483742" r:id="rId25"/>
    <p:sldLayoutId id="2147483749" r:id="rId26"/>
    <p:sldLayoutId id="2147483750" r:id="rId27"/>
    <p:sldLayoutId id="2147483741" r:id="rId28"/>
    <p:sldLayoutId id="2147483734" r:id="rId29"/>
    <p:sldLayoutId id="2147483733" r:id="rId30"/>
    <p:sldLayoutId id="2147483752" r:id="rId31"/>
    <p:sldLayoutId id="2147483727" r:id="rId32"/>
    <p:sldLayoutId id="2147483738" r:id="rId33"/>
    <p:sldLayoutId id="2147483751" r:id="rId34"/>
    <p:sldLayoutId id="2147483747" r:id="rId35"/>
    <p:sldLayoutId id="2147483736" r:id="rId36"/>
    <p:sldLayoutId id="2147483748" r:id="rId37"/>
    <p:sldLayoutId id="2147483728" r:id="rId38"/>
    <p:sldLayoutId id="2147483746" r:id="rId39"/>
    <p:sldLayoutId id="2147483754" r:id="rId40"/>
    <p:sldLayoutId id="2147483755" r:id="rId4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CT004-3.5-3 </a:t>
            </a:r>
            <a:br>
              <a:rPr lang="en-US" altLang="en-US">
                <a:solidFill>
                  <a:schemeClr val="tx1"/>
                </a:solidFill>
              </a:rPr>
            </a:br>
            <a:r>
              <a:rPr lang="en-US" altLang="en-US">
                <a:solidFill>
                  <a:schemeClr val="tx1"/>
                </a:solidFill>
              </a:rPr>
              <a:t>Advanced Database Systems</a:t>
            </a:r>
            <a:endParaRPr lang="en-MY" altLang="en-US" dirty="0">
              <a:solidFill>
                <a:schemeClr val="tx1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SQL: Data Definition &amp; Manipulation Language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Topic &amp; Structure of Lesson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/>
              <a:t>Purpose and importance of SQL.</a:t>
            </a:r>
          </a:p>
          <a:p>
            <a:r>
              <a:rPr lang="en-US" altLang="en-US" sz="2000" b="1"/>
              <a:t>How to retrieve data from database using SELECT and: </a:t>
            </a:r>
          </a:p>
          <a:p>
            <a:endParaRPr lang="en-US" altLang="en-US" sz="2000" b="1"/>
          </a:p>
          <a:p>
            <a:pPr lvl="1"/>
            <a:r>
              <a:rPr lang="en-US" altLang="en-US" b="1"/>
              <a:t>Use compound WHERE conditions.</a:t>
            </a:r>
          </a:p>
          <a:p>
            <a:pPr lvl="1"/>
            <a:r>
              <a:rPr lang="en-US" altLang="en-US" b="1"/>
              <a:t>Sort query results using ORDER BY.</a:t>
            </a:r>
          </a:p>
          <a:p>
            <a:pPr lvl="1"/>
            <a:r>
              <a:rPr lang="en-US" altLang="en-US" b="1"/>
              <a:t>Use aggregate functions.</a:t>
            </a:r>
          </a:p>
        </p:txBody>
      </p:sp>
      <p:sp>
        <p:nvSpPr>
          <p:cNvPr id="614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Topic &amp; Structure of Lesson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/>
              <a:t>Group data using GROUP BY and HAVING.</a:t>
            </a:r>
          </a:p>
          <a:p>
            <a:pPr lvl="1"/>
            <a:r>
              <a:rPr lang="en-US" altLang="en-US"/>
              <a:t>Use subqueries</a:t>
            </a:r>
          </a:p>
          <a:p>
            <a:pPr lvl="1"/>
            <a:r>
              <a:rPr lang="en-US" altLang="en-US"/>
              <a:t>Join tables together.</a:t>
            </a:r>
          </a:p>
          <a:p>
            <a:pPr lvl="1"/>
            <a:endParaRPr lang="en-US" altLang="en-US"/>
          </a:p>
          <a:p>
            <a:r>
              <a:rPr lang="en-US" altLang="en-US"/>
              <a:t>How to update database using INSERT, UPDATE, and DELETE.</a:t>
            </a:r>
          </a:p>
          <a:p>
            <a:endParaRPr lang="en-US" altLang="en-US"/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Key Terms you must be able to use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If you have mastered this topic, </a:t>
            </a:r>
            <a:r>
              <a:rPr lang="en-US" altLang="en-US" sz="2000" b="1">
                <a:solidFill>
                  <a:srgbClr val="990000"/>
                </a:solidFill>
              </a:rPr>
              <a:t>you should be able to use the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990000"/>
                </a:solidFill>
              </a:rPr>
              <a:t>following terms correctly in your assignments and exams</a:t>
            </a:r>
            <a:r>
              <a:rPr lang="en-US" altLang="en-US" sz="2000" b="1"/>
              <a:t>: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000" b="1"/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000" b="1"/>
          </a:p>
          <a:p>
            <a:pPr>
              <a:lnSpc>
                <a:spcPct val="80000"/>
              </a:lnSpc>
            </a:pPr>
            <a:r>
              <a:rPr lang="en-US" altLang="en-US" sz="2000"/>
              <a:t> DDL (Data Definition Language)</a:t>
            </a:r>
          </a:p>
          <a:p>
            <a:pPr>
              <a:lnSpc>
                <a:spcPct val="80000"/>
              </a:lnSpc>
            </a:pPr>
            <a:r>
              <a:rPr lang="en-US" altLang="en-US" sz="2000"/>
              <a:t> DML (Data Manipulation Language)</a:t>
            </a:r>
          </a:p>
          <a:p>
            <a:pPr>
              <a:lnSpc>
                <a:spcPct val="80000"/>
              </a:lnSpc>
            </a:pPr>
            <a:r>
              <a:rPr lang="en-US" altLang="en-US" sz="2000"/>
              <a:t> CREATE TABLE</a:t>
            </a:r>
          </a:p>
          <a:p>
            <a:pPr>
              <a:lnSpc>
                <a:spcPct val="80000"/>
              </a:lnSpc>
            </a:pPr>
            <a:r>
              <a:rPr lang="en-US" altLang="en-US" sz="2000"/>
              <a:t> INSERT INTO …. VALUES</a:t>
            </a:r>
          </a:p>
          <a:p>
            <a:pPr>
              <a:lnSpc>
                <a:spcPct val="80000"/>
              </a:lnSpc>
            </a:pPr>
            <a:r>
              <a:rPr lang="en-US" altLang="en-US" sz="2000"/>
              <a:t> SELECT … FROM …. WHERE</a:t>
            </a:r>
          </a:p>
          <a:p>
            <a:pPr>
              <a:lnSpc>
                <a:spcPct val="80000"/>
              </a:lnSpc>
            </a:pPr>
            <a:r>
              <a:rPr lang="en-US" altLang="en-US" sz="2000"/>
              <a:t> GROUP BY, HAVING, ORDER BY</a:t>
            </a:r>
          </a:p>
          <a:p>
            <a:pPr>
              <a:lnSpc>
                <a:spcPct val="80000"/>
              </a:lnSpc>
            </a:pPr>
            <a:r>
              <a:rPr lang="en-US" altLang="en-US" sz="2000"/>
              <a:t> DISTINCT</a:t>
            </a:r>
          </a:p>
          <a:p>
            <a:pPr>
              <a:lnSpc>
                <a:spcPct val="80000"/>
              </a:lnSpc>
            </a:pPr>
            <a:r>
              <a:rPr lang="en-US" altLang="en-US" sz="2000"/>
              <a:t> IN, NOT IN, LIKE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000" b="1"/>
          </a:p>
          <a:p>
            <a:pPr>
              <a:lnSpc>
                <a:spcPct val="80000"/>
              </a:lnSpc>
              <a:buFontTx/>
              <a:buNone/>
            </a:pPr>
            <a:endParaRPr lang="en-US" altLang="en-US" sz="1800" b="1">
              <a:solidFill>
                <a:srgbClr val="990000"/>
              </a:solidFill>
            </a:endParaRPr>
          </a:p>
        </p:txBody>
      </p:sp>
      <p:sp>
        <p:nvSpPr>
          <p:cNvPr id="819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Key Terms you must be able to use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1"/>
              <a:t>	If you have mastered this topic, </a:t>
            </a:r>
            <a:r>
              <a:rPr lang="en-US" altLang="en-US" sz="1800" b="1">
                <a:solidFill>
                  <a:srgbClr val="990000"/>
                </a:solidFill>
              </a:rPr>
              <a:t>you should be able to use the following terms correctly in your assignments and exams</a:t>
            </a:r>
            <a:r>
              <a:rPr lang="en-US" altLang="en-US" sz="1800" b="1"/>
              <a:t>:</a:t>
            </a:r>
          </a:p>
          <a:p>
            <a:endParaRPr lang="en-US" altLang="en-US" sz="1800" b="1"/>
          </a:p>
          <a:p>
            <a:r>
              <a:rPr lang="en-US" altLang="en-US" sz="1800"/>
              <a:t> NULL, IS NOT NULL</a:t>
            </a:r>
          </a:p>
          <a:p>
            <a:r>
              <a:rPr lang="en-US" altLang="en-US" sz="1800"/>
              <a:t> COUNT, SUM, AVG, MIN, MAX</a:t>
            </a:r>
          </a:p>
          <a:p>
            <a:r>
              <a:rPr lang="en-US" altLang="en-US" sz="1800"/>
              <a:t> JOIN</a:t>
            </a:r>
          </a:p>
          <a:p>
            <a:r>
              <a:rPr lang="en-US" altLang="en-US" sz="1800"/>
              <a:t> EXISTS, NOT EXISTS</a:t>
            </a:r>
          </a:p>
          <a:p>
            <a:r>
              <a:rPr lang="en-US" altLang="en-US" sz="1800"/>
              <a:t> UPDATE … FROM … WHERE</a:t>
            </a:r>
          </a:p>
          <a:p>
            <a:endParaRPr lang="en-US" altLang="en-US" sz="1800"/>
          </a:p>
        </p:txBody>
      </p:sp>
      <p:sp>
        <p:nvSpPr>
          <p:cNvPr id="922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00"/>
              <a:t>Objectives of SQL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Ideally, database language should allow user to:</a:t>
            </a:r>
          </a:p>
          <a:p>
            <a:pPr lvl="1" algn="just"/>
            <a:r>
              <a:rPr lang="en-US" altLang="en-US"/>
              <a:t>create the database and relation structures; </a:t>
            </a:r>
          </a:p>
          <a:p>
            <a:pPr lvl="1" algn="just"/>
            <a:r>
              <a:rPr lang="en-US" altLang="en-US"/>
              <a:t>perform insertion, modification, deletion of data from relations; </a:t>
            </a:r>
          </a:p>
          <a:p>
            <a:pPr lvl="1" algn="just"/>
            <a:r>
              <a:rPr lang="en-US" altLang="en-US"/>
              <a:t>perform simple and complex queries.</a:t>
            </a:r>
          </a:p>
        </p:txBody>
      </p:sp>
      <p:sp>
        <p:nvSpPr>
          <p:cNvPr id="1024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00"/>
              <a:t>Objectives of SQL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SQL is a transform-oriented language with 3 major components:</a:t>
            </a:r>
          </a:p>
          <a:p>
            <a:pPr algn="just">
              <a:lnSpc>
                <a:spcPct val="20000"/>
              </a:lnSpc>
            </a:pPr>
            <a:endParaRPr lang="en-US" altLang="en-US"/>
          </a:p>
          <a:p>
            <a:pPr lvl="1" algn="just"/>
            <a:r>
              <a:rPr lang="en-US" altLang="en-US"/>
              <a:t>A DDL for defining database structure.</a:t>
            </a:r>
          </a:p>
          <a:p>
            <a:pPr lvl="1" algn="just"/>
            <a:r>
              <a:rPr lang="en-US" altLang="en-US"/>
              <a:t>A DML for retrieving and updating data.</a:t>
            </a:r>
          </a:p>
          <a:p>
            <a:pPr lvl="1" algn="just"/>
            <a:r>
              <a:rPr lang="en-US" altLang="en-US"/>
              <a:t>A DCL </a:t>
            </a:r>
            <a:r>
              <a:rPr lang="en-MY" altLang="en-US"/>
              <a:t>for control access to data in a database.</a:t>
            </a:r>
            <a:endParaRPr lang="en-US" altLang="en-US"/>
          </a:p>
          <a:p>
            <a:pPr lvl="1" algn="just">
              <a:lnSpc>
                <a:spcPct val="20000"/>
              </a:lnSpc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</p:txBody>
      </p:sp>
      <p:sp>
        <p:nvSpPr>
          <p:cNvPr id="1126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Objectives of SQL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1800"/>
              <a:t>Consists of standard English words:</a:t>
            </a:r>
          </a:p>
          <a:p>
            <a:pPr algn="just">
              <a:lnSpc>
                <a:spcPct val="40000"/>
              </a:lnSpc>
              <a:buFontTx/>
              <a:buNone/>
            </a:pPr>
            <a:endParaRPr lang="en-US" altLang="en-US" sz="1800"/>
          </a:p>
          <a:p>
            <a:pPr algn="just">
              <a:lnSpc>
                <a:spcPct val="40000"/>
              </a:lnSpc>
              <a:buFontTx/>
              <a:buNone/>
            </a:pPr>
            <a:endParaRPr lang="en-US" altLang="en-US" sz="1800"/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en-US" sz="1800"/>
              <a:t>1)  CREATE TABLE Staff(staffNo VARCHAR(5),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en-US" sz="1800"/>
              <a:t>			</a:t>
            </a:r>
            <a:r>
              <a:rPr lang="en-US" altLang="en-US" sz="1400"/>
              <a:t>lName VARCHAR(15),</a:t>
            </a:r>
            <a:r>
              <a:rPr lang="en-US" altLang="en-US" sz="1800"/>
              <a:t> 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 sz="1700"/>
              <a:t>			</a:t>
            </a:r>
            <a:r>
              <a:rPr lang="en-US" altLang="en-US" sz="1600"/>
              <a:t>salary DECIMAL(7,2));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en-US" sz="1800"/>
              <a:t>2) INSERT INTO Staff VALUES (‘SG16’, ‘Brown’,   8300);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en-US" sz="1800"/>
              <a:t>3) SELECT staffNo, lName, salary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en-US" sz="1800"/>
              <a:t>    FROM Staff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en-US" sz="1800"/>
              <a:t>    WHERE salary &gt; 10000;</a:t>
            </a:r>
          </a:p>
          <a:p>
            <a:pPr>
              <a:lnSpc>
                <a:spcPct val="90000"/>
              </a:lnSpc>
            </a:pPr>
            <a:endParaRPr lang="en-US" altLang="en-US" sz="1600"/>
          </a:p>
        </p:txBody>
      </p:sp>
      <p:sp>
        <p:nvSpPr>
          <p:cNvPr id="1229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00"/>
              <a:t>SELECT Statement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algn="just">
              <a:buFontTx/>
              <a:buNone/>
            </a:pPr>
            <a:r>
              <a:rPr lang="en-US" altLang="en-US"/>
              <a:t>SELECT [DISTINCT | ALL] </a:t>
            </a:r>
          </a:p>
          <a:p>
            <a:pPr lvl="1" algn="just">
              <a:buFontTx/>
              <a:buNone/>
            </a:pPr>
            <a:r>
              <a:rPr lang="en-US" altLang="en-US"/>
              <a:t>	{* | [columnExpression [AS newName]] [,...] }</a:t>
            </a:r>
          </a:p>
          <a:p>
            <a:pPr lvl="1" algn="just">
              <a:buFontTx/>
              <a:buNone/>
            </a:pPr>
            <a:r>
              <a:rPr lang="en-US" altLang="en-US"/>
              <a:t>FROM		TableName [alias] [, ...]</a:t>
            </a:r>
          </a:p>
          <a:p>
            <a:pPr lvl="1" algn="just">
              <a:buFontTx/>
              <a:buNone/>
            </a:pPr>
            <a:r>
              <a:rPr lang="en-US" altLang="en-US"/>
              <a:t>[WHERE	condition]</a:t>
            </a:r>
          </a:p>
          <a:p>
            <a:pPr lvl="1" algn="just">
              <a:buFontTx/>
              <a:buNone/>
            </a:pPr>
            <a:r>
              <a:rPr lang="en-US" altLang="en-US"/>
              <a:t>[GROUP BY	columnList]  [HAVING	condition]</a:t>
            </a:r>
          </a:p>
          <a:p>
            <a:pPr lvl="1" algn="just">
              <a:buFontTx/>
              <a:buNone/>
            </a:pPr>
            <a:r>
              <a:rPr lang="en-US" altLang="en-US"/>
              <a:t>[ORDER BY	columnList]</a:t>
            </a:r>
          </a:p>
          <a:p>
            <a:endParaRPr lang="en-US" altLang="en-US" sz="2000"/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 Statement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400"/>
              <a:t>SELECT		Specifies which columns are to</a:t>
            </a:r>
          </a:p>
          <a:p>
            <a:pPr lvl="1" algn="just">
              <a:buFontTx/>
              <a:buNone/>
            </a:pPr>
            <a:r>
              <a:rPr lang="en-US" altLang="en-US" sz="2400"/>
              <a:t>				appear in output.</a:t>
            </a:r>
          </a:p>
          <a:p>
            <a:pPr algn="just">
              <a:buFontTx/>
              <a:buNone/>
            </a:pPr>
            <a:r>
              <a:rPr lang="en-US" altLang="en-US" sz="2400"/>
              <a:t>FROM			Specifies table(s) to be used.</a:t>
            </a:r>
          </a:p>
          <a:p>
            <a:pPr algn="just">
              <a:buFontTx/>
              <a:buNone/>
            </a:pPr>
            <a:r>
              <a:rPr lang="en-US" altLang="en-US" sz="2400"/>
              <a:t>WHERE		Filters rows.</a:t>
            </a:r>
          </a:p>
          <a:p>
            <a:pPr algn="just">
              <a:buFontTx/>
              <a:buNone/>
            </a:pPr>
            <a:r>
              <a:rPr lang="en-US" altLang="en-US" sz="2400"/>
              <a:t>GROUP BY		Forms groups of rows with same</a:t>
            </a:r>
          </a:p>
          <a:p>
            <a:pPr lvl="1" algn="just">
              <a:buFontTx/>
              <a:buNone/>
            </a:pPr>
            <a:r>
              <a:rPr lang="en-US" altLang="en-US" sz="2400"/>
              <a:t>				column value.</a:t>
            </a:r>
          </a:p>
          <a:p>
            <a:pPr algn="just">
              <a:buFontTx/>
              <a:buNone/>
            </a:pPr>
            <a:r>
              <a:rPr lang="en-US" altLang="en-US" sz="2400"/>
              <a:t>HAVING		Filters groups subject to some</a:t>
            </a:r>
          </a:p>
          <a:p>
            <a:pPr lvl="1" algn="just">
              <a:buFontTx/>
              <a:buNone/>
            </a:pPr>
            <a:r>
              <a:rPr lang="en-US" altLang="en-US" sz="2400"/>
              <a:t>				condition.</a:t>
            </a:r>
          </a:p>
          <a:p>
            <a:pPr algn="just">
              <a:buFontTx/>
              <a:buNone/>
            </a:pPr>
            <a:r>
              <a:rPr lang="en-US" altLang="en-US" sz="2400"/>
              <a:t>ORDER BY 		Specifies the order of the output.</a:t>
            </a:r>
          </a:p>
          <a:p>
            <a:endParaRPr lang="en-US" altLang="en-US" sz="2400"/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 Statement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000"/>
              <a:t>Order of the clauses cannot be changed.</a:t>
            </a:r>
          </a:p>
          <a:p>
            <a:pPr algn="just">
              <a:lnSpc>
                <a:spcPct val="60000"/>
              </a:lnSpc>
            </a:pPr>
            <a:endParaRPr lang="en-US" altLang="en-US" sz="2000"/>
          </a:p>
          <a:p>
            <a:pPr algn="just"/>
            <a:r>
              <a:rPr lang="en-US" altLang="en-US" sz="2000"/>
              <a:t>Only SELECT and FROM are mandatory.</a:t>
            </a:r>
          </a:p>
          <a:p>
            <a:endParaRPr lang="en-US" altLang="en-US" sz="2000"/>
          </a:p>
        </p:txBody>
      </p:sp>
      <p:sp>
        <p:nvSpPr>
          <p:cNvPr id="1536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All Columns, All Rows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1800"/>
              <a:t>List full details of all staff.</a:t>
            </a:r>
          </a:p>
          <a:p>
            <a:pPr algn="just">
              <a:lnSpc>
                <a:spcPct val="40000"/>
              </a:lnSpc>
              <a:buFontTx/>
              <a:buNone/>
            </a:pPr>
            <a:endParaRPr lang="en-US" altLang="en-US" sz="1800"/>
          </a:p>
          <a:p>
            <a:pPr algn="just">
              <a:buFontTx/>
              <a:buNone/>
            </a:pPr>
            <a:r>
              <a:rPr lang="en-US" altLang="en-US" sz="1800"/>
              <a:t>	SELECT staffNo, fName, lName, position, gender, DOB, salary, branchNo</a:t>
            </a:r>
          </a:p>
          <a:p>
            <a:pPr lvl="1" algn="just">
              <a:buFontTx/>
              <a:buNone/>
            </a:pPr>
            <a:r>
              <a:rPr lang="en-US" altLang="en-US" sz="1800"/>
              <a:t>FROM Staff;</a:t>
            </a:r>
          </a:p>
          <a:p>
            <a:pPr algn="just">
              <a:lnSpc>
                <a:spcPct val="30000"/>
              </a:lnSpc>
              <a:buFontTx/>
              <a:buNone/>
            </a:pPr>
            <a:endParaRPr lang="en-US" altLang="en-US" sz="1800"/>
          </a:p>
          <a:p>
            <a:pPr algn="just"/>
            <a:r>
              <a:rPr lang="en-US" altLang="en-US" sz="1800"/>
              <a:t>Can use * as an abbreviation for ‘all columns’:</a:t>
            </a:r>
          </a:p>
          <a:p>
            <a:pPr algn="just">
              <a:lnSpc>
                <a:spcPct val="30000"/>
              </a:lnSpc>
            </a:pPr>
            <a:endParaRPr lang="en-US" altLang="en-US" sz="1800"/>
          </a:p>
          <a:p>
            <a:pPr lvl="1" algn="just">
              <a:buFontTx/>
              <a:buNone/>
            </a:pPr>
            <a:r>
              <a:rPr lang="en-US" altLang="en-US" sz="1800"/>
              <a:t>		SELECT *</a:t>
            </a:r>
          </a:p>
          <a:p>
            <a:pPr lvl="1" algn="just">
              <a:buFontTx/>
              <a:buNone/>
            </a:pPr>
            <a:r>
              <a:rPr lang="en-US" altLang="en-US" sz="1800"/>
              <a:t>		FROM Staff;</a:t>
            </a:r>
          </a:p>
          <a:p>
            <a:pPr>
              <a:buFontTx/>
              <a:buNone/>
            </a:pPr>
            <a:endParaRPr lang="en-US" altLang="en-US" sz="180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All Columns, All Rows</a:t>
            </a:r>
          </a:p>
        </p:txBody>
      </p:sp>
      <p:pic>
        <p:nvPicPr>
          <p:cNvPr id="17411" name="Picture 4" descr="DS3-Table 05-0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09826" y="1528764"/>
            <a:ext cx="7078663" cy="4086225"/>
          </a:xfrm>
          <a:noFill/>
        </p:spPr>
      </p:pic>
      <p:sp>
        <p:nvSpPr>
          <p:cNvPr id="1741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Specific Columns, All Rows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000"/>
              <a:t>   Produce a list of salaries for all staff, showing only  staff number, first and last names, and salary.</a:t>
            </a:r>
          </a:p>
          <a:p>
            <a:pPr algn="just">
              <a:buFontTx/>
              <a:buNone/>
            </a:pPr>
            <a:endParaRPr lang="en-US" altLang="en-US" sz="2000"/>
          </a:p>
          <a:p>
            <a:pPr lvl="1" algn="just">
              <a:buFontTx/>
              <a:buNone/>
            </a:pPr>
            <a:r>
              <a:rPr lang="en-US" altLang="en-US"/>
              <a:t>		SELECT staffNo, fName, lName, salary</a:t>
            </a:r>
          </a:p>
          <a:p>
            <a:pPr lvl="1" algn="just">
              <a:buFontTx/>
              <a:buNone/>
            </a:pPr>
            <a:r>
              <a:rPr lang="en-US" altLang="en-US"/>
              <a:t>		FROM Staff;</a:t>
            </a:r>
          </a:p>
          <a:p>
            <a:endParaRPr lang="en-US" altLang="en-US" sz="2000"/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Specific Columns, All Rows</a:t>
            </a:r>
          </a:p>
        </p:txBody>
      </p:sp>
      <p:pic>
        <p:nvPicPr>
          <p:cNvPr id="19459" name="Picture 4" descr="DS3-Table 05-0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74914" y="1655763"/>
            <a:ext cx="6823075" cy="3429000"/>
          </a:xfrm>
          <a:noFill/>
        </p:spPr>
      </p:pic>
      <p:sp>
        <p:nvSpPr>
          <p:cNvPr id="1946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00"/>
              <a:t>Example: Use of DISTINCT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000"/>
              <a:t>   List the property numbers of all properties that have been viewed.</a:t>
            </a:r>
          </a:p>
          <a:p>
            <a:pPr algn="just">
              <a:lnSpc>
                <a:spcPct val="40000"/>
              </a:lnSpc>
              <a:buFontTx/>
              <a:buNone/>
            </a:pPr>
            <a:endParaRPr lang="en-US" altLang="en-US" sz="2000"/>
          </a:p>
          <a:p>
            <a:pPr algn="just">
              <a:buFontTx/>
              <a:buNone/>
            </a:pPr>
            <a:r>
              <a:rPr lang="en-US" altLang="en-US" sz="2000"/>
              <a:t>	</a:t>
            </a:r>
            <a:r>
              <a:rPr lang="en-US" altLang="en-US" sz="2000" b="1"/>
              <a:t>	</a:t>
            </a:r>
            <a:r>
              <a:rPr lang="en-US" altLang="en-US" sz="2000"/>
              <a:t>SELECT propertyNo</a:t>
            </a:r>
          </a:p>
          <a:p>
            <a:pPr lvl="1">
              <a:buFontTx/>
              <a:buNone/>
            </a:pPr>
            <a:r>
              <a:rPr lang="en-US" altLang="en-US" b="1"/>
              <a:t>		FROM Viewing;</a:t>
            </a:r>
          </a:p>
          <a:p>
            <a:endParaRPr lang="en-US" altLang="en-US" sz="2000" b="1"/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  <p:pic>
        <p:nvPicPr>
          <p:cNvPr id="135172" name="Picture 4" descr="DS3-Table 05-03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1" y="3276600"/>
            <a:ext cx="2238375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: Use of DISTINCT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/>
              <a:t>Use DISTINCT to eliminate duplicates:</a:t>
            </a:r>
          </a:p>
          <a:p>
            <a:pPr>
              <a:lnSpc>
                <a:spcPct val="0"/>
              </a:lnSpc>
            </a:pPr>
            <a:endParaRPr lang="en-US" altLang="en-US" sz="2000" b="1"/>
          </a:p>
          <a:p>
            <a:pPr>
              <a:lnSpc>
                <a:spcPct val="0"/>
              </a:lnSpc>
            </a:pPr>
            <a:endParaRPr lang="en-US" altLang="en-US" sz="2000" b="1"/>
          </a:p>
          <a:p>
            <a:pPr algn="just">
              <a:buFontTx/>
              <a:buNone/>
            </a:pPr>
            <a:r>
              <a:rPr lang="en-US" altLang="en-US" sz="2000" b="1"/>
              <a:t>		SELECT DISTINCT propertyNo</a:t>
            </a:r>
          </a:p>
          <a:p>
            <a:pPr lvl="1" algn="just">
              <a:buFontTx/>
              <a:buNone/>
            </a:pPr>
            <a:r>
              <a:rPr lang="en-US" altLang="en-US" b="1"/>
              <a:t>		FROM Viewing;</a:t>
            </a:r>
            <a:endParaRPr lang="en-US" altLang="en-US"/>
          </a:p>
          <a:p>
            <a:pPr>
              <a:buFontTx/>
              <a:buNone/>
            </a:pPr>
            <a:endParaRPr lang="en-US" altLang="en-US" sz="2000"/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  <p:pic>
        <p:nvPicPr>
          <p:cNvPr id="136196" name="Picture 4" descr="DS3-Table 05-03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525" y="3444875"/>
            <a:ext cx="1860550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00"/>
              <a:t>Example:  Calculated Fields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/>
              <a:t>   Produce a list of monthly salaries for all staff, showing staff number, first and last names, and  salary details.</a:t>
            </a:r>
          </a:p>
          <a:p>
            <a:pPr lvl="1" algn="just">
              <a:lnSpc>
                <a:spcPct val="0"/>
              </a:lnSpc>
              <a:buFontTx/>
              <a:buNone/>
            </a:pPr>
            <a:endParaRPr lang="en-US" altLang="en-US"/>
          </a:p>
          <a:p>
            <a:pPr algn="just">
              <a:buFontTx/>
              <a:buNone/>
            </a:pPr>
            <a:r>
              <a:rPr lang="en-US" altLang="en-US"/>
              <a:t>	</a:t>
            </a:r>
          </a:p>
          <a:p>
            <a:pPr algn="just">
              <a:buFontTx/>
              <a:buNone/>
            </a:pPr>
            <a:r>
              <a:rPr lang="en-US" altLang="en-US"/>
              <a:t>	SELECT staffNo, fName, lName,     salary/12</a:t>
            </a:r>
          </a:p>
          <a:p>
            <a:pPr algn="just">
              <a:buFontTx/>
              <a:buNone/>
            </a:pPr>
            <a:r>
              <a:rPr lang="en-US" altLang="en-US"/>
              <a:t>    FROM Staff;</a:t>
            </a:r>
          </a:p>
          <a:p>
            <a:pPr>
              <a:buFontTx/>
              <a:buNone/>
            </a:pPr>
            <a:endParaRPr lang="en-US" altLang="en-US"/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00"/>
              <a:t>Example:  Calculated Fields</a:t>
            </a:r>
          </a:p>
        </p:txBody>
      </p:sp>
      <p:pic>
        <p:nvPicPr>
          <p:cNvPr id="138244" name="Picture 4" descr="DS3-Table 05-0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4225" y="1735139"/>
            <a:ext cx="6934200" cy="3375025"/>
          </a:xfrm>
          <a:noFill/>
        </p:spPr>
      </p:pic>
      <p:sp>
        <p:nvSpPr>
          <p:cNvPr id="2355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00"/>
              <a:t>Example:  Calculated Fields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To name column, use AS clause:</a:t>
            </a:r>
          </a:p>
          <a:p>
            <a:pPr>
              <a:lnSpc>
                <a:spcPct val="20000"/>
              </a:lnSpc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   	SELECT staffNo, fName, lName, salary/12 </a:t>
            </a:r>
          </a:p>
          <a:p>
            <a:pPr lvl="1">
              <a:buFontTx/>
              <a:buNone/>
            </a:pPr>
            <a:r>
              <a:rPr lang="en-US" altLang="en-US"/>
              <a:t>			AS monthlySalary</a:t>
            </a:r>
          </a:p>
          <a:p>
            <a:pPr lvl="1">
              <a:buFontTx/>
              <a:buNone/>
            </a:pPr>
            <a:r>
              <a:rPr lang="en-US" altLang="en-US"/>
              <a:t>FROM Staff;</a:t>
            </a:r>
          </a:p>
          <a:p>
            <a:endParaRPr lang="en-US" altLang="en-US"/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Comparison Search Condition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800"/>
              <a:t>	List all staff with a salary greater than 10,000.</a:t>
            </a:r>
          </a:p>
          <a:p>
            <a:pPr algn="just">
              <a:lnSpc>
                <a:spcPct val="10000"/>
              </a:lnSpc>
              <a:buFontTx/>
              <a:buNone/>
            </a:pPr>
            <a:endParaRPr lang="en-US" altLang="en-US" sz="2800"/>
          </a:p>
          <a:p>
            <a:pPr algn="just">
              <a:buFontTx/>
              <a:buNone/>
            </a:pPr>
            <a:r>
              <a:rPr lang="en-US" altLang="en-US" sz="2800"/>
              <a:t>	 SELECT staffNo, fName, lName, position, salary</a:t>
            </a:r>
          </a:p>
          <a:p>
            <a:pPr lvl="1" algn="just">
              <a:buFontTx/>
              <a:buNone/>
            </a:pPr>
            <a:r>
              <a:rPr lang="en-US" altLang="en-US" sz="2400"/>
              <a:t>FROM Staff</a:t>
            </a:r>
          </a:p>
          <a:p>
            <a:pPr lvl="1" algn="just">
              <a:buFontTx/>
              <a:buNone/>
            </a:pPr>
            <a:r>
              <a:rPr lang="en-US" altLang="en-US" sz="2400"/>
              <a:t>WHERE salary &gt; 10000;</a:t>
            </a:r>
          </a:p>
          <a:p>
            <a:pPr algn="just"/>
            <a:endParaRPr lang="en-US" altLang="en-US" sz="2800"/>
          </a:p>
          <a:p>
            <a:endParaRPr lang="en-US" altLang="en-US" sz="2800"/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Comparison Search Condition</a:t>
            </a:r>
          </a:p>
        </p:txBody>
      </p:sp>
      <p:pic>
        <p:nvPicPr>
          <p:cNvPr id="141316" name="Picture 4" descr="DS3-Table 05-0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12951" y="1968500"/>
            <a:ext cx="7000875" cy="3087688"/>
          </a:xfrm>
          <a:noFill/>
        </p:spPr>
      </p:pic>
      <p:sp>
        <p:nvSpPr>
          <p:cNvPr id="2662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Compound Comparison Search Condition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/>
              <a:t>	</a:t>
            </a:r>
            <a:r>
              <a:rPr lang="en-US" altLang="en-US" sz="2800"/>
              <a:t>List addresses of all branch offices in London or Glasgow.</a:t>
            </a:r>
          </a:p>
          <a:p>
            <a:pPr algn="just">
              <a:lnSpc>
                <a:spcPct val="0"/>
              </a:lnSpc>
              <a:buFontTx/>
              <a:buNone/>
            </a:pPr>
            <a:endParaRPr lang="en-US" altLang="en-US" sz="2800"/>
          </a:p>
          <a:p>
            <a:pPr algn="just">
              <a:buFontTx/>
              <a:buNone/>
            </a:pPr>
            <a:r>
              <a:rPr lang="en-US" altLang="en-US" sz="2800"/>
              <a:t>		SELECT *</a:t>
            </a:r>
          </a:p>
          <a:p>
            <a:pPr lvl="1" algn="just">
              <a:buFontTx/>
              <a:buNone/>
            </a:pPr>
            <a:r>
              <a:rPr lang="en-US" altLang="en-US" sz="2400"/>
              <a:t>		FROM Branch</a:t>
            </a:r>
          </a:p>
          <a:p>
            <a:pPr lvl="1" algn="just">
              <a:buFontTx/>
              <a:buNone/>
            </a:pPr>
            <a:r>
              <a:rPr lang="en-US" altLang="en-US" sz="2400"/>
              <a:t>		WHERE city = ‘London’ OR city =   ‘Glasgow’;</a:t>
            </a:r>
          </a:p>
          <a:p>
            <a:pPr>
              <a:buFontTx/>
              <a:buNone/>
            </a:pPr>
            <a:endParaRPr lang="en-US" altLang="en-US"/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Compound Comparison Search Condition</a:t>
            </a:r>
          </a:p>
        </p:txBody>
      </p:sp>
      <p:pic>
        <p:nvPicPr>
          <p:cNvPr id="143364" name="Picture 4" descr="DS3-Table 05-0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92339" y="1679575"/>
            <a:ext cx="6892925" cy="2914650"/>
          </a:xfrm>
          <a:noFill/>
        </p:spPr>
      </p:pic>
      <p:sp>
        <p:nvSpPr>
          <p:cNvPr id="2867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Range Search Condition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800"/>
              <a:t>	List all staff with a salary between 20,000 and 30,000.</a:t>
            </a:r>
          </a:p>
          <a:p>
            <a:pPr algn="just">
              <a:buFontTx/>
              <a:buNone/>
            </a:pPr>
            <a:endParaRPr lang="en-US" altLang="en-US" sz="2800"/>
          </a:p>
          <a:p>
            <a:pPr algn="just">
              <a:buFontTx/>
              <a:buNone/>
            </a:pPr>
            <a:r>
              <a:rPr lang="en-US" altLang="en-US" sz="2800"/>
              <a:t>	 SELECT staffNo, fName, lName, position, salary</a:t>
            </a:r>
          </a:p>
          <a:p>
            <a:pPr lvl="1" algn="just">
              <a:buFontTx/>
              <a:buNone/>
            </a:pPr>
            <a:r>
              <a:rPr lang="en-US" altLang="en-US" sz="2400"/>
              <a:t>FROM Staff</a:t>
            </a:r>
          </a:p>
          <a:p>
            <a:pPr lvl="1" algn="just">
              <a:buFontTx/>
              <a:buNone/>
            </a:pPr>
            <a:r>
              <a:rPr lang="en-US" altLang="en-US" sz="2400"/>
              <a:t>WHERE salary BETWEEN 20000 AND 30000;</a:t>
            </a:r>
          </a:p>
          <a:p>
            <a:pPr lvl="1" algn="just">
              <a:buFontTx/>
              <a:buNone/>
            </a:pPr>
            <a:endParaRPr lang="en-US" altLang="en-US" sz="2400"/>
          </a:p>
          <a:p>
            <a:pPr algn="just"/>
            <a:r>
              <a:rPr lang="en-US" altLang="en-US" sz="2800"/>
              <a:t>BETWEEN test includes the endpoints of range.</a:t>
            </a:r>
          </a:p>
          <a:p>
            <a:endParaRPr lang="en-US" altLang="en-US" sz="2800"/>
          </a:p>
        </p:txBody>
      </p:sp>
      <p:sp>
        <p:nvSpPr>
          <p:cNvPr id="2970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Range Search Condition</a:t>
            </a:r>
          </a:p>
        </p:txBody>
      </p:sp>
      <p:pic>
        <p:nvPicPr>
          <p:cNvPr id="30723" name="Picture 4" descr="DS3-Table 05-0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39964" y="1477964"/>
            <a:ext cx="6675437" cy="3032125"/>
          </a:xfrm>
          <a:noFill/>
        </p:spPr>
      </p:pic>
      <p:sp>
        <p:nvSpPr>
          <p:cNvPr id="3072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Range Search Condition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400"/>
              <a:t>Also a negated version NOT BETWEEN.</a:t>
            </a:r>
          </a:p>
          <a:p>
            <a:pPr algn="just"/>
            <a:r>
              <a:rPr lang="en-US" altLang="en-US" sz="2400"/>
              <a:t>BETWEEN does not add much to SQL’s expressive power. Could also write:</a:t>
            </a:r>
          </a:p>
          <a:p>
            <a:pPr algn="just">
              <a:lnSpc>
                <a:spcPct val="60000"/>
              </a:lnSpc>
            </a:pPr>
            <a:endParaRPr lang="en-US" altLang="en-US" sz="2400"/>
          </a:p>
          <a:p>
            <a:pPr algn="just">
              <a:buFontTx/>
              <a:buNone/>
            </a:pPr>
            <a:r>
              <a:rPr lang="en-US" altLang="en-US" sz="2400"/>
              <a:t>	 SELECT staffNo, fName, lName, position, salary</a:t>
            </a:r>
          </a:p>
          <a:p>
            <a:pPr lvl="1" algn="just">
              <a:buFontTx/>
              <a:buNone/>
            </a:pPr>
            <a:r>
              <a:rPr lang="en-US" altLang="en-US"/>
              <a:t>FROM Staff</a:t>
            </a:r>
          </a:p>
          <a:p>
            <a:pPr lvl="1" algn="just">
              <a:buFontTx/>
              <a:buNone/>
            </a:pPr>
            <a:r>
              <a:rPr lang="en-US" altLang="en-US"/>
              <a:t>WHERE salary&gt;=20000 AND salary &lt;= 30000;</a:t>
            </a:r>
          </a:p>
          <a:p>
            <a:pPr lvl="1" algn="just">
              <a:lnSpc>
                <a:spcPct val="60000"/>
              </a:lnSpc>
              <a:buFontTx/>
              <a:buNone/>
            </a:pPr>
            <a:endParaRPr lang="en-US" altLang="en-US"/>
          </a:p>
          <a:p>
            <a:pPr algn="just"/>
            <a:r>
              <a:rPr lang="en-US" altLang="en-US" sz="2400"/>
              <a:t>Useful, though, for a range of values.</a:t>
            </a:r>
          </a:p>
          <a:p>
            <a:endParaRPr lang="en-US" altLang="en-US" sz="2400"/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Set Membership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/>
              <a:t>List all managers and supervisors.</a:t>
            </a:r>
          </a:p>
          <a:p>
            <a:pPr algn="just">
              <a:lnSpc>
                <a:spcPct val="10000"/>
              </a:lnSpc>
              <a:buFontTx/>
              <a:buNone/>
            </a:pPr>
            <a:endParaRPr lang="en-US" altLang="en-US"/>
          </a:p>
          <a:p>
            <a:pPr lvl="1" algn="just">
              <a:buFontTx/>
              <a:buNone/>
            </a:pPr>
            <a:r>
              <a:rPr lang="en-US" altLang="en-US"/>
              <a:t>SELECT staffNo, fName, lName, position</a:t>
            </a:r>
          </a:p>
          <a:p>
            <a:pPr lvl="1" algn="just">
              <a:buFontTx/>
              <a:buNone/>
            </a:pPr>
            <a:r>
              <a:rPr lang="en-US" altLang="en-US"/>
              <a:t>FROM Staff</a:t>
            </a:r>
          </a:p>
          <a:p>
            <a:pPr lvl="1" algn="just">
              <a:buFontTx/>
              <a:buNone/>
            </a:pPr>
            <a:r>
              <a:rPr lang="en-US" altLang="en-US"/>
              <a:t>WHERE position IN (‘Manager’, ‘Supervisor’);</a:t>
            </a:r>
          </a:p>
          <a:p>
            <a:pPr>
              <a:buFontTx/>
              <a:buNone/>
            </a:pPr>
            <a:endParaRPr lang="en-US" altLang="en-US"/>
          </a:p>
        </p:txBody>
      </p:sp>
      <p:sp>
        <p:nvSpPr>
          <p:cNvPr id="3277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Set Membership</a:t>
            </a:r>
          </a:p>
        </p:txBody>
      </p:sp>
      <p:pic>
        <p:nvPicPr>
          <p:cNvPr id="148484" name="Picture 4" descr="DS3-Table 05-08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89238" y="1455738"/>
            <a:ext cx="5930900" cy="3327400"/>
          </a:xfrm>
          <a:noFill/>
        </p:spPr>
      </p:pic>
      <p:sp>
        <p:nvSpPr>
          <p:cNvPr id="3379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Set Membership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800"/>
              <a:t>There is a negated version (NOT IN). </a:t>
            </a:r>
          </a:p>
          <a:p>
            <a:pPr algn="just"/>
            <a:r>
              <a:rPr lang="en-US" altLang="en-US" sz="2800"/>
              <a:t> IN does not add much to SQL’s expressive power.</a:t>
            </a:r>
          </a:p>
          <a:p>
            <a:pPr algn="just"/>
            <a:r>
              <a:rPr lang="en-US" altLang="en-US" sz="2800"/>
              <a:t> Could have expressed this as:</a:t>
            </a:r>
          </a:p>
          <a:p>
            <a:pPr lvl="1" algn="just">
              <a:lnSpc>
                <a:spcPct val="50000"/>
              </a:lnSpc>
              <a:buFontTx/>
              <a:buNone/>
            </a:pPr>
            <a:endParaRPr lang="en-US" altLang="en-US" sz="2400"/>
          </a:p>
          <a:p>
            <a:pPr lvl="1" algn="just">
              <a:buFontTx/>
              <a:buNone/>
            </a:pPr>
            <a:r>
              <a:rPr lang="en-US" altLang="en-US" sz="1800"/>
              <a:t>    SELECT staffNo, fName, lName, position</a:t>
            </a:r>
          </a:p>
          <a:p>
            <a:pPr lvl="1" algn="just">
              <a:buFontTx/>
              <a:buNone/>
            </a:pPr>
            <a:r>
              <a:rPr lang="en-US" altLang="en-US" sz="1800"/>
              <a:t>	 FROM Staff</a:t>
            </a:r>
          </a:p>
          <a:p>
            <a:pPr lvl="1" algn="just">
              <a:buFontTx/>
              <a:buNone/>
            </a:pPr>
            <a:r>
              <a:rPr lang="en-US" altLang="en-US" sz="1800"/>
              <a:t>   WHERE position=‘Manager’ OR</a:t>
            </a:r>
          </a:p>
          <a:p>
            <a:pPr lvl="1" algn="just">
              <a:buFontTx/>
              <a:buNone/>
            </a:pPr>
            <a:r>
              <a:rPr lang="en-US" altLang="en-US" sz="1800"/>
              <a:t>                   position=‘Supervisor’;</a:t>
            </a:r>
          </a:p>
          <a:p>
            <a:pPr algn="just">
              <a:lnSpc>
                <a:spcPct val="40000"/>
              </a:lnSpc>
              <a:buFontTx/>
              <a:buNone/>
            </a:pPr>
            <a:endParaRPr lang="en-US" altLang="en-US" sz="1800"/>
          </a:p>
          <a:p>
            <a:pPr algn="just"/>
            <a:r>
              <a:rPr lang="en-US" altLang="en-US" sz="1800"/>
              <a:t> </a:t>
            </a:r>
            <a:r>
              <a:rPr lang="en-US" altLang="en-US" sz="2800"/>
              <a:t>IN is more efficient when set contains many values</a:t>
            </a:r>
          </a:p>
        </p:txBody>
      </p:sp>
      <p:sp>
        <p:nvSpPr>
          <p:cNvPr id="3482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00"/>
              <a:t>Example:  Pattern Matching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/>
              <a:t>	Find all owners with the string ‘Glasgow’ in their address.</a:t>
            </a:r>
          </a:p>
          <a:p>
            <a:pPr algn="just">
              <a:lnSpc>
                <a:spcPct val="0"/>
              </a:lnSpc>
              <a:buFontTx/>
              <a:buNone/>
            </a:pPr>
            <a:endParaRPr lang="en-US" altLang="en-US"/>
          </a:p>
          <a:p>
            <a:pPr algn="just">
              <a:buFontTx/>
              <a:buNone/>
            </a:pPr>
            <a:r>
              <a:rPr lang="en-US" altLang="en-US"/>
              <a:t>	 SELECT clientNo, fName, lName,  address, telNo</a:t>
            </a:r>
          </a:p>
          <a:p>
            <a:pPr lvl="1" algn="just">
              <a:buFontTx/>
              <a:buNone/>
            </a:pPr>
            <a:r>
              <a:rPr lang="en-US" altLang="en-US"/>
              <a:t>FROM PrivateOwner</a:t>
            </a:r>
          </a:p>
          <a:p>
            <a:pPr lvl="1" algn="just">
              <a:buFontTx/>
              <a:buNone/>
            </a:pPr>
            <a:r>
              <a:rPr lang="en-US" altLang="en-US"/>
              <a:t>WHERE address LIKE ‘%Glasgow%’;</a:t>
            </a:r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00"/>
              <a:t>Example:  Pattern Matching</a:t>
            </a:r>
          </a:p>
        </p:txBody>
      </p:sp>
      <p:pic>
        <p:nvPicPr>
          <p:cNvPr id="151556" name="Picture 4" descr="DS3-Table 05-09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79664" y="1506538"/>
            <a:ext cx="6486525" cy="3098800"/>
          </a:xfrm>
          <a:noFill/>
        </p:spPr>
      </p:pic>
      <p:sp>
        <p:nvSpPr>
          <p:cNvPr id="3686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00"/>
              <a:t>Example: Pattern Matching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ct val="25000"/>
              </a:spcAft>
              <a:buFontTx/>
              <a:buNone/>
            </a:pPr>
            <a:r>
              <a:rPr lang="en-US" altLang="en-US"/>
              <a:t>SQL has two special pattern matching symbols:</a:t>
            </a:r>
          </a:p>
          <a:p>
            <a:pPr lvl="1">
              <a:buFontTx/>
              <a:buNone/>
            </a:pPr>
            <a:r>
              <a:rPr lang="en-US" altLang="en-US"/>
              <a:t>%: sequence of zero or more characters;</a:t>
            </a:r>
          </a:p>
          <a:p>
            <a:pPr lvl="1">
              <a:spcAft>
                <a:spcPct val="25000"/>
              </a:spcAft>
              <a:buFontTx/>
              <a:buNone/>
            </a:pPr>
            <a:r>
              <a:rPr lang="en-US" altLang="en-US"/>
              <a:t>_ (underscore): any single character.</a:t>
            </a:r>
          </a:p>
          <a:p>
            <a:pPr algn="just">
              <a:spcBef>
                <a:spcPct val="25000"/>
              </a:spcBef>
              <a:buFontTx/>
              <a:buNone/>
            </a:pPr>
            <a:r>
              <a:rPr lang="en-US" altLang="en-US"/>
              <a:t>LIKE ‘%Glasgow%’ means a sequence of characters of any length containing ‘</a:t>
            </a:r>
            <a:r>
              <a:rPr lang="en-US" altLang="en-US" i="1"/>
              <a:t>Glasgow</a:t>
            </a:r>
            <a:r>
              <a:rPr lang="en-US" altLang="en-US"/>
              <a:t>’.</a:t>
            </a:r>
          </a:p>
          <a:p>
            <a:pPr>
              <a:buFontTx/>
              <a:buNone/>
            </a:pPr>
            <a:endParaRPr lang="en-US" altLang="en-US"/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NULL Search Condition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ct val="25000"/>
              </a:spcAft>
              <a:buFontTx/>
              <a:buNone/>
            </a:pPr>
            <a:r>
              <a:rPr lang="en-US" altLang="en-US" sz="1600"/>
              <a:t>	</a:t>
            </a:r>
            <a:r>
              <a:rPr lang="en-US" altLang="en-US" sz="2800"/>
              <a:t>List details of all viewings on property PG4 where a comment has not been supplied.</a:t>
            </a:r>
          </a:p>
          <a:p>
            <a:pPr algn="just">
              <a:spcBef>
                <a:spcPct val="25000"/>
              </a:spcBef>
            </a:pPr>
            <a:r>
              <a:rPr lang="en-US" altLang="en-US" sz="2800"/>
              <a:t>There are 2 viewings for property PG4, one with and one without a comment. </a:t>
            </a:r>
          </a:p>
          <a:p>
            <a:pPr algn="just">
              <a:spcAft>
                <a:spcPct val="25000"/>
              </a:spcAft>
            </a:pPr>
            <a:r>
              <a:rPr lang="en-US" altLang="en-US" sz="2800"/>
              <a:t>Have to test for null explicitly using special keyword IS NULL:</a:t>
            </a:r>
          </a:p>
          <a:p>
            <a:pPr algn="just">
              <a:buFontTx/>
              <a:buNone/>
            </a:pPr>
            <a:r>
              <a:rPr lang="en-US" altLang="en-US" sz="1600"/>
              <a:t>		</a:t>
            </a:r>
            <a:r>
              <a:rPr lang="en-US" altLang="en-US" sz="2800"/>
              <a:t>SELECT clientNo, viewDate</a:t>
            </a:r>
          </a:p>
          <a:p>
            <a:pPr lvl="1" algn="just">
              <a:buFontTx/>
              <a:buNone/>
            </a:pPr>
            <a:r>
              <a:rPr lang="en-US" altLang="en-US" sz="2400"/>
              <a:t>		FROM Viewing</a:t>
            </a:r>
          </a:p>
          <a:p>
            <a:pPr lvl="1" algn="just">
              <a:buFontTx/>
              <a:buNone/>
            </a:pPr>
            <a:r>
              <a:rPr lang="en-US" altLang="en-US" sz="2400"/>
              <a:t>		WHERE propertyNo = ‘PG4’ AND </a:t>
            </a:r>
          </a:p>
          <a:p>
            <a:pPr lvl="1" algn="just">
              <a:buFontTx/>
              <a:buNone/>
            </a:pPr>
            <a:r>
              <a:rPr lang="en-US" altLang="en-US" sz="2400"/>
              <a:t>                      comment IS NULL;</a:t>
            </a:r>
          </a:p>
          <a:p>
            <a:endParaRPr lang="en-US" altLang="en-US" sz="2800"/>
          </a:p>
        </p:txBody>
      </p:sp>
      <p:sp>
        <p:nvSpPr>
          <p:cNvPr id="3891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NULL Search Condition</a:t>
            </a:r>
          </a:p>
        </p:txBody>
      </p:sp>
      <p:pic>
        <p:nvPicPr>
          <p:cNvPr id="154628" name="Picture 4" descr="DS3-Table 05-1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8539" y="1547813"/>
            <a:ext cx="6732587" cy="2570162"/>
          </a:xfrm>
          <a:noFill/>
        </p:spPr>
      </p:pic>
      <p:sp>
        <p:nvSpPr>
          <p:cNvPr id="3994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  <p:sp>
        <p:nvSpPr>
          <p:cNvPr id="39941" name="Rectangle 6"/>
          <p:cNvSpPr>
            <a:spLocks noChangeArrowheads="1"/>
          </p:cNvSpPr>
          <p:nvPr/>
        </p:nvSpPr>
        <p:spPr bwMode="auto">
          <a:xfrm>
            <a:off x="2162175" y="4960939"/>
            <a:ext cx="69738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Negated version (IS NOT NULL)   can test for non-null values.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Single Column Ordering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/>
              <a:t>	List salaries for all staff, arranged in descending order of salary.</a:t>
            </a:r>
          </a:p>
          <a:p>
            <a:pPr algn="just">
              <a:buFontTx/>
              <a:buNone/>
            </a:pPr>
            <a:endParaRPr lang="en-US" altLang="en-US"/>
          </a:p>
          <a:p>
            <a:pPr algn="just">
              <a:buFontTx/>
              <a:buNone/>
            </a:pPr>
            <a:r>
              <a:rPr lang="en-US" altLang="en-US"/>
              <a:t>	 SELECT staffNo, fName, lName, salary</a:t>
            </a:r>
          </a:p>
          <a:p>
            <a:pPr lvl="1" algn="just">
              <a:buFontTx/>
              <a:buNone/>
            </a:pPr>
            <a:r>
              <a:rPr lang="en-US" altLang="en-US"/>
              <a:t>FROM Staff</a:t>
            </a:r>
          </a:p>
          <a:p>
            <a:pPr lvl="1" algn="just">
              <a:buFontTx/>
              <a:buNone/>
            </a:pPr>
            <a:r>
              <a:rPr lang="en-US" altLang="en-US"/>
              <a:t>ORDER BY salary DESC;</a:t>
            </a:r>
          </a:p>
          <a:p>
            <a:endParaRPr lang="en-US" altLang="en-US"/>
          </a:p>
        </p:txBody>
      </p:sp>
      <p:sp>
        <p:nvSpPr>
          <p:cNvPr id="4096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Single Column Ordering</a:t>
            </a:r>
          </a:p>
        </p:txBody>
      </p:sp>
      <p:pic>
        <p:nvPicPr>
          <p:cNvPr id="156676" name="Picture 4" descr="DS3-Table 05-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8538" y="1636714"/>
            <a:ext cx="6858000" cy="3216275"/>
          </a:xfrm>
          <a:noFill/>
        </p:spPr>
      </p:pic>
      <p:sp>
        <p:nvSpPr>
          <p:cNvPr id="4198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Multiple Column Ordering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/>
              <a:t>	Produce abbreviated list of properties in order of property type.</a:t>
            </a:r>
          </a:p>
          <a:p>
            <a:pPr algn="just"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		SELECT propertyNo, type, rooms,rent</a:t>
            </a:r>
            <a:br>
              <a:rPr lang="en-US" altLang="en-US"/>
            </a:br>
            <a:r>
              <a:rPr lang="en-US" altLang="en-US"/>
              <a:t>	FROM PropertyForRent</a:t>
            </a:r>
          </a:p>
          <a:p>
            <a:pPr lvl="1" algn="just">
              <a:buFontTx/>
              <a:buNone/>
            </a:pPr>
            <a:r>
              <a:rPr lang="en-US" altLang="en-US"/>
              <a:t>		ORDER BY type;</a:t>
            </a:r>
          </a:p>
          <a:p>
            <a:pPr>
              <a:buFontTx/>
              <a:buNone/>
            </a:pPr>
            <a:endParaRPr lang="en-US" altLang="en-US"/>
          </a:p>
        </p:txBody>
      </p:sp>
      <p:sp>
        <p:nvSpPr>
          <p:cNvPr id="4301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Multiple Column Ordering</a:t>
            </a:r>
          </a:p>
        </p:txBody>
      </p:sp>
      <p:pic>
        <p:nvPicPr>
          <p:cNvPr id="158724" name="Picture 4" descr="DS3-Table 05-12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27288" y="1631951"/>
            <a:ext cx="6629400" cy="3273425"/>
          </a:xfrm>
          <a:noFill/>
        </p:spPr>
      </p:pic>
      <p:sp>
        <p:nvSpPr>
          <p:cNvPr id="4403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Multiple Column Ordering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800"/>
              <a:t>Four flats in this list - as no minor sort key specified, system arranges these rows in any order it chooses.</a:t>
            </a:r>
          </a:p>
          <a:p>
            <a:pPr algn="just"/>
            <a:r>
              <a:rPr lang="en-US" altLang="en-US" sz="2800"/>
              <a:t>To arrange in order of rent, specify minor order:</a:t>
            </a:r>
          </a:p>
          <a:p>
            <a:pPr>
              <a:lnSpc>
                <a:spcPct val="40000"/>
              </a:lnSpc>
              <a:buFontTx/>
              <a:buNone/>
            </a:pPr>
            <a:endParaRPr lang="en-US" altLang="en-US" sz="2800"/>
          </a:p>
          <a:p>
            <a:pPr>
              <a:buFontTx/>
              <a:buNone/>
            </a:pPr>
            <a:r>
              <a:rPr lang="en-US" altLang="en-US" sz="2800"/>
              <a:t>		SELECT propertyNo, type, rooms, rent</a:t>
            </a:r>
          </a:p>
          <a:p>
            <a:pPr lvl="1">
              <a:buFontTx/>
              <a:buNone/>
            </a:pPr>
            <a:r>
              <a:rPr lang="en-US" altLang="en-US" sz="2400"/>
              <a:t>		FROM PropertyForRent</a:t>
            </a:r>
          </a:p>
          <a:p>
            <a:pPr lvl="1">
              <a:buFontTx/>
              <a:buNone/>
            </a:pPr>
            <a:r>
              <a:rPr lang="en-US" altLang="en-US" sz="2400"/>
              <a:t>		ORDER BY type, rent DESC;</a:t>
            </a:r>
          </a:p>
          <a:p>
            <a:endParaRPr lang="en-US" altLang="en-US" sz="2800"/>
          </a:p>
          <a:p>
            <a:endParaRPr lang="en-US" altLang="en-US" sz="2800"/>
          </a:p>
        </p:txBody>
      </p:sp>
      <p:sp>
        <p:nvSpPr>
          <p:cNvPr id="4506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Multiple Column Ordering</a:t>
            </a:r>
          </a:p>
        </p:txBody>
      </p:sp>
      <p:pic>
        <p:nvPicPr>
          <p:cNvPr id="160772" name="Picture 4" descr="DS3-Table 05-12b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1050" y="1755776"/>
            <a:ext cx="7018338" cy="3013075"/>
          </a:xfrm>
          <a:noFill/>
        </p:spPr>
      </p:pic>
      <p:sp>
        <p:nvSpPr>
          <p:cNvPr id="4608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 Statement - Aggregates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ISO standard defines five aggregate functions:</a:t>
            </a:r>
          </a:p>
          <a:p>
            <a:pPr>
              <a:lnSpc>
                <a:spcPct val="60000"/>
              </a:lnSpc>
            </a:pPr>
            <a:endParaRPr lang="en-US" altLang="en-US" sz="2400"/>
          </a:p>
          <a:p>
            <a:pPr>
              <a:spcBef>
                <a:spcPct val="25000"/>
              </a:spcBef>
              <a:spcAft>
                <a:spcPct val="25000"/>
              </a:spcAft>
              <a:buFontTx/>
              <a:buNone/>
            </a:pPr>
            <a:r>
              <a:rPr lang="en-US" altLang="en-US" sz="2400"/>
              <a:t>COUNT returns number of values in specified column.</a:t>
            </a:r>
          </a:p>
          <a:p>
            <a:pPr>
              <a:spcBef>
                <a:spcPct val="25000"/>
              </a:spcBef>
              <a:spcAft>
                <a:spcPct val="25000"/>
              </a:spcAft>
              <a:buFontTx/>
              <a:buNone/>
            </a:pPr>
            <a:r>
              <a:rPr lang="en-US" altLang="en-US" sz="2400"/>
              <a:t>SUM	returns sum of values in specified column.</a:t>
            </a:r>
          </a:p>
          <a:p>
            <a:pPr>
              <a:spcBef>
                <a:spcPct val="25000"/>
              </a:spcBef>
              <a:spcAft>
                <a:spcPct val="25000"/>
              </a:spcAft>
              <a:buFontTx/>
              <a:buNone/>
            </a:pPr>
            <a:r>
              <a:rPr lang="en-US" altLang="en-US" sz="2400"/>
              <a:t>AVG	returns average of values in specified column.</a:t>
            </a:r>
          </a:p>
          <a:p>
            <a:pPr>
              <a:spcBef>
                <a:spcPct val="25000"/>
              </a:spcBef>
              <a:spcAft>
                <a:spcPct val="25000"/>
              </a:spcAft>
              <a:buFontTx/>
              <a:buNone/>
            </a:pPr>
            <a:r>
              <a:rPr lang="en-US" altLang="en-US" sz="2400"/>
              <a:t>MIN	returns smallest value in specified column.</a:t>
            </a:r>
          </a:p>
          <a:p>
            <a:pPr>
              <a:spcBef>
                <a:spcPct val="25000"/>
              </a:spcBef>
              <a:spcAft>
                <a:spcPct val="25000"/>
              </a:spcAft>
              <a:buFontTx/>
              <a:buNone/>
            </a:pPr>
            <a:r>
              <a:rPr lang="en-US" altLang="en-US" sz="2400"/>
              <a:t>MAX	returns largest value in specified column.</a:t>
            </a:r>
          </a:p>
          <a:p>
            <a:endParaRPr lang="en-US" altLang="en-US" sz="2400"/>
          </a:p>
        </p:txBody>
      </p:sp>
      <p:sp>
        <p:nvSpPr>
          <p:cNvPr id="4710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 Statement - Aggregates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ct val="25000"/>
              </a:spcBef>
              <a:spcAft>
                <a:spcPct val="25000"/>
              </a:spcAft>
            </a:pPr>
            <a:r>
              <a:rPr lang="en-US" altLang="en-US" sz="2800"/>
              <a:t>Each operates on a single column of a table and returns a single value. </a:t>
            </a:r>
          </a:p>
          <a:p>
            <a:pPr algn="just">
              <a:spcBef>
                <a:spcPct val="25000"/>
              </a:spcBef>
              <a:spcAft>
                <a:spcPct val="25000"/>
              </a:spcAft>
            </a:pPr>
            <a:r>
              <a:rPr lang="en-US" altLang="en-US" sz="2800"/>
              <a:t>COUNT, MIN, and MAX apply to numeric and non-numeric fields, but SUM and AVG may be used on numeric fields only. </a:t>
            </a:r>
          </a:p>
          <a:p>
            <a:pPr algn="just">
              <a:spcBef>
                <a:spcPct val="25000"/>
              </a:spcBef>
              <a:spcAft>
                <a:spcPct val="25000"/>
              </a:spcAft>
            </a:pPr>
            <a:r>
              <a:rPr lang="en-US" altLang="en-US" sz="2800"/>
              <a:t>Apart from COUNT(*), each function eliminates nulls first and operates only on remaining non-null values. </a:t>
            </a:r>
          </a:p>
          <a:p>
            <a:endParaRPr lang="en-US" altLang="en-US" sz="2800"/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 Statement - Aggregates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800"/>
              <a:t>COUNT(*) counts all rows of a table, regardless of whether nulls or duplicate values occur.</a:t>
            </a:r>
          </a:p>
          <a:p>
            <a:pPr algn="just"/>
            <a:r>
              <a:rPr lang="en-US" altLang="en-US" sz="2800"/>
              <a:t>Can use DISTINCT before column name to eliminate duplicates. </a:t>
            </a:r>
          </a:p>
          <a:p>
            <a:pPr algn="just"/>
            <a:r>
              <a:rPr lang="en-US" altLang="en-US" sz="2800"/>
              <a:t>DISTINCT has no effect with MIN/MAX, but may have with SUM/AVG.</a:t>
            </a:r>
          </a:p>
        </p:txBody>
      </p:sp>
      <p:sp>
        <p:nvSpPr>
          <p:cNvPr id="4915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 Statement - Aggregates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800"/>
              <a:t>Aggregate functions can be used only in SELECT list and in HAVING clause. </a:t>
            </a:r>
          </a:p>
          <a:p>
            <a:pPr algn="just">
              <a:lnSpc>
                <a:spcPct val="50000"/>
              </a:lnSpc>
            </a:pPr>
            <a:endParaRPr lang="en-US" altLang="en-US" sz="2800"/>
          </a:p>
          <a:p>
            <a:pPr algn="just"/>
            <a:r>
              <a:rPr lang="en-US" altLang="en-US" sz="2800"/>
              <a:t>If SELECT list includes an aggregate function and there is no GROUP BY clause, SELECT list cannot reference a column out with an aggregate function. For example, the following is illegal:</a:t>
            </a:r>
          </a:p>
          <a:p>
            <a:pPr algn="just">
              <a:lnSpc>
                <a:spcPct val="20000"/>
              </a:lnSpc>
            </a:pPr>
            <a:endParaRPr lang="en-US" altLang="en-US" sz="2800"/>
          </a:p>
          <a:p>
            <a:pPr algn="just">
              <a:buFontTx/>
              <a:buNone/>
            </a:pPr>
            <a:r>
              <a:rPr lang="en-US" altLang="en-US" sz="2800"/>
              <a:t>	 SELECT staffNo, COUNT(salary)</a:t>
            </a:r>
          </a:p>
          <a:p>
            <a:pPr lvl="1" algn="just">
              <a:buFontTx/>
              <a:buNone/>
            </a:pPr>
            <a:r>
              <a:rPr lang="en-US" altLang="en-US" sz="2400"/>
              <a:t>FROM Staff;</a:t>
            </a:r>
          </a:p>
          <a:p>
            <a:endParaRPr lang="en-US" altLang="en-US" sz="2800"/>
          </a:p>
        </p:txBody>
      </p:sp>
      <p:sp>
        <p:nvSpPr>
          <p:cNvPr id="5018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Use of COUNT(*)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800"/>
              <a:t>	How many properties cost more than £350 per month to rent?</a:t>
            </a:r>
          </a:p>
          <a:p>
            <a:pPr algn="just">
              <a:lnSpc>
                <a:spcPct val="20000"/>
              </a:lnSpc>
              <a:buFontTx/>
              <a:buNone/>
            </a:pPr>
            <a:endParaRPr lang="en-US" altLang="en-US" sz="2800"/>
          </a:p>
          <a:p>
            <a:pPr algn="just">
              <a:buFontTx/>
              <a:buNone/>
            </a:pPr>
            <a:r>
              <a:rPr lang="en-US" altLang="en-US" sz="2800"/>
              <a:t>		SELECT COUNT(*) AS count</a:t>
            </a:r>
          </a:p>
          <a:p>
            <a:pPr lvl="1" algn="just">
              <a:buFontTx/>
              <a:buNone/>
            </a:pPr>
            <a:r>
              <a:rPr lang="en-US" altLang="en-US" sz="2400"/>
              <a:t>		FROM PropertyForRent</a:t>
            </a:r>
          </a:p>
          <a:p>
            <a:pPr lvl="1" algn="just">
              <a:buFontTx/>
              <a:buNone/>
            </a:pPr>
            <a:r>
              <a:rPr lang="en-US" altLang="en-US" sz="2400"/>
              <a:t>		WHERE rent &gt; 350;</a:t>
            </a:r>
          </a:p>
          <a:p>
            <a:endParaRPr lang="en-US" altLang="en-US" sz="2800"/>
          </a:p>
        </p:txBody>
      </p:sp>
      <p:sp>
        <p:nvSpPr>
          <p:cNvPr id="5120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  <p:pic>
        <p:nvPicPr>
          <p:cNvPr id="165892" name="Picture 4" descr="DS3-Table 05-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329113"/>
            <a:ext cx="3429000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Use of COUNT(DISTINCT)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/>
              <a:t>How many different properties viewed in May ‘01?</a:t>
            </a:r>
          </a:p>
          <a:p>
            <a:pPr algn="just">
              <a:lnSpc>
                <a:spcPct val="20000"/>
              </a:lnSpc>
              <a:buFontTx/>
              <a:buNone/>
            </a:pPr>
            <a:endParaRPr lang="en-US" altLang="en-US"/>
          </a:p>
          <a:p>
            <a:pPr algn="just">
              <a:buFontTx/>
              <a:buNone/>
            </a:pPr>
            <a:r>
              <a:rPr lang="en-US" altLang="en-US" sz="2000"/>
              <a:t>   SELECT COUNT(DISTINCT propertyNo) AS count</a:t>
            </a:r>
          </a:p>
          <a:p>
            <a:pPr algn="just">
              <a:buFontTx/>
              <a:buNone/>
            </a:pPr>
            <a:r>
              <a:rPr lang="en-US" altLang="en-US" sz="2000"/>
              <a:t>   FROM Viewing</a:t>
            </a:r>
          </a:p>
          <a:p>
            <a:pPr algn="just">
              <a:buFontTx/>
              <a:buNone/>
            </a:pPr>
            <a:r>
              <a:rPr lang="en-US" altLang="en-US" sz="2000"/>
              <a:t>   WHERE viewDate BETWEEN ‘1-May-01’AND ‘31-May-01’;</a:t>
            </a:r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  <p:pic>
        <p:nvPicPr>
          <p:cNvPr id="166916" name="Picture 4" descr="DS3-Table 05-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337051"/>
            <a:ext cx="3657600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Use of COUNT and SUM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800"/>
              <a:t>	Find number of Managers and sum of their salaries.</a:t>
            </a:r>
          </a:p>
          <a:p>
            <a:pPr algn="just">
              <a:lnSpc>
                <a:spcPct val="20000"/>
              </a:lnSpc>
              <a:buFontTx/>
              <a:buNone/>
            </a:pPr>
            <a:endParaRPr lang="en-US" altLang="en-US" sz="2800"/>
          </a:p>
          <a:p>
            <a:pPr algn="just">
              <a:buFontTx/>
              <a:buNone/>
            </a:pPr>
            <a:r>
              <a:rPr lang="en-US" altLang="en-US" sz="1800"/>
              <a:t>	 SELECT COUNT(staffNo) AS count, </a:t>
            </a:r>
          </a:p>
          <a:p>
            <a:pPr lvl="1" algn="just">
              <a:buFontTx/>
              <a:buNone/>
            </a:pPr>
            <a:r>
              <a:rPr lang="en-US" altLang="en-US" sz="2400"/>
              <a:t>			SUM(salary) AS sum</a:t>
            </a:r>
          </a:p>
          <a:p>
            <a:pPr lvl="1" algn="just">
              <a:buFontTx/>
              <a:buNone/>
            </a:pPr>
            <a:r>
              <a:rPr lang="en-US" altLang="en-US" sz="2400"/>
              <a:t>FROM Staff</a:t>
            </a:r>
          </a:p>
          <a:p>
            <a:pPr lvl="1" algn="just">
              <a:buFontTx/>
              <a:buNone/>
            </a:pPr>
            <a:r>
              <a:rPr lang="en-US" altLang="en-US" sz="2400"/>
              <a:t>WHERE position = ‘Manager’;</a:t>
            </a:r>
          </a:p>
          <a:p>
            <a:pPr lvl="1" algn="just">
              <a:buFontTx/>
              <a:buNone/>
            </a:pPr>
            <a:endParaRPr lang="en-US" altLang="en-US" sz="2400"/>
          </a:p>
          <a:p>
            <a:pPr lvl="1" algn="just">
              <a:buFontTx/>
              <a:buNone/>
            </a:pPr>
            <a:endParaRPr lang="en-US" altLang="en-US" sz="2400"/>
          </a:p>
          <a:p>
            <a:pPr>
              <a:buFontTx/>
              <a:buNone/>
            </a:pPr>
            <a:endParaRPr lang="en-US" altLang="en-US" sz="2800"/>
          </a:p>
        </p:txBody>
      </p:sp>
      <p:sp>
        <p:nvSpPr>
          <p:cNvPr id="5325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  <p:pic>
        <p:nvPicPr>
          <p:cNvPr id="168965" name="Picture 5" descr="DS3-Table 05-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0413" y="4398963"/>
            <a:ext cx="449580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Use of MIN, MAX, AVG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800"/>
              <a:t>	</a:t>
            </a:r>
            <a:r>
              <a:rPr lang="en-US" altLang="en-US" sz="2400"/>
              <a:t>Find minimum, maximum, and average staff salary.</a:t>
            </a:r>
          </a:p>
          <a:p>
            <a:pPr algn="just">
              <a:lnSpc>
                <a:spcPct val="20000"/>
              </a:lnSpc>
              <a:buFontTx/>
              <a:buNone/>
            </a:pPr>
            <a:endParaRPr lang="en-US" altLang="en-US" sz="2400"/>
          </a:p>
          <a:p>
            <a:pPr algn="just">
              <a:buFontTx/>
              <a:buNone/>
            </a:pPr>
            <a:r>
              <a:rPr lang="en-US" altLang="en-US" sz="2800"/>
              <a:t>	SELECT MIN(salary) AS min, </a:t>
            </a:r>
          </a:p>
          <a:p>
            <a:pPr lvl="1" algn="just">
              <a:buFontTx/>
              <a:buNone/>
            </a:pPr>
            <a:r>
              <a:rPr lang="en-US" altLang="en-US" sz="2400"/>
              <a:t>		MAX(salary) AS max,</a:t>
            </a:r>
          </a:p>
          <a:p>
            <a:pPr lvl="1" algn="just">
              <a:buFontTx/>
              <a:buNone/>
            </a:pPr>
            <a:r>
              <a:rPr lang="en-US" altLang="en-US" sz="2400"/>
              <a:t>		 AVG(salary) AS avg</a:t>
            </a:r>
          </a:p>
          <a:p>
            <a:pPr lvl="1" algn="just">
              <a:buFontTx/>
              <a:buNone/>
            </a:pPr>
            <a:r>
              <a:rPr lang="en-US" altLang="en-US" sz="2400"/>
              <a:t>FROM Staff;</a:t>
            </a:r>
          </a:p>
          <a:p>
            <a:endParaRPr lang="en-US" altLang="en-US" sz="2800"/>
          </a:p>
        </p:txBody>
      </p:sp>
      <p:sp>
        <p:nvSpPr>
          <p:cNvPr id="5427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  <p:pic>
        <p:nvPicPr>
          <p:cNvPr id="169988" name="Picture 4" descr="DS3-Table 05-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150" y="4419600"/>
            <a:ext cx="4572000" cy="174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SELECT Statement - Grouping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800"/>
              <a:t>Use GROUP BY clause to get sub-totals.</a:t>
            </a:r>
          </a:p>
          <a:p>
            <a:pPr algn="just"/>
            <a:r>
              <a:rPr lang="en-US" altLang="en-US" sz="2800"/>
              <a:t>SELECT and GROUP BY closely integrated: each item in SELECT list must be </a:t>
            </a:r>
            <a:r>
              <a:rPr lang="en-US" altLang="en-US" sz="2800" i="1"/>
              <a:t>single-valued per group</a:t>
            </a:r>
            <a:r>
              <a:rPr lang="en-US" altLang="en-US" sz="2800"/>
              <a:t>, and SELECT clause may only contain:</a:t>
            </a:r>
          </a:p>
          <a:p>
            <a:pPr lvl="1" algn="just"/>
            <a:r>
              <a:rPr lang="en-US" altLang="en-US" sz="2400"/>
              <a:t>column names</a:t>
            </a:r>
          </a:p>
          <a:p>
            <a:pPr lvl="1" algn="just"/>
            <a:r>
              <a:rPr lang="en-US" altLang="en-US" sz="2400"/>
              <a:t>aggregate functions </a:t>
            </a:r>
          </a:p>
          <a:p>
            <a:pPr lvl="1" algn="just"/>
            <a:r>
              <a:rPr lang="en-US" altLang="en-US" sz="2400"/>
              <a:t>constants</a:t>
            </a:r>
          </a:p>
          <a:p>
            <a:pPr lvl="1" algn="just"/>
            <a:r>
              <a:rPr lang="en-US" altLang="en-US" sz="2400"/>
              <a:t>expression involving combinations of the above.</a:t>
            </a:r>
          </a:p>
          <a:p>
            <a:endParaRPr lang="en-US" altLang="en-US" sz="2800"/>
          </a:p>
        </p:txBody>
      </p:sp>
      <p:sp>
        <p:nvSpPr>
          <p:cNvPr id="5530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SELECT Statement - Grouping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ct val="25000"/>
              </a:spcBef>
              <a:spcAft>
                <a:spcPct val="25000"/>
              </a:spcAft>
            </a:pPr>
            <a:r>
              <a:rPr lang="en-US" altLang="en-US" sz="2800"/>
              <a:t>All column names in SELECT list must appear in GROUP BY clause unless name is used only in an aggregate function. </a:t>
            </a:r>
          </a:p>
          <a:p>
            <a:pPr algn="just">
              <a:spcBef>
                <a:spcPct val="25000"/>
              </a:spcBef>
              <a:spcAft>
                <a:spcPct val="25000"/>
              </a:spcAft>
            </a:pPr>
            <a:r>
              <a:rPr lang="en-US" altLang="en-US" sz="2800"/>
              <a:t>If WHERE is used with GROUP BY, WHERE is applied first, then groups are formed from remaining rows satisfying predicate.</a:t>
            </a:r>
          </a:p>
          <a:p>
            <a:pPr algn="just">
              <a:spcBef>
                <a:spcPct val="25000"/>
              </a:spcBef>
              <a:spcAft>
                <a:spcPct val="25000"/>
              </a:spcAft>
            </a:pPr>
            <a:r>
              <a:rPr lang="en-US" altLang="en-US" sz="2800"/>
              <a:t>ISO considers two nulls to be equal for purposes of GROUP BY.</a:t>
            </a:r>
          </a:p>
          <a:p>
            <a:endParaRPr lang="en-US" altLang="en-US" sz="2800"/>
          </a:p>
        </p:txBody>
      </p:sp>
      <p:sp>
        <p:nvSpPr>
          <p:cNvPr id="5632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Use of GROUP BY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/>
              <a:t>	Find number of staff in each branch and their total salaries.</a:t>
            </a:r>
          </a:p>
          <a:p>
            <a:pPr algn="just">
              <a:lnSpc>
                <a:spcPct val="40000"/>
              </a:lnSpc>
              <a:buFontTx/>
              <a:buNone/>
            </a:pPr>
            <a:endParaRPr lang="en-US" altLang="en-US"/>
          </a:p>
          <a:p>
            <a:pPr lvl="1" algn="just">
              <a:buFontTx/>
              <a:buNone/>
            </a:pPr>
            <a:r>
              <a:rPr lang="en-US" altLang="en-US"/>
              <a:t>		SELECT branchNo, COUNT(staffNo) AS count,</a:t>
            </a:r>
          </a:p>
          <a:p>
            <a:pPr lvl="2" algn="just">
              <a:buFontTx/>
              <a:buNone/>
            </a:pPr>
            <a:r>
              <a:rPr lang="en-US" altLang="en-US" sz="3200"/>
              <a:t>		   </a:t>
            </a:r>
            <a:r>
              <a:rPr lang="en-US" altLang="en-US"/>
              <a:t>SUM(salary) AS sum</a:t>
            </a:r>
          </a:p>
          <a:p>
            <a:pPr lvl="2" algn="just">
              <a:buFontTx/>
              <a:buNone/>
            </a:pPr>
            <a:r>
              <a:rPr lang="en-US" altLang="en-US"/>
              <a:t>FROM Staff</a:t>
            </a:r>
          </a:p>
          <a:p>
            <a:pPr lvl="2" algn="just">
              <a:buFontTx/>
              <a:buNone/>
            </a:pPr>
            <a:r>
              <a:rPr lang="en-US" altLang="en-US"/>
              <a:t>GROUP BY branchNo</a:t>
            </a:r>
          </a:p>
          <a:p>
            <a:pPr lvl="2">
              <a:buFontTx/>
              <a:buNone/>
            </a:pPr>
            <a:r>
              <a:rPr lang="en-US" altLang="en-US"/>
              <a:t>ORDER BY branchNo;</a:t>
            </a:r>
          </a:p>
        </p:txBody>
      </p:sp>
      <p:sp>
        <p:nvSpPr>
          <p:cNvPr id="5734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Use of GROUP BY</a:t>
            </a:r>
          </a:p>
        </p:txBody>
      </p:sp>
      <p:pic>
        <p:nvPicPr>
          <p:cNvPr id="58371" name="Picture 4" descr="DS3-Table 05-1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46364" y="1670050"/>
            <a:ext cx="6613525" cy="3138488"/>
          </a:xfrm>
          <a:noFill/>
        </p:spPr>
      </p:pic>
      <p:sp>
        <p:nvSpPr>
          <p:cNvPr id="5837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Restricted Groupings – HAVING clause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25000"/>
              </a:spcBef>
              <a:spcAft>
                <a:spcPct val="25000"/>
              </a:spcAft>
            </a:pPr>
            <a:r>
              <a:rPr lang="en-US" altLang="en-US" sz="2800"/>
              <a:t>HAVING clause is designed for use with GROUP BY to restrict groups that appear in final result table. </a:t>
            </a:r>
          </a:p>
          <a:p>
            <a:pPr algn="just">
              <a:spcBef>
                <a:spcPct val="25000"/>
              </a:spcBef>
              <a:spcAft>
                <a:spcPct val="25000"/>
              </a:spcAft>
            </a:pPr>
            <a:r>
              <a:rPr lang="en-US" altLang="en-US" sz="2800"/>
              <a:t>Similar to WHERE, but WHERE filters individual rows whereas HAVING filters groups. </a:t>
            </a:r>
          </a:p>
          <a:p>
            <a:pPr algn="just">
              <a:spcBef>
                <a:spcPct val="25000"/>
              </a:spcBef>
              <a:spcAft>
                <a:spcPct val="25000"/>
              </a:spcAft>
            </a:pPr>
            <a:r>
              <a:rPr lang="en-US" altLang="en-US" sz="2800"/>
              <a:t>Column names in HAVING clause must also appear in the GROUP BY list or be contained within an aggregate function.</a:t>
            </a:r>
          </a:p>
          <a:p>
            <a:endParaRPr lang="en-US" altLang="en-US" sz="2800"/>
          </a:p>
        </p:txBody>
      </p:sp>
      <p:sp>
        <p:nvSpPr>
          <p:cNvPr id="5939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Use of HAVING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  <a:spcAft>
                <a:spcPct val="20000"/>
              </a:spcAft>
              <a:buFontTx/>
              <a:buNone/>
            </a:pPr>
            <a:r>
              <a:rPr lang="en-US" altLang="en-US" sz="2400"/>
              <a:t>For each branch with more than 1 member of staff, </a:t>
            </a:r>
          </a:p>
          <a:p>
            <a:pPr algn="just">
              <a:lnSpc>
                <a:spcPct val="90000"/>
              </a:lnSpc>
              <a:spcAft>
                <a:spcPct val="20000"/>
              </a:spcAft>
              <a:buFontTx/>
              <a:buNone/>
            </a:pPr>
            <a:r>
              <a:rPr lang="en-US" altLang="en-US" sz="2400"/>
              <a:t>find number of staff in each branch and sum of </a:t>
            </a:r>
          </a:p>
          <a:p>
            <a:pPr algn="just">
              <a:lnSpc>
                <a:spcPct val="90000"/>
              </a:lnSpc>
              <a:spcAft>
                <a:spcPct val="20000"/>
              </a:spcAft>
              <a:buFontTx/>
              <a:buNone/>
            </a:pPr>
            <a:r>
              <a:rPr lang="en-US" altLang="en-US" sz="2400"/>
              <a:t>their salaries.</a:t>
            </a:r>
          </a:p>
          <a:p>
            <a:pPr algn="just">
              <a:lnSpc>
                <a:spcPct val="0"/>
              </a:lnSpc>
              <a:spcAft>
                <a:spcPct val="20000"/>
              </a:spcAft>
              <a:buFontTx/>
              <a:buNone/>
            </a:pPr>
            <a:endParaRPr lang="en-US" altLang="en-US" sz="2800"/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 sz="1600"/>
              <a:t>	  SELECT branchNo, 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 sz="1600"/>
              <a:t>                      COUNT(staffNo) AS count,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 sz="2000"/>
              <a:t> 		    SUM(salary) AS sum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/>
              <a:t>FROM Staff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/>
              <a:t>GROUP BY branchNo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/>
              <a:t>HAVING COUNT(staffNo) &gt; 1</a:t>
            </a:r>
          </a:p>
          <a:p>
            <a:pPr lvl="2" algn="just">
              <a:lnSpc>
                <a:spcPct val="90000"/>
              </a:lnSpc>
              <a:buFontTx/>
              <a:buNone/>
            </a:pPr>
            <a:r>
              <a:rPr lang="en-US" altLang="en-US"/>
              <a:t>ORDER BY branchNo</a:t>
            </a:r>
            <a:r>
              <a:rPr lang="en-US" altLang="en-US" sz="2000"/>
              <a:t>;</a:t>
            </a:r>
          </a:p>
          <a:p>
            <a:pPr>
              <a:lnSpc>
                <a:spcPct val="90000"/>
              </a:lnSpc>
            </a:pPr>
            <a:endParaRPr lang="en-US" altLang="en-US" sz="1800"/>
          </a:p>
        </p:txBody>
      </p:sp>
      <p:sp>
        <p:nvSpPr>
          <p:cNvPr id="6042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Use of HAVING</a:t>
            </a:r>
          </a:p>
        </p:txBody>
      </p:sp>
      <p:pic>
        <p:nvPicPr>
          <p:cNvPr id="175108" name="Picture 4" descr="DS3-Table 05-18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09864" y="1527176"/>
            <a:ext cx="6389687" cy="3001963"/>
          </a:xfrm>
          <a:noFill/>
        </p:spPr>
      </p:pic>
      <p:sp>
        <p:nvSpPr>
          <p:cNvPr id="6144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Subqueries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ct val="25000"/>
              </a:spcBef>
              <a:spcAft>
                <a:spcPct val="25000"/>
              </a:spcAft>
            </a:pPr>
            <a:r>
              <a:rPr lang="en-US" altLang="en-US" sz="2800"/>
              <a:t>Some SQL statements can have a SELECT embedded within them.</a:t>
            </a:r>
          </a:p>
          <a:p>
            <a:pPr algn="just">
              <a:spcBef>
                <a:spcPct val="25000"/>
              </a:spcBef>
              <a:spcAft>
                <a:spcPct val="25000"/>
              </a:spcAft>
            </a:pPr>
            <a:r>
              <a:rPr lang="en-US" altLang="en-US" sz="2800"/>
              <a:t>A subselect can be used in WHERE and HAVING clauses of an outer SELECT, where it is called a </a:t>
            </a:r>
            <a:r>
              <a:rPr lang="en-US" altLang="en-US" sz="2800" i="1"/>
              <a:t>subquery</a:t>
            </a:r>
            <a:r>
              <a:rPr lang="en-US" altLang="en-US" sz="2800"/>
              <a:t> or </a:t>
            </a:r>
            <a:r>
              <a:rPr lang="en-US" altLang="en-US" sz="2800" i="1"/>
              <a:t>nested query</a:t>
            </a:r>
            <a:r>
              <a:rPr lang="en-US" altLang="en-US" sz="2800"/>
              <a:t>. </a:t>
            </a:r>
          </a:p>
          <a:p>
            <a:pPr algn="just">
              <a:spcBef>
                <a:spcPct val="25000"/>
              </a:spcBef>
              <a:spcAft>
                <a:spcPct val="25000"/>
              </a:spcAft>
            </a:pPr>
            <a:r>
              <a:rPr lang="en-US" altLang="en-US" sz="2800"/>
              <a:t>Subselects may also appear in INSERT, UPDATE, and DELETE statements</a:t>
            </a:r>
          </a:p>
        </p:txBody>
      </p:sp>
      <p:sp>
        <p:nvSpPr>
          <p:cNvPr id="6246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Subquery with Equality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400"/>
              <a:t>List staff who work in branch at ‘163 Main St’.</a:t>
            </a:r>
          </a:p>
          <a:p>
            <a:pPr algn="just">
              <a:lnSpc>
                <a:spcPct val="40000"/>
              </a:lnSpc>
              <a:buFontTx/>
              <a:buNone/>
            </a:pPr>
            <a:endParaRPr lang="en-US" altLang="en-US" sz="2400"/>
          </a:p>
          <a:p>
            <a:pPr algn="just">
              <a:buFontTx/>
              <a:buNone/>
            </a:pPr>
            <a:r>
              <a:rPr lang="en-US" altLang="en-US" sz="2800"/>
              <a:t>		SELECT staffNo, fName, lName, position</a:t>
            </a:r>
          </a:p>
          <a:p>
            <a:pPr lvl="1" algn="just">
              <a:buFontTx/>
              <a:buNone/>
            </a:pPr>
            <a:r>
              <a:rPr lang="en-US" altLang="en-US" sz="2400"/>
              <a:t>		FROM Staff</a:t>
            </a:r>
          </a:p>
          <a:p>
            <a:pPr lvl="1" algn="just">
              <a:buFontTx/>
              <a:buNone/>
            </a:pPr>
            <a:r>
              <a:rPr lang="en-US" altLang="en-US" sz="2400"/>
              <a:t>		WHERE branchNo =</a:t>
            </a:r>
          </a:p>
          <a:p>
            <a:pPr lvl="1" algn="just">
              <a:buFontTx/>
              <a:buNone/>
            </a:pPr>
            <a:r>
              <a:rPr lang="en-US" altLang="en-US" sz="2400"/>
              <a:t>			(SELECT branchNo</a:t>
            </a:r>
          </a:p>
          <a:p>
            <a:pPr lvl="1" algn="just">
              <a:buFontTx/>
              <a:buNone/>
            </a:pPr>
            <a:r>
              <a:rPr lang="en-US" altLang="en-US" sz="2400"/>
              <a:t>			 FROM Branch</a:t>
            </a:r>
          </a:p>
          <a:p>
            <a:pPr lvl="1" algn="just">
              <a:buFontTx/>
              <a:buNone/>
            </a:pPr>
            <a:r>
              <a:rPr lang="en-US" altLang="en-US" sz="2400"/>
              <a:t>			 WHERE street = ‘163 Main St’);</a:t>
            </a:r>
          </a:p>
          <a:p>
            <a:endParaRPr lang="en-US" altLang="en-US" sz="2800"/>
          </a:p>
        </p:txBody>
      </p:sp>
      <p:sp>
        <p:nvSpPr>
          <p:cNvPr id="6349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Subquery with Equality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800"/>
              <a:t>Inner SELECT finds branch number for branch at ‘163 Main St’ (‘B003’). </a:t>
            </a:r>
          </a:p>
          <a:p>
            <a:pPr algn="just"/>
            <a:r>
              <a:rPr lang="en-US" altLang="en-US" sz="2800"/>
              <a:t>Outer SELECT then retrieves details of all staff who work at this branch. </a:t>
            </a:r>
          </a:p>
          <a:p>
            <a:pPr algn="just"/>
            <a:r>
              <a:rPr lang="en-US" altLang="en-US" sz="2800"/>
              <a:t>Outer SELECT then becomes:</a:t>
            </a:r>
          </a:p>
          <a:p>
            <a:pPr lvl="1" algn="just">
              <a:lnSpc>
                <a:spcPct val="40000"/>
              </a:lnSpc>
              <a:buFontTx/>
              <a:buNone/>
            </a:pPr>
            <a:endParaRPr lang="en-US" altLang="en-US" sz="2400"/>
          </a:p>
          <a:p>
            <a:pPr lvl="1" algn="just">
              <a:buFontTx/>
              <a:buNone/>
            </a:pPr>
            <a:r>
              <a:rPr lang="en-US" altLang="en-US" sz="2400"/>
              <a:t>		SELECT staffNo, fName, lName, position</a:t>
            </a:r>
          </a:p>
          <a:p>
            <a:pPr lvl="2" algn="just">
              <a:buFontTx/>
              <a:buNone/>
            </a:pPr>
            <a:r>
              <a:rPr lang="en-US" altLang="en-US" sz="2000"/>
              <a:t>FROM Staff</a:t>
            </a:r>
          </a:p>
          <a:p>
            <a:pPr lvl="2" algn="just">
              <a:buFontTx/>
              <a:buNone/>
            </a:pPr>
            <a:r>
              <a:rPr lang="en-US" altLang="en-US" sz="2000"/>
              <a:t>WHERE branchNo = ‘B003’;</a:t>
            </a:r>
          </a:p>
          <a:p>
            <a:endParaRPr lang="en-US" altLang="en-US" sz="2800"/>
          </a:p>
        </p:txBody>
      </p:sp>
      <p:sp>
        <p:nvSpPr>
          <p:cNvPr id="6451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Subquery with Equality</a:t>
            </a:r>
          </a:p>
        </p:txBody>
      </p:sp>
      <p:pic>
        <p:nvPicPr>
          <p:cNvPr id="180228" name="Picture 4" descr="DS3-Table 05-19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76438" y="1719263"/>
            <a:ext cx="7027862" cy="2857500"/>
          </a:xfrm>
          <a:noFill/>
        </p:spPr>
      </p:pic>
      <p:sp>
        <p:nvSpPr>
          <p:cNvPr id="6554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Subquery with Aggregate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800"/>
              <a:t>	</a:t>
            </a:r>
            <a:r>
              <a:rPr lang="en-US" altLang="en-US" sz="2400"/>
              <a:t>List all staff whose salary is greater than the average salary, and show by how much.</a:t>
            </a:r>
          </a:p>
          <a:p>
            <a:pPr algn="just">
              <a:lnSpc>
                <a:spcPct val="40000"/>
              </a:lnSpc>
              <a:buFontTx/>
              <a:buNone/>
            </a:pPr>
            <a:endParaRPr lang="en-US" altLang="en-US" sz="2400"/>
          </a:p>
          <a:p>
            <a:pPr lvl="1" algn="just">
              <a:buFontTx/>
              <a:buNone/>
            </a:pPr>
            <a:r>
              <a:rPr lang="en-US" altLang="en-US" sz="2400"/>
              <a:t>SELECT staffNo, fName, lName, position, </a:t>
            </a:r>
          </a:p>
          <a:p>
            <a:pPr lvl="1" algn="just">
              <a:buFontTx/>
              <a:buNone/>
            </a:pPr>
            <a:r>
              <a:rPr lang="en-US" altLang="en-US" sz="2400"/>
              <a:t>  salary – (SELECT AVG(salary) FROM Staff) As SalDiff</a:t>
            </a:r>
          </a:p>
          <a:p>
            <a:pPr lvl="1" algn="just">
              <a:buFontTx/>
              <a:buNone/>
            </a:pPr>
            <a:r>
              <a:rPr lang="en-US" altLang="en-US" sz="2400"/>
              <a:t>FROM Staff</a:t>
            </a:r>
          </a:p>
          <a:p>
            <a:pPr lvl="1" algn="just">
              <a:buFontTx/>
              <a:buNone/>
            </a:pPr>
            <a:r>
              <a:rPr lang="en-US" altLang="en-US" sz="2400"/>
              <a:t>WHERE salary &gt;(SELECT AVG(salary)</a:t>
            </a:r>
          </a:p>
          <a:p>
            <a:pPr lvl="2" algn="just">
              <a:buFontTx/>
              <a:buNone/>
            </a:pPr>
            <a:r>
              <a:rPr lang="en-US" altLang="en-US" sz="2000"/>
              <a:t>			  FROM Staff);</a:t>
            </a:r>
          </a:p>
          <a:p>
            <a:endParaRPr lang="en-US" altLang="en-US" sz="2800"/>
          </a:p>
        </p:txBody>
      </p:sp>
      <p:sp>
        <p:nvSpPr>
          <p:cNvPr id="6656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Subquery with Aggregate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800"/>
              <a:t>Cannot write ‘WHERE salary &gt; AVG(salary)’</a:t>
            </a:r>
          </a:p>
          <a:p>
            <a:pPr algn="just"/>
            <a:r>
              <a:rPr lang="en-US" altLang="en-US" sz="2800"/>
              <a:t>Instead, use subquery to find average salary (17000), and then use outer SELECT to find those staff with salary greater than this:</a:t>
            </a:r>
          </a:p>
          <a:p>
            <a:pPr algn="just">
              <a:lnSpc>
                <a:spcPct val="40000"/>
              </a:lnSpc>
              <a:buFontTx/>
              <a:buNone/>
            </a:pPr>
            <a:endParaRPr lang="en-US" altLang="en-US" sz="2800"/>
          </a:p>
          <a:p>
            <a:pPr lvl="1" algn="just">
              <a:buFontTx/>
              <a:buNone/>
            </a:pPr>
            <a:r>
              <a:rPr lang="en-US" altLang="en-US" sz="2400"/>
              <a:t>SELECT staffNo, fName, lName, position, </a:t>
            </a:r>
          </a:p>
          <a:p>
            <a:pPr lvl="1" algn="just">
              <a:buFontTx/>
              <a:buNone/>
            </a:pPr>
            <a:r>
              <a:rPr lang="en-US" altLang="en-US" sz="2400"/>
              <a:t>     salary – 17000 As salDiff</a:t>
            </a:r>
          </a:p>
          <a:p>
            <a:pPr lvl="1" algn="just">
              <a:buFontTx/>
              <a:buNone/>
            </a:pPr>
            <a:r>
              <a:rPr lang="en-US" altLang="en-US" sz="2400"/>
              <a:t>FROM Staff</a:t>
            </a:r>
          </a:p>
          <a:p>
            <a:pPr lvl="1" algn="just">
              <a:buFontTx/>
              <a:buNone/>
            </a:pPr>
            <a:r>
              <a:rPr lang="en-US" altLang="en-US" sz="2400"/>
              <a:t>WHERE salary &gt; 17000;</a:t>
            </a:r>
          </a:p>
          <a:p>
            <a:endParaRPr lang="en-US" altLang="en-US" sz="2800"/>
          </a:p>
        </p:txBody>
      </p:sp>
      <p:sp>
        <p:nvSpPr>
          <p:cNvPr id="6758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Subquery with Aggregate</a:t>
            </a:r>
          </a:p>
        </p:txBody>
      </p:sp>
      <p:pic>
        <p:nvPicPr>
          <p:cNvPr id="183300" name="Picture 4" descr="DS3-Table 05-2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9626" y="1773239"/>
            <a:ext cx="6983413" cy="2840037"/>
          </a:xfrm>
          <a:noFill/>
        </p:spPr>
      </p:pic>
      <p:sp>
        <p:nvSpPr>
          <p:cNvPr id="6861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Subquery Rules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800"/>
              <a:t>ORDER BY clause may not be used in a subquery (although it may be used in outermost SELECT).</a:t>
            </a:r>
          </a:p>
          <a:p>
            <a:pPr algn="just">
              <a:lnSpc>
                <a:spcPct val="40000"/>
              </a:lnSpc>
            </a:pPr>
            <a:endParaRPr lang="en-US" altLang="en-US" sz="2800"/>
          </a:p>
          <a:p>
            <a:pPr algn="just"/>
            <a:r>
              <a:rPr lang="en-US" altLang="en-US" sz="2800"/>
              <a:t>Subquery SELECT list must consist of a single column name or expression, except for subqueries that use EXISTS.</a:t>
            </a:r>
          </a:p>
          <a:p>
            <a:pPr algn="just">
              <a:lnSpc>
                <a:spcPct val="40000"/>
              </a:lnSpc>
            </a:pPr>
            <a:endParaRPr lang="en-US" altLang="en-US" sz="2800"/>
          </a:p>
          <a:p>
            <a:pPr algn="just"/>
            <a:r>
              <a:rPr lang="en-US" altLang="en-US" sz="2800"/>
              <a:t>By default, column names refer to table name in FROM clause of subquery. Can refer to a table in FROM using an </a:t>
            </a:r>
            <a:r>
              <a:rPr lang="en-US" altLang="en-US" sz="2800" i="1"/>
              <a:t>alias</a:t>
            </a:r>
            <a:r>
              <a:rPr lang="en-US" altLang="en-US" sz="2800"/>
              <a:t>.</a:t>
            </a:r>
          </a:p>
          <a:p>
            <a:endParaRPr lang="en-US" altLang="en-US" sz="2800"/>
          </a:p>
        </p:txBody>
      </p:sp>
      <p:sp>
        <p:nvSpPr>
          <p:cNvPr id="6963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Subquery Rules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When subquery is an operand in a comparison, subquery must appear on right-hand side.</a:t>
            </a:r>
          </a:p>
          <a:p>
            <a:pPr algn="just">
              <a:lnSpc>
                <a:spcPct val="40000"/>
              </a:lnSpc>
            </a:pPr>
            <a:endParaRPr lang="en-US" altLang="en-US"/>
          </a:p>
          <a:p>
            <a:pPr algn="just"/>
            <a:r>
              <a:rPr lang="en-US" altLang="en-US"/>
              <a:t>A subquery may not be used as an operand in an expression.</a:t>
            </a:r>
          </a:p>
          <a:p>
            <a:endParaRPr lang="en-US" altLang="en-US"/>
          </a:p>
        </p:txBody>
      </p:sp>
      <p:sp>
        <p:nvSpPr>
          <p:cNvPr id="7066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Nested subquery: use of IN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800"/>
              <a:t>List properties handled by staff at ‘163 Main St’.</a:t>
            </a:r>
          </a:p>
          <a:p>
            <a:pPr algn="just">
              <a:lnSpc>
                <a:spcPct val="30000"/>
              </a:lnSpc>
              <a:buFontTx/>
              <a:buNone/>
            </a:pPr>
            <a:endParaRPr lang="en-US" altLang="en-US"/>
          </a:p>
          <a:p>
            <a:pPr lvl="1" algn="just">
              <a:buFontTx/>
              <a:buNone/>
            </a:pPr>
            <a:r>
              <a:rPr lang="en-US" altLang="en-US"/>
              <a:t>SELECT propertyNo, street, city, postcode, type, rooms, rent</a:t>
            </a:r>
          </a:p>
          <a:p>
            <a:pPr lvl="1" algn="just">
              <a:buFontTx/>
              <a:buNone/>
            </a:pPr>
            <a:r>
              <a:rPr lang="en-US" altLang="en-US"/>
              <a:t>FROM PropertyForRent</a:t>
            </a:r>
          </a:p>
          <a:p>
            <a:pPr lvl="1" algn="just">
              <a:buFontTx/>
              <a:buNone/>
            </a:pPr>
            <a:r>
              <a:rPr lang="en-US" altLang="en-US"/>
              <a:t>WHERE staffNo IN</a:t>
            </a:r>
          </a:p>
          <a:p>
            <a:pPr lvl="2" algn="just">
              <a:buFontTx/>
              <a:buNone/>
            </a:pPr>
            <a:r>
              <a:rPr lang="en-US" altLang="en-US"/>
              <a:t>(SELECT staffNo</a:t>
            </a:r>
          </a:p>
          <a:p>
            <a:pPr lvl="2" algn="just">
              <a:buFontTx/>
              <a:buNone/>
            </a:pPr>
            <a:r>
              <a:rPr lang="en-US" altLang="en-US"/>
              <a:t> FROM Staff</a:t>
            </a:r>
          </a:p>
          <a:p>
            <a:pPr lvl="2" algn="just">
              <a:buFontTx/>
              <a:buNone/>
            </a:pPr>
            <a:r>
              <a:rPr lang="en-US" altLang="en-US"/>
              <a:t> WHERE branchNo =</a:t>
            </a:r>
          </a:p>
          <a:p>
            <a:pPr lvl="2" algn="just">
              <a:buFontTx/>
              <a:buNone/>
            </a:pPr>
            <a:r>
              <a:rPr lang="en-US" altLang="en-US"/>
              <a:t>		(SELECT branchNo</a:t>
            </a:r>
          </a:p>
          <a:p>
            <a:pPr lvl="2" algn="just">
              <a:buFontTx/>
              <a:buNone/>
            </a:pPr>
            <a:r>
              <a:rPr lang="en-US" altLang="en-US"/>
              <a:t>		 FROM Branch</a:t>
            </a:r>
          </a:p>
          <a:p>
            <a:pPr lvl="2" algn="just">
              <a:buFontTx/>
              <a:buNone/>
            </a:pPr>
            <a:r>
              <a:rPr lang="en-US" altLang="en-US"/>
              <a:t>		 WHERE street = ‘163 Main St’));</a:t>
            </a:r>
          </a:p>
          <a:p>
            <a:endParaRPr lang="en-US" altLang="en-US"/>
          </a:p>
        </p:txBody>
      </p:sp>
      <p:sp>
        <p:nvSpPr>
          <p:cNvPr id="7168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Nested subquery: use of IN</a:t>
            </a:r>
          </a:p>
        </p:txBody>
      </p:sp>
      <p:pic>
        <p:nvPicPr>
          <p:cNvPr id="187396" name="Picture 4" descr="DS3-Table 05-2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30425" y="1428751"/>
            <a:ext cx="7029450" cy="3186113"/>
          </a:xfrm>
          <a:noFill/>
        </p:spPr>
      </p:pic>
      <p:sp>
        <p:nvSpPr>
          <p:cNvPr id="7270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Multi-Table Queries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800"/>
              <a:t>Can use subqueries provided result columns come from same table.</a:t>
            </a:r>
          </a:p>
          <a:p>
            <a:pPr algn="just">
              <a:lnSpc>
                <a:spcPct val="20000"/>
              </a:lnSpc>
            </a:pPr>
            <a:endParaRPr lang="en-US" altLang="en-US" sz="2800"/>
          </a:p>
          <a:p>
            <a:pPr algn="just"/>
            <a:r>
              <a:rPr lang="en-US" altLang="en-US" sz="2800"/>
              <a:t>If result columns come from more than one table must use a join.</a:t>
            </a:r>
          </a:p>
          <a:p>
            <a:pPr algn="just">
              <a:lnSpc>
                <a:spcPct val="20000"/>
              </a:lnSpc>
            </a:pPr>
            <a:endParaRPr lang="en-US" altLang="en-US" sz="2800"/>
          </a:p>
          <a:p>
            <a:pPr algn="just"/>
            <a:r>
              <a:rPr lang="en-US" altLang="en-US" sz="2800"/>
              <a:t>To perform join, include more than one table in FROM clause.</a:t>
            </a:r>
          </a:p>
          <a:p>
            <a:pPr algn="just">
              <a:lnSpc>
                <a:spcPct val="20000"/>
              </a:lnSpc>
            </a:pPr>
            <a:endParaRPr lang="en-US" altLang="en-US" sz="2800"/>
          </a:p>
          <a:p>
            <a:pPr algn="just"/>
            <a:r>
              <a:rPr lang="en-US" altLang="en-US" sz="2800"/>
              <a:t>Use comma as separator and typically include WHERE clause to specify join column(s). </a:t>
            </a:r>
          </a:p>
          <a:p>
            <a:endParaRPr lang="en-US" altLang="en-US" sz="2800"/>
          </a:p>
        </p:txBody>
      </p:sp>
      <p:sp>
        <p:nvSpPr>
          <p:cNvPr id="7373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Multi-Table Queries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Also possible to use an alias for a table named in FROM clause. </a:t>
            </a:r>
          </a:p>
          <a:p>
            <a:pPr algn="just">
              <a:lnSpc>
                <a:spcPct val="40000"/>
              </a:lnSpc>
            </a:pPr>
            <a:endParaRPr lang="en-US" altLang="en-US"/>
          </a:p>
          <a:p>
            <a:pPr algn="just"/>
            <a:r>
              <a:rPr lang="en-US" altLang="en-US"/>
              <a:t>Alias is separated from table name with a space. </a:t>
            </a:r>
          </a:p>
          <a:p>
            <a:pPr algn="just">
              <a:lnSpc>
                <a:spcPct val="40000"/>
              </a:lnSpc>
            </a:pPr>
            <a:endParaRPr lang="en-US" altLang="en-US"/>
          </a:p>
          <a:p>
            <a:pPr algn="just"/>
            <a:r>
              <a:rPr lang="en-US" altLang="en-US"/>
              <a:t>Alias can be used to qualify column names when there is ambiguity</a:t>
            </a:r>
          </a:p>
        </p:txBody>
      </p:sp>
      <p:sp>
        <p:nvSpPr>
          <p:cNvPr id="7475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Simple Join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/>
              <a:t>	List names of all clients who have viewed a property along with any comment supplied.</a:t>
            </a:r>
          </a:p>
          <a:p>
            <a:pPr algn="just">
              <a:buFontTx/>
              <a:buNone/>
            </a:pPr>
            <a:endParaRPr lang="en-US" altLang="en-US"/>
          </a:p>
          <a:p>
            <a:pPr algn="just">
              <a:buFontTx/>
              <a:buNone/>
            </a:pPr>
            <a:r>
              <a:rPr lang="en-US" altLang="en-US" sz="2000"/>
              <a:t>	     SELECT c.clientNo, fName, lName, propertyNo, comment</a:t>
            </a:r>
          </a:p>
          <a:p>
            <a:pPr lvl="1" algn="just">
              <a:buFontTx/>
              <a:buNone/>
            </a:pPr>
            <a:r>
              <a:rPr lang="en-US" altLang="en-US"/>
              <a:t>	FROM Client c, Viewing v</a:t>
            </a:r>
          </a:p>
          <a:p>
            <a:pPr lvl="1" algn="just">
              <a:buFontTx/>
              <a:buNone/>
            </a:pPr>
            <a:r>
              <a:rPr lang="en-US" altLang="en-US"/>
              <a:t>	WHERE c.clientNo = v.clientNo;</a:t>
            </a:r>
          </a:p>
          <a:p>
            <a:endParaRPr lang="en-US" altLang="en-US" sz="2000"/>
          </a:p>
        </p:txBody>
      </p:sp>
      <p:sp>
        <p:nvSpPr>
          <p:cNvPr id="7578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Simple Join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60000"/>
              </a:lnSpc>
            </a:pPr>
            <a:endParaRPr lang="en-US" altLang="en-US" sz="2800"/>
          </a:p>
          <a:p>
            <a:pPr algn="just">
              <a:lnSpc>
                <a:spcPct val="60000"/>
              </a:lnSpc>
            </a:pPr>
            <a:r>
              <a:rPr lang="en-US" altLang="en-US" sz="2800"/>
              <a:t>Equivalent to equi-join in relational algebra.</a:t>
            </a:r>
          </a:p>
          <a:p>
            <a:pPr algn="just">
              <a:lnSpc>
                <a:spcPct val="60000"/>
              </a:lnSpc>
              <a:buFontTx/>
              <a:buNone/>
            </a:pPr>
            <a:endParaRPr lang="en-US" altLang="en-US" sz="2800"/>
          </a:p>
          <a:p>
            <a:pPr algn="just"/>
            <a:r>
              <a:rPr lang="en-US" altLang="en-US" sz="2800"/>
              <a:t>Only those rows from both tables that have identical values in the clientNo columns (c.clientNo = v.clientNo) are included in result. </a:t>
            </a:r>
          </a:p>
          <a:p>
            <a:pPr algn="just"/>
            <a:endParaRPr lang="en-US" altLang="en-US" sz="2800"/>
          </a:p>
          <a:p>
            <a:endParaRPr lang="en-US" altLang="en-US" sz="2800"/>
          </a:p>
        </p:txBody>
      </p:sp>
      <p:sp>
        <p:nvSpPr>
          <p:cNvPr id="7680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Simple Join</a:t>
            </a:r>
          </a:p>
        </p:txBody>
      </p:sp>
      <p:pic>
        <p:nvPicPr>
          <p:cNvPr id="192516" name="Picture 4" descr="DS3-Table 05-2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5338" y="1779589"/>
            <a:ext cx="7015162" cy="2987675"/>
          </a:xfrm>
          <a:noFill/>
        </p:spPr>
      </p:pic>
      <p:sp>
        <p:nvSpPr>
          <p:cNvPr id="7782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Alternative JOIN Constructs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SQL provides alternative ways to specify joins:</a:t>
            </a:r>
          </a:p>
          <a:p>
            <a:pPr algn="just">
              <a:lnSpc>
                <a:spcPct val="40000"/>
              </a:lnSpc>
            </a:pPr>
            <a:endParaRPr lang="en-US" altLang="en-US" sz="2000"/>
          </a:p>
          <a:p>
            <a:pPr algn="just">
              <a:buFontTx/>
              <a:buNone/>
            </a:pPr>
            <a:r>
              <a:rPr lang="en-US" altLang="en-US" sz="2000"/>
              <a:t>	FROM Client c JOIN Viewing v ON c.clientNo = v.clientNo</a:t>
            </a:r>
          </a:p>
          <a:p>
            <a:pPr algn="just">
              <a:buFontTx/>
              <a:buNone/>
            </a:pPr>
            <a:r>
              <a:rPr lang="en-US" altLang="en-US" sz="2000"/>
              <a:t>	FROM Client JOIN Viewing USING clientNo</a:t>
            </a:r>
          </a:p>
          <a:p>
            <a:pPr algn="just">
              <a:buFontTx/>
              <a:buNone/>
            </a:pPr>
            <a:r>
              <a:rPr lang="en-US" altLang="en-US" sz="2000"/>
              <a:t>	FROM Client NATURAL JOIN Viewing</a:t>
            </a:r>
          </a:p>
          <a:p>
            <a:pPr algn="just">
              <a:lnSpc>
                <a:spcPct val="50000"/>
              </a:lnSpc>
              <a:buFontTx/>
              <a:buNone/>
            </a:pPr>
            <a:endParaRPr lang="en-US" altLang="en-US" sz="2000"/>
          </a:p>
          <a:p>
            <a:pPr algn="just"/>
            <a:r>
              <a:rPr lang="en-US" altLang="en-US" sz="2800"/>
              <a:t>In each case, FROM replaces original FROM and WHERE. However, first produces table with two identical clientNo columns.</a:t>
            </a:r>
          </a:p>
        </p:txBody>
      </p:sp>
      <p:sp>
        <p:nvSpPr>
          <p:cNvPr id="7885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Sorting a join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800"/>
              <a:t>	For each branch, list numbers and names of staff who manage properties, and properties they manage.</a:t>
            </a:r>
          </a:p>
          <a:p>
            <a:pPr algn="just"/>
            <a:endParaRPr lang="en-US" altLang="en-US" sz="2800"/>
          </a:p>
          <a:p>
            <a:pPr algn="just">
              <a:buFontTx/>
              <a:buNone/>
            </a:pPr>
            <a:r>
              <a:rPr lang="en-US" altLang="en-US"/>
              <a:t>	 </a:t>
            </a:r>
            <a:r>
              <a:rPr lang="en-US" altLang="en-US" sz="2100"/>
              <a:t>SELECT s.branchNo, s.staffNo, fName,  lName,</a:t>
            </a:r>
            <a:r>
              <a:rPr lang="en-US" altLang="en-US" sz="2200"/>
              <a:t>propertyNo</a:t>
            </a:r>
          </a:p>
          <a:p>
            <a:pPr lvl="1" algn="just">
              <a:buFontTx/>
              <a:buNone/>
            </a:pPr>
            <a:r>
              <a:rPr lang="en-US" altLang="en-US" sz="2200"/>
              <a:t>FROM Staff s, PropertyForRent p</a:t>
            </a:r>
          </a:p>
          <a:p>
            <a:pPr lvl="1" algn="just">
              <a:buFontTx/>
              <a:buNone/>
            </a:pPr>
            <a:r>
              <a:rPr lang="en-US" altLang="en-US" sz="2200"/>
              <a:t>WHERE s.staffNo = p.staffNo</a:t>
            </a:r>
          </a:p>
          <a:p>
            <a:pPr lvl="1" algn="just">
              <a:buFontTx/>
              <a:buNone/>
            </a:pPr>
            <a:r>
              <a:rPr lang="en-US" altLang="en-US" sz="2200"/>
              <a:t>ORDER BY s.branchNo, s.staffNo, propertyNo;</a:t>
            </a:r>
          </a:p>
          <a:p>
            <a:endParaRPr lang="en-US" altLang="en-US"/>
          </a:p>
        </p:txBody>
      </p:sp>
      <p:sp>
        <p:nvSpPr>
          <p:cNvPr id="7987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Sorting a join</a:t>
            </a:r>
          </a:p>
        </p:txBody>
      </p:sp>
      <p:pic>
        <p:nvPicPr>
          <p:cNvPr id="195588" name="Picture 4" descr="DS3-Table 05-2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57414" y="1514476"/>
            <a:ext cx="6816725" cy="3255963"/>
          </a:xfrm>
          <a:noFill/>
        </p:spPr>
      </p:pic>
      <p:sp>
        <p:nvSpPr>
          <p:cNvPr id="8090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Three Table Join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400"/>
              <a:t>	For each branch, list staff who manage properties, including city in which branch is located and properties they manage.</a:t>
            </a:r>
          </a:p>
          <a:p>
            <a:pPr algn="just">
              <a:lnSpc>
                <a:spcPct val="80000"/>
              </a:lnSpc>
              <a:buFontTx/>
              <a:buNone/>
            </a:pPr>
            <a:endParaRPr lang="en-US" altLang="en-US" sz="2400"/>
          </a:p>
          <a:p>
            <a:pPr algn="just">
              <a:buFontTx/>
              <a:buNone/>
            </a:pPr>
            <a:r>
              <a:rPr lang="en-US" altLang="en-US" sz="2800"/>
              <a:t>	SELECT b.branchNo, b.city, s.staffNo, fName, lName,</a:t>
            </a:r>
          </a:p>
          <a:p>
            <a:pPr lvl="1" algn="just">
              <a:buFontTx/>
              <a:buNone/>
            </a:pPr>
            <a:r>
              <a:rPr lang="en-US" altLang="en-US" sz="2400"/>
              <a:t>                   propertyNo</a:t>
            </a:r>
          </a:p>
          <a:p>
            <a:pPr lvl="1" algn="just">
              <a:buFontTx/>
              <a:buNone/>
            </a:pPr>
            <a:r>
              <a:rPr lang="en-US" altLang="en-US" sz="2400"/>
              <a:t>FROM Branch b, Staff s, PropertyForRent p</a:t>
            </a:r>
          </a:p>
          <a:p>
            <a:pPr lvl="1" algn="just">
              <a:buFontTx/>
              <a:buNone/>
            </a:pPr>
            <a:r>
              <a:rPr lang="en-US" altLang="en-US" sz="2400"/>
              <a:t>WHERE b.branchNo = s.branchNo AND </a:t>
            </a:r>
          </a:p>
          <a:p>
            <a:pPr lvl="1" algn="just">
              <a:buFontTx/>
              <a:buNone/>
            </a:pPr>
            <a:r>
              <a:rPr lang="en-US" altLang="en-US" sz="2400"/>
              <a:t>                   s.staffNo = p.staffNo</a:t>
            </a:r>
          </a:p>
          <a:p>
            <a:pPr lvl="1" algn="just">
              <a:buFontTx/>
              <a:buNone/>
            </a:pPr>
            <a:r>
              <a:rPr lang="en-US" altLang="en-US" sz="2400"/>
              <a:t>ORDER BY b.branchNo, s.staffNo, propertyNo;</a:t>
            </a:r>
          </a:p>
          <a:p>
            <a:pPr>
              <a:buFontTx/>
              <a:buNone/>
            </a:pPr>
            <a:endParaRPr lang="en-US" altLang="en-US" sz="2800"/>
          </a:p>
        </p:txBody>
      </p:sp>
      <p:sp>
        <p:nvSpPr>
          <p:cNvPr id="8192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Three Table Join</a:t>
            </a:r>
          </a:p>
        </p:txBody>
      </p:sp>
      <p:sp>
        <p:nvSpPr>
          <p:cNvPr id="8294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endParaRPr lang="en-US" altLang="en-US"/>
          </a:p>
          <a:p>
            <a:pPr algn="just">
              <a:lnSpc>
                <a:spcPct val="90000"/>
              </a:lnSpc>
            </a:pPr>
            <a:endParaRPr lang="en-US" altLang="en-US"/>
          </a:p>
          <a:p>
            <a:pPr algn="just">
              <a:lnSpc>
                <a:spcPct val="90000"/>
              </a:lnSpc>
            </a:pPr>
            <a:endParaRPr lang="en-US" altLang="en-US"/>
          </a:p>
          <a:p>
            <a:pPr algn="just">
              <a:lnSpc>
                <a:spcPct val="90000"/>
              </a:lnSpc>
            </a:pPr>
            <a:endParaRPr lang="en-US" altLang="en-US"/>
          </a:p>
          <a:p>
            <a:pPr algn="just">
              <a:lnSpc>
                <a:spcPct val="90000"/>
              </a:lnSpc>
            </a:pPr>
            <a:endParaRPr lang="en-US" altLang="en-US"/>
          </a:p>
          <a:p>
            <a:pPr algn="just">
              <a:lnSpc>
                <a:spcPct val="90000"/>
              </a:lnSpc>
            </a:pPr>
            <a:r>
              <a:rPr lang="en-US" altLang="en-US"/>
              <a:t>Alternative formulation for FROM and WHERE:</a:t>
            </a:r>
          </a:p>
          <a:p>
            <a:pPr lvl="1" algn="just">
              <a:lnSpc>
                <a:spcPct val="40000"/>
              </a:lnSpc>
            </a:pPr>
            <a:endParaRPr lang="en-US" altLang="en-US"/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/>
              <a:t>	FROM (Branch b JOIN Staff s USING branchNo) AS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/>
              <a:t>              bs JOIN PropertyForRent p USING staffNo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</p:txBody>
      </p:sp>
      <p:sp>
        <p:nvSpPr>
          <p:cNvPr id="8294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  <p:pic>
        <p:nvPicPr>
          <p:cNvPr id="197638" name="Picture 6" descr="DS3-Table 05-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950" y="1600200"/>
            <a:ext cx="758825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 :  Multiple Grouping Columns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800"/>
              <a:t>	Find number of properties handled by each staff member.</a:t>
            </a:r>
          </a:p>
          <a:p>
            <a:pPr algn="just">
              <a:buFontTx/>
              <a:buNone/>
            </a:pPr>
            <a:endParaRPr lang="en-US" altLang="en-US" sz="2800"/>
          </a:p>
          <a:p>
            <a:pPr algn="just">
              <a:buFontTx/>
              <a:buNone/>
            </a:pPr>
            <a:r>
              <a:rPr lang="en-US" altLang="en-US"/>
              <a:t>	 </a:t>
            </a:r>
            <a:r>
              <a:rPr lang="en-US" altLang="en-US" sz="2100"/>
              <a:t>SELECT s.branchNo, s.staffNo, COUNT(*) AS count</a:t>
            </a:r>
          </a:p>
          <a:p>
            <a:pPr lvl="1" algn="just">
              <a:buFontTx/>
              <a:buNone/>
            </a:pPr>
            <a:r>
              <a:rPr lang="en-US" altLang="en-US" sz="2200"/>
              <a:t>FROM Staff s, PropertyForRent p</a:t>
            </a:r>
          </a:p>
          <a:p>
            <a:pPr lvl="1" algn="just">
              <a:buFontTx/>
              <a:buNone/>
            </a:pPr>
            <a:r>
              <a:rPr lang="en-US" altLang="en-US" sz="2200"/>
              <a:t>WHERE s.staffNo = p.staffNo</a:t>
            </a:r>
          </a:p>
          <a:p>
            <a:pPr lvl="1" algn="just">
              <a:buFontTx/>
              <a:buNone/>
            </a:pPr>
            <a:r>
              <a:rPr lang="en-US" altLang="en-US" sz="2200"/>
              <a:t>GROUP BY s.branchNo, s.staffNo</a:t>
            </a:r>
          </a:p>
          <a:p>
            <a:pPr lvl="1" algn="just">
              <a:buFontTx/>
              <a:buNone/>
            </a:pPr>
            <a:r>
              <a:rPr lang="en-US" altLang="en-US" sz="2200"/>
              <a:t>ORDER BY s.branchNo, s.staffNo;</a:t>
            </a:r>
          </a:p>
          <a:p>
            <a:endParaRPr lang="en-US" altLang="en-US" sz="2000"/>
          </a:p>
        </p:txBody>
      </p:sp>
      <p:sp>
        <p:nvSpPr>
          <p:cNvPr id="8397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 :  Multiple Grouping Columns</a:t>
            </a:r>
          </a:p>
        </p:txBody>
      </p:sp>
      <p:pic>
        <p:nvPicPr>
          <p:cNvPr id="199684" name="Picture 4" descr="DS3-Table 05-27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62214" y="1443039"/>
            <a:ext cx="6391275" cy="3227387"/>
          </a:xfrm>
          <a:noFill/>
        </p:spPr>
      </p:pic>
      <p:sp>
        <p:nvSpPr>
          <p:cNvPr id="8499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Computing a Join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2011363" y="1489076"/>
            <a:ext cx="8229600" cy="4525963"/>
          </a:xfrm>
        </p:spPr>
        <p:txBody>
          <a:bodyPr/>
          <a:lstStyle/>
          <a:p>
            <a:pPr algn="just">
              <a:buFontTx/>
              <a:buNone/>
            </a:pPr>
            <a:r>
              <a:rPr lang="en-US" altLang="en-US" sz="2800"/>
              <a:t>Procedure for generating results of a join are:</a:t>
            </a:r>
          </a:p>
          <a:p>
            <a:pPr algn="just">
              <a:lnSpc>
                <a:spcPct val="30000"/>
              </a:lnSpc>
            </a:pPr>
            <a:endParaRPr lang="en-US" altLang="en-US" sz="2800"/>
          </a:p>
          <a:p>
            <a:pPr algn="just">
              <a:buFontTx/>
              <a:buNone/>
            </a:pPr>
            <a:r>
              <a:rPr lang="en-US" altLang="en-US" sz="2800"/>
              <a:t>1. Form Cartesian product of the tables named in  FROM clause. </a:t>
            </a:r>
          </a:p>
          <a:p>
            <a:pPr algn="just">
              <a:lnSpc>
                <a:spcPct val="30000"/>
              </a:lnSpc>
              <a:buFontTx/>
              <a:buNone/>
            </a:pPr>
            <a:endParaRPr lang="en-US" altLang="en-US" sz="2800"/>
          </a:p>
          <a:p>
            <a:pPr algn="just">
              <a:buFontTx/>
              <a:buNone/>
            </a:pPr>
            <a:r>
              <a:rPr lang="en-US" altLang="en-US" sz="2800"/>
              <a:t>2. If there is a WHERE clause, apply the search condition to each row of the product table, retaining those rows that satisfy the condition.</a:t>
            </a:r>
          </a:p>
          <a:p>
            <a:pPr algn="just">
              <a:lnSpc>
                <a:spcPct val="30000"/>
              </a:lnSpc>
              <a:buFontTx/>
              <a:buNone/>
            </a:pPr>
            <a:endParaRPr lang="en-US" altLang="en-US" sz="2800"/>
          </a:p>
          <a:p>
            <a:pPr algn="just">
              <a:buFontTx/>
              <a:buNone/>
            </a:pPr>
            <a:r>
              <a:rPr lang="en-US" altLang="en-US" sz="2800"/>
              <a:t>3. For each remaining row, determine value of each item in SELECT list to produce a single row in result table.</a:t>
            </a:r>
          </a:p>
          <a:p>
            <a:endParaRPr lang="en-US" altLang="en-US" sz="2800"/>
          </a:p>
        </p:txBody>
      </p:sp>
      <p:sp>
        <p:nvSpPr>
          <p:cNvPr id="8602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Computing a Join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Tx/>
              <a:buAutoNum type="arabicPeriod" startAt="4"/>
            </a:pPr>
            <a:r>
              <a:rPr lang="en-US" altLang="en-US" sz="2800"/>
              <a:t>If DISTINCT has been specified, eliminate any duplicate rows from the result table.</a:t>
            </a:r>
          </a:p>
          <a:p>
            <a:pPr marL="457200" indent="-457200" algn="just">
              <a:lnSpc>
                <a:spcPct val="40000"/>
              </a:lnSpc>
              <a:buNone/>
            </a:pPr>
            <a:endParaRPr lang="en-US" altLang="en-US" sz="2800"/>
          </a:p>
          <a:p>
            <a:pPr marL="457200" indent="-457200" algn="just">
              <a:buNone/>
            </a:pPr>
            <a:r>
              <a:rPr lang="en-US" altLang="en-US" sz="2800"/>
              <a:t>5. If there is an ORDER BY clause, sort result table as required.</a:t>
            </a:r>
          </a:p>
          <a:p>
            <a:pPr marL="457200" indent="-457200" algn="just">
              <a:lnSpc>
                <a:spcPct val="30000"/>
              </a:lnSpc>
              <a:buNone/>
            </a:pPr>
            <a:endParaRPr lang="en-US" altLang="en-US" sz="2800"/>
          </a:p>
          <a:p>
            <a:pPr marL="457200" indent="-457200" algn="just"/>
            <a:r>
              <a:rPr lang="en-US" altLang="en-US" sz="2800"/>
              <a:t>SQL provides special format of SELECT for Cartesian product:</a:t>
            </a:r>
          </a:p>
          <a:p>
            <a:pPr marL="914400" lvl="1" indent="-457200" algn="just">
              <a:lnSpc>
                <a:spcPct val="30000"/>
              </a:lnSpc>
            </a:pPr>
            <a:endParaRPr lang="en-US" altLang="en-US" sz="2400"/>
          </a:p>
          <a:p>
            <a:pPr marL="914400" lvl="1" indent="-457200" algn="just">
              <a:buNone/>
            </a:pPr>
            <a:r>
              <a:rPr lang="en-US" altLang="en-US" sz="1800"/>
              <a:t>SELECT	[DISTINCT | ALL]	{* | columnList}</a:t>
            </a:r>
          </a:p>
          <a:p>
            <a:pPr marL="914400" lvl="1" indent="-457200" algn="just">
              <a:buNone/>
            </a:pPr>
            <a:r>
              <a:rPr lang="en-US" altLang="en-US" sz="1800"/>
              <a:t>FROM Table1 CROSS JOIN Table2</a:t>
            </a:r>
          </a:p>
          <a:p>
            <a:pPr marL="457200" indent="-457200"/>
            <a:endParaRPr lang="en-US" altLang="en-US" sz="2800"/>
          </a:p>
        </p:txBody>
      </p:sp>
      <p:sp>
        <p:nvSpPr>
          <p:cNvPr id="8704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EXISTS and NOT EXISTS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800"/>
              <a:t>EXISTS and NOT EXISTS are for use only with subqueries. </a:t>
            </a:r>
          </a:p>
          <a:p>
            <a:pPr lvl="1" algn="just">
              <a:lnSpc>
                <a:spcPct val="30000"/>
              </a:lnSpc>
            </a:pPr>
            <a:endParaRPr lang="en-US" altLang="en-US" sz="2400"/>
          </a:p>
          <a:p>
            <a:pPr algn="just"/>
            <a:r>
              <a:rPr lang="en-US" altLang="en-US" sz="2800"/>
              <a:t>Produce a simple true/false result. </a:t>
            </a:r>
          </a:p>
          <a:p>
            <a:pPr lvl="1" algn="just">
              <a:lnSpc>
                <a:spcPct val="30000"/>
              </a:lnSpc>
            </a:pPr>
            <a:endParaRPr lang="en-US" altLang="en-US" sz="2400"/>
          </a:p>
          <a:p>
            <a:pPr algn="just"/>
            <a:r>
              <a:rPr lang="en-US" altLang="en-US" sz="2800"/>
              <a:t>True if and only if there exists at least one row in result table returned by subquery.</a:t>
            </a:r>
          </a:p>
          <a:p>
            <a:pPr lvl="1" algn="just">
              <a:lnSpc>
                <a:spcPct val="30000"/>
              </a:lnSpc>
            </a:pPr>
            <a:endParaRPr lang="en-US" altLang="en-US" sz="2400"/>
          </a:p>
          <a:p>
            <a:pPr algn="just"/>
            <a:r>
              <a:rPr lang="en-US" altLang="en-US" sz="2800"/>
              <a:t>False if subquery returns an empty result table. </a:t>
            </a:r>
          </a:p>
          <a:p>
            <a:pPr lvl="1" algn="just">
              <a:lnSpc>
                <a:spcPct val="40000"/>
              </a:lnSpc>
            </a:pPr>
            <a:endParaRPr lang="en-US" altLang="en-US" sz="2400"/>
          </a:p>
          <a:p>
            <a:pPr algn="just"/>
            <a:r>
              <a:rPr lang="en-US" altLang="en-US" sz="2800"/>
              <a:t>NOT EXISTS is the opposite of EXISTS. </a:t>
            </a:r>
          </a:p>
          <a:p>
            <a:endParaRPr lang="en-US" altLang="en-US" sz="2800"/>
          </a:p>
        </p:txBody>
      </p:sp>
      <p:sp>
        <p:nvSpPr>
          <p:cNvPr id="8806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EXISTS and NOT EXISTS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800"/>
              <a:t>As (NOT) EXISTS check only for existence or non-existence of rows in subquery result table, subquery can contain any number of columns. </a:t>
            </a:r>
          </a:p>
          <a:p>
            <a:pPr lvl="1" algn="just">
              <a:lnSpc>
                <a:spcPct val="40000"/>
              </a:lnSpc>
            </a:pPr>
            <a:endParaRPr lang="en-US" altLang="en-US" sz="2400"/>
          </a:p>
          <a:p>
            <a:pPr algn="just"/>
            <a:r>
              <a:rPr lang="en-US" altLang="en-US" sz="2800"/>
              <a:t>Common for subqueries following (NOT) EXISTS to be of form:</a:t>
            </a:r>
          </a:p>
          <a:p>
            <a:pPr lvl="1" algn="just">
              <a:lnSpc>
                <a:spcPct val="0"/>
              </a:lnSpc>
            </a:pPr>
            <a:endParaRPr lang="en-US" altLang="en-US" sz="2400"/>
          </a:p>
          <a:p>
            <a:pPr lvl="1" algn="just">
              <a:buFontTx/>
              <a:buNone/>
            </a:pPr>
            <a:r>
              <a:rPr lang="en-US" altLang="en-US" sz="2400"/>
              <a:t>		(SELECT * ...)</a:t>
            </a:r>
            <a:endParaRPr lang="en-US" altLang="en-US"/>
          </a:p>
          <a:p>
            <a:endParaRPr lang="en-US" altLang="en-US" sz="2800"/>
          </a:p>
        </p:txBody>
      </p:sp>
      <p:sp>
        <p:nvSpPr>
          <p:cNvPr id="8909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Query using EXISTS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800"/>
              <a:t>	Find all staff who work in a London branch.</a:t>
            </a:r>
          </a:p>
          <a:p>
            <a:pPr algn="just">
              <a:lnSpc>
                <a:spcPct val="70000"/>
              </a:lnSpc>
            </a:pPr>
            <a:endParaRPr lang="en-US" altLang="en-US" sz="2800"/>
          </a:p>
          <a:p>
            <a:pPr algn="just">
              <a:buFontTx/>
              <a:buNone/>
            </a:pPr>
            <a:r>
              <a:rPr lang="en-US" altLang="en-US"/>
              <a:t>	</a:t>
            </a:r>
            <a:r>
              <a:rPr lang="en-US" altLang="en-US" sz="2400"/>
              <a:t>SELECT staffNo, fName, lName, position</a:t>
            </a:r>
          </a:p>
          <a:p>
            <a:pPr lvl="1" algn="just">
              <a:buFontTx/>
              <a:buNone/>
            </a:pPr>
            <a:r>
              <a:rPr lang="en-US" altLang="en-US" sz="2400"/>
              <a:t>  FROM Staff s</a:t>
            </a:r>
          </a:p>
          <a:p>
            <a:pPr lvl="1" algn="just">
              <a:buFontTx/>
              <a:buNone/>
            </a:pPr>
            <a:r>
              <a:rPr lang="en-US" altLang="en-US" sz="2400"/>
              <a:t>  WHERE EXISTS</a:t>
            </a:r>
          </a:p>
          <a:p>
            <a:pPr lvl="1" algn="just">
              <a:buFontTx/>
              <a:buNone/>
            </a:pPr>
            <a:r>
              <a:rPr lang="en-US" altLang="en-US" sz="2400"/>
              <a:t>		(SELECT *</a:t>
            </a:r>
          </a:p>
          <a:p>
            <a:pPr lvl="1" algn="just">
              <a:buFontTx/>
              <a:buNone/>
            </a:pPr>
            <a:r>
              <a:rPr lang="en-US" altLang="en-US" sz="2400"/>
              <a:t>		 FROM Branch b</a:t>
            </a:r>
          </a:p>
          <a:p>
            <a:pPr lvl="1" algn="just">
              <a:buFontTx/>
              <a:buNone/>
            </a:pPr>
            <a:r>
              <a:rPr lang="en-US" altLang="en-US" sz="2400"/>
              <a:t>		 WHERE s.branchNo = b.branchNo AND </a:t>
            </a:r>
          </a:p>
          <a:p>
            <a:pPr lvl="1" algn="just">
              <a:buFontTx/>
              <a:buNone/>
            </a:pPr>
            <a:r>
              <a:rPr lang="en-US" altLang="en-US" sz="2400"/>
              <a:t>	  		     city = ‘London’);</a:t>
            </a:r>
          </a:p>
          <a:p>
            <a:endParaRPr lang="en-US" altLang="en-US" sz="2000"/>
          </a:p>
        </p:txBody>
      </p:sp>
      <p:sp>
        <p:nvSpPr>
          <p:cNvPr id="9011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Query using EXISTS</a:t>
            </a:r>
          </a:p>
        </p:txBody>
      </p:sp>
      <p:pic>
        <p:nvPicPr>
          <p:cNvPr id="205828" name="Picture 4" descr="DS3-Table 05-3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3276" y="1597026"/>
            <a:ext cx="6964363" cy="2917825"/>
          </a:xfrm>
          <a:noFill/>
        </p:spPr>
      </p:pic>
      <p:sp>
        <p:nvSpPr>
          <p:cNvPr id="9114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Query using EXISTS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800"/>
              <a:t>Note, search condition s.branchNo = b.branchNo is necessary to consider correct branch record for each member of staff. </a:t>
            </a:r>
          </a:p>
          <a:p>
            <a:pPr algn="just"/>
            <a:r>
              <a:rPr lang="en-US" altLang="en-US" sz="2800"/>
              <a:t>If omitted, would get all staff records listed out because subquery:</a:t>
            </a:r>
          </a:p>
          <a:p>
            <a:pPr algn="just">
              <a:lnSpc>
                <a:spcPct val="10000"/>
              </a:lnSpc>
            </a:pPr>
            <a:endParaRPr lang="en-US" altLang="en-US" sz="2800"/>
          </a:p>
          <a:p>
            <a:pPr lvl="1" algn="just">
              <a:buFontTx/>
              <a:buNone/>
            </a:pPr>
            <a:r>
              <a:rPr lang="en-US" altLang="en-US" sz="1800"/>
              <a:t>SELECT * FROM Branch WHERE city=‘London’</a:t>
            </a:r>
          </a:p>
          <a:p>
            <a:pPr algn="just">
              <a:lnSpc>
                <a:spcPct val="10000"/>
              </a:lnSpc>
            </a:pPr>
            <a:endParaRPr lang="en-US" altLang="en-US" sz="1800"/>
          </a:p>
          <a:p>
            <a:pPr algn="just"/>
            <a:r>
              <a:rPr lang="en-US" altLang="en-US" sz="2800"/>
              <a:t>would always be true and query would be:</a:t>
            </a:r>
          </a:p>
          <a:p>
            <a:pPr algn="just">
              <a:lnSpc>
                <a:spcPct val="10000"/>
              </a:lnSpc>
            </a:pPr>
            <a:endParaRPr lang="en-US" altLang="en-US" sz="2800"/>
          </a:p>
          <a:p>
            <a:pPr lvl="1" algn="just">
              <a:buFontTx/>
              <a:buNone/>
            </a:pPr>
            <a:r>
              <a:rPr lang="en-US" altLang="en-US" sz="1800"/>
              <a:t>SELECT staffNo, fName, lName, position FROM Staff</a:t>
            </a:r>
          </a:p>
          <a:p>
            <a:pPr lvl="1" algn="just">
              <a:buFontTx/>
              <a:buNone/>
            </a:pPr>
            <a:r>
              <a:rPr lang="en-US" altLang="en-US" sz="1800"/>
              <a:t>WHERE true;</a:t>
            </a:r>
          </a:p>
          <a:p>
            <a:endParaRPr lang="en-US" altLang="en-US" sz="2800"/>
          </a:p>
        </p:txBody>
      </p:sp>
      <p:sp>
        <p:nvSpPr>
          <p:cNvPr id="9216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Query using EXISTS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800"/>
              <a:t>Could also write this query using join construct:</a:t>
            </a:r>
          </a:p>
          <a:p>
            <a:pPr lvl="1" algn="just">
              <a:lnSpc>
                <a:spcPct val="20000"/>
              </a:lnSpc>
            </a:pPr>
            <a:endParaRPr lang="en-US" altLang="en-US"/>
          </a:p>
          <a:p>
            <a:pPr lvl="1" algn="just">
              <a:buFontTx/>
              <a:buNone/>
            </a:pPr>
            <a:r>
              <a:rPr lang="en-US" altLang="en-US"/>
              <a:t>SELECT staffNo, fName, lName, position</a:t>
            </a:r>
          </a:p>
          <a:p>
            <a:pPr lvl="1" algn="just">
              <a:buFontTx/>
              <a:buNone/>
            </a:pPr>
            <a:r>
              <a:rPr lang="en-US" altLang="en-US"/>
              <a:t>FROM Staff s, Branch b</a:t>
            </a:r>
          </a:p>
          <a:p>
            <a:pPr lvl="1" algn="just">
              <a:buFontTx/>
              <a:buNone/>
            </a:pPr>
            <a:r>
              <a:rPr lang="en-US" altLang="en-US"/>
              <a:t>WHERE s.branchNo = b.branchNo AND </a:t>
            </a:r>
          </a:p>
          <a:p>
            <a:pPr lvl="1" algn="just">
              <a:buFontTx/>
              <a:buNone/>
            </a:pPr>
            <a:r>
              <a:rPr lang="en-US" altLang="en-US"/>
              <a:t>                city = ‘London’;</a:t>
            </a:r>
          </a:p>
          <a:p>
            <a:endParaRPr lang="en-US" altLang="en-US"/>
          </a:p>
        </p:txBody>
      </p:sp>
      <p:sp>
        <p:nvSpPr>
          <p:cNvPr id="9318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2370138" y="274638"/>
            <a:ext cx="7042150" cy="1143000"/>
          </a:xfrm>
        </p:spPr>
        <p:txBody>
          <a:bodyPr/>
          <a:lstStyle/>
          <a:p>
            <a:r>
              <a:rPr lang="en-US" altLang="en-US" sz="3200"/>
              <a:t>INSERT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i="1"/>
              <a:t>dataValueList</a:t>
            </a:r>
            <a:r>
              <a:rPr lang="en-US" altLang="en-US"/>
              <a:t> must match </a:t>
            </a:r>
            <a:r>
              <a:rPr lang="en-US" altLang="en-US" i="1"/>
              <a:t>columnList</a:t>
            </a:r>
            <a:r>
              <a:rPr lang="en-US" altLang="en-US"/>
              <a:t> as follows:</a:t>
            </a:r>
          </a:p>
          <a:p>
            <a:pPr lvl="1" algn="just"/>
            <a:r>
              <a:rPr lang="en-US" altLang="en-US"/>
              <a:t>number of items in each list must be same;</a:t>
            </a:r>
          </a:p>
          <a:p>
            <a:pPr lvl="1" algn="just"/>
            <a:r>
              <a:rPr lang="en-US" altLang="en-US"/>
              <a:t>must be direct correspondence in position of items in two lists;</a:t>
            </a:r>
          </a:p>
          <a:p>
            <a:pPr lvl="1" algn="just"/>
            <a:r>
              <a:rPr lang="en-US" altLang="en-US"/>
              <a:t>data type of each item in </a:t>
            </a:r>
            <a:r>
              <a:rPr lang="en-US" altLang="en-US" i="1"/>
              <a:t>dataValueList</a:t>
            </a:r>
            <a:r>
              <a:rPr lang="en-US" altLang="en-US"/>
              <a:t> must be compatible with data type of corresponding column.</a:t>
            </a:r>
          </a:p>
          <a:p>
            <a:endParaRPr lang="en-US" altLang="en-US"/>
          </a:p>
        </p:txBody>
      </p:sp>
      <p:sp>
        <p:nvSpPr>
          <p:cNvPr id="9421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619375" y="274638"/>
            <a:ext cx="7042150" cy="1143000"/>
          </a:xfrm>
        </p:spPr>
        <p:txBody>
          <a:bodyPr/>
          <a:lstStyle/>
          <a:p>
            <a:r>
              <a:rPr lang="en-US" altLang="en-US" sz="3200"/>
              <a:t>Example: INSERT … VALUES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/>
              <a:t>	</a:t>
            </a:r>
            <a:r>
              <a:rPr lang="en-US" altLang="en-US" sz="2800"/>
              <a:t>Insert a new row into Staff table supplying data for all columns.</a:t>
            </a:r>
          </a:p>
          <a:p>
            <a:pPr lvl="1" algn="just">
              <a:buFontTx/>
              <a:buNone/>
            </a:pPr>
            <a:r>
              <a:rPr lang="en-US" altLang="en-US"/>
              <a:t>	</a:t>
            </a:r>
          </a:p>
          <a:p>
            <a:pPr algn="just">
              <a:buFontTx/>
              <a:buNone/>
            </a:pPr>
            <a:r>
              <a:rPr lang="en-US" altLang="en-US"/>
              <a:t>	 INSERT INTO Staff</a:t>
            </a:r>
          </a:p>
          <a:p>
            <a:pPr lvl="1" algn="just">
              <a:buFontTx/>
              <a:buNone/>
            </a:pPr>
            <a:r>
              <a:rPr lang="en-US" altLang="en-US"/>
              <a:t>VALUES (‘SG16’, ‘Alan’, ‘Brown’, ‘Assistant’, ‘M’, Date‘1957-05-25’, 8300, ‘B003’);</a:t>
            </a:r>
          </a:p>
          <a:p>
            <a:endParaRPr lang="en-US" altLang="en-US"/>
          </a:p>
        </p:txBody>
      </p:sp>
      <p:sp>
        <p:nvSpPr>
          <p:cNvPr id="9523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INSERT using Defaults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  <a:buFontTx/>
              <a:buNone/>
            </a:pPr>
            <a:r>
              <a:rPr lang="en-US" altLang="en-US" sz="2400"/>
              <a:t>	Insert a new row into Staff table supplying data for all mandatory columns.</a:t>
            </a:r>
          </a:p>
          <a:p>
            <a:pPr algn="just">
              <a:lnSpc>
                <a:spcPct val="20000"/>
              </a:lnSpc>
              <a:buFontTx/>
              <a:buNone/>
            </a:pPr>
            <a:endParaRPr lang="en-US" altLang="en-US" sz="2400"/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en-US" sz="2800"/>
              <a:t>	INSERT INTO Staff (staffNo, fName, lName, 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 sz="2400"/>
              <a:t>                                    position, salary, branchNo)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 sz="2400"/>
              <a:t>VALUES (‘SG44’, ‘Anne’, ‘Jones’, 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 sz="2400"/>
              <a:t>                   ‘Assistant’, 8100, ‘B003’);</a:t>
            </a:r>
          </a:p>
          <a:p>
            <a:pPr algn="just">
              <a:lnSpc>
                <a:spcPct val="90000"/>
              </a:lnSpc>
            </a:pPr>
            <a:r>
              <a:rPr lang="en-US" altLang="en-US" sz="2400"/>
              <a:t>Or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 sz="2400"/>
              <a:t>INSERT INTO Staff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 sz="2400"/>
              <a:t>VALUES (‘SG44’, ‘Anne’, ‘Jones’, ‘Assistant’, NULL,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 sz="2400"/>
              <a:t>                    NULL, 8100, ‘B003’);</a:t>
            </a:r>
          </a:p>
          <a:p>
            <a:pPr lvl="1" algn="just"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</a:pPr>
            <a:endParaRPr lang="en-US" altLang="en-US" sz="2800"/>
          </a:p>
        </p:txBody>
      </p:sp>
      <p:sp>
        <p:nvSpPr>
          <p:cNvPr id="9626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INSERT … SELECT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Second form of INSERT allows multiple rows to be copied from one or more tables to another:</a:t>
            </a:r>
          </a:p>
          <a:p>
            <a:pPr algn="just"/>
            <a:endParaRPr lang="en-US" altLang="en-US"/>
          </a:p>
          <a:p>
            <a:pPr algn="just">
              <a:buFontTx/>
              <a:buNone/>
            </a:pPr>
            <a:r>
              <a:rPr lang="en-US" altLang="en-US"/>
              <a:t>	INSERT INTO TableName [ (columnList) ]</a:t>
            </a:r>
          </a:p>
          <a:p>
            <a:pPr lvl="1" algn="just">
              <a:buFontTx/>
              <a:buNone/>
            </a:pPr>
            <a:r>
              <a:rPr lang="en-US" altLang="en-US"/>
              <a:t>	SELECT ...</a:t>
            </a:r>
          </a:p>
          <a:p>
            <a:endParaRPr lang="en-US" altLang="en-US"/>
          </a:p>
        </p:txBody>
      </p:sp>
      <p:sp>
        <p:nvSpPr>
          <p:cNvPr id="9728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INSERT … SELECT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/>
              <a:t>	Assume there is a table StaffPropCount that contains names of staff and number of properties they manage:</a:t>
            </a:r>
          </a:p>
          <a:p>
            <a:pPr lvl="1" algn="just">
              <a:lnSpc>
                <a:spcPct val="40000"/>
              </a:lnSpc>
            </a:pPr>
            <a:endParaRPr lang="en-US" altLang="en-US"/>
          </a:p>
          <a:p>
            <a:pPr lvl="1" algn="just">
              <a:buFontTx/>
              <a:buNone/>
            </a:pPr>
            <a:r>
              <a:rPr lang="en-US" altLang="en-US" sz="2200"/>
              <a:t>StaffPropCount(</a:t>
            </a:r>
            <a:r>
              <a:rPr lang="en-US" altLang="en-US" sz="2200" u="sng"/>
              <a:t>staffNo</a:t>
            </a:r>
            <a:r>
              <a:rPr lang="en-US" altLang="en-US" sz="2200"/>
              <a:t>, fName, lName, propCnt)</a:t>
            </a:r>
          </a:p>
          <a:p>
            <a:pPr algn="just"/>
            <a:endParaRPr lang="en-US" altLang="en-US" sz="2100"/>
          </a:p>
          <a:p>
            <a:pPr>
              <a:buFontTx/>
              <a:buNone/>
            </a:pPr>
            <a:r>
              <a:rPr lang="en-US" altLang="en-US"/>
              <a:t>	Populate StaffPropCount using Staff and PropertyForRent tables.</a:t>
            </a:r>
          </a:p>
          <a:p>
            <a:endParaRPr lang="en-US" altLang="en-US"/>
          </a:p>
        </p:txBody>
      </p:sp>
      <p:sp>
        <p:nvSpPr>
          <p:cNvPr id="9830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INSERT … SELECT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/>
              <a:t>INSERT INTO StaffPropCount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/>
              <a:t>	(SELECT s.staffNo, fName, lName, COUNT(*)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/>
              <a:t>	FROM Staff s, PropertyForRent p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/>
              <a:t>	WHERE s.staffNo = p.staffNo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/>
              <a:t>	GROUP BY s.staffNo, fName, lName)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/>
              <a:t>	UNION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/>
              <a:t>	(SELECT staffNo, fName, lName, 0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/>
              <a:t>	FROM Staff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/>
              <a:t>	WHERE staffNo NOT IN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/>
              <a:t>		(SELECT DISTINCT staffNo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/>
              <a:t>	 	FROM PropertyForRent));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</p:txBody>
      </p:sp>
      <p:sp>
        <p:nvSpPr>
          <p:cNvPr id="9933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INSERT … SELECT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If second part of UNION is omitted, excludes those staff who currently do not manage any properties. </a:t>
            </a:r>
          </a:p>
          <a:p>
            <a:endParaRPr lang="en-US" altLang="en-US"/>
          </a:p>
        </p:txBody>
      </p:sp>
      <p:sp>
        <p:nvSpPr>
          <p:cNvPr id="10035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  <p:pic>
        <p:nvPicPr>
          <p:cNvPr id="215044" name="Picture 4" descr="DS3-Table 05-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550" y="1536701"/>
            <a:ext cx="715645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UPDATE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algn="just">
              <a:buFontTx/>
              <a:buNone/>
            </a:pPr>
            <a:r>
              <a:rPr lang="en-US" altLang="en-US"/>
              <a:t>UPDATE TableName </a:t>
            </a:r>
          </a:p>
          <a:p>
            <a:pPr lvl="1" algn="just">
              <a:buFontTx/>
              <a:buNone/>
            </a:pPr>
            <a:r>
              <a:rPr lang="en-US" altLang="en-US"/>
              <a:t>SET columnName1 = dataValue1 </a:t>
            </a:r>
          </a:p>
          <a:p>
            <a:pPr lvl="1" algn="just">
              <a:buFontTx/>
              <a:buNone/>
            </a:pPr>
            <a:r>
              <a:rPr lang="en-US" altLang="en-US"/>
              <a:t>		[, columnName2 = dataValue2...]</a:t>
            </a:r>
          </a:p>
          <a:p>
            <a:pPr lvl="1" algn="just">
              <a:buFontTx/>
              <a:buNone/>
            </a:pPr>
            <a:r>
              <a:rPr lang="en-US" altLang="en-US"/>
              <a:t>[WHERE searchCondition]</a:t>
            </a:r>
          </a:p>
          <a:p>
            <a:pPr algn="just">
              <a:lnSpc>
                <a:spcPct val="30000"/>
              </a:lnSpc>
              <a:buFontTx/>
              <a:buNone/>
            </a:pPr>
            <a:endParaRPr lang="en-US" altLang="en-US"/>
          </a:p>
          <a:p>
            <a:pPr algn="just"/>
            <a:r>
              <a:rPr lang="en-US" altLang="en-US" i="1"/>
              <a:t>TableName</a:t>
            </a:r>
            <a:r>
              <a:rPr lang="en-US" altLang="en-US"/>
              <a:t> can be name of a base table or an updatable view.</a:t>
            </a:r>
          </a:p>
          <a:p>
            <a:pPr algn="just"/>
            <a:r>
              <a:rPr lang="en-US" altLang="en-US"/>
              <a:t>SET clause specifies names of one or more columns that are to be updated. </a:t>
            </a:r>
          </a:p>
          <a:p>
            <a:endParaRPr lang="en-US" altLang="en-US"/>
          </a:p>
        </p:txBody>
      </p:sp>
      <p:sp>
        <p:nvSpPr>
          <p:cNvPr id="10138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UPDATE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WHERE clause is optional:</a:t>
            </a:r>
          </a:p>
          <a:p>
            <a:pPr lvl="1" algn="just"/>
            <a:r>
              <a:rPr lang="en-US" altLang="en-US"/>
              <a:t>if omitted, named columns are updated for all rows in table;</a:t>
            </a:r>
          </a:p>
          <a:p>
            <a:pPr lvl="1" algn="just"/>
            <a:r>
              <a:rPr lang="en-US" altLang="en-US"/>
              <a:t>if specified, only those rows that satisfy </a:t>
            </a:r>
            <a:r>
              <a:rPr lang="en-US" altLang="en-US" i="1"/>
              <a:t>searchCondition</a:t>
            </a:r>
            <a:r>
              <a:rPr lang="en-US" altLang="en-US"/>
              <a:t> are updated. </a:t>
            </a:r>
          </a:p>
          <a:p>
            <a:pPr algn="just"/>
            <a:r>
              <a:rPr lang="en-US" altLang="en-US"/>
              <a:t>New </a:t>
            </a:r>
            <a:r>
              <a:rPr lang="en-US" altLang="en-US" i="1"/>
              <a:t>dataValue(s)</a:t>
            </a:r>
            <a:r>
              <a:rPr lang="en-US" altLang="en-US"/>
              <a:t> must be compatible with data type for corresponding column.</a:t>
            </a:r>
            <a:endParaRPr lang="en-US" altLang="en-US" sz="2100"/>
          </a:p>
          <a:p>
            <a:endParaRPr lang="en-US" altLang="en-US"/>
          </a:p>
        </p:txBody>
      </p:sp>
      <p:sp>
        <p:nvSpPr>
          <p:cNvPr id="10240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UPDATE All Rows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/>
              <a:t>	     UPDATE Staff</a:t>
            </a:r>
          </a:p>
          <a:p>
            <a:pPr lvl="1" algn="just">
              <a:buFontTx/>
              <a:buNone/>
            </a:pPr>
            <a:r>
              <a:rPr lang="en-US" altLang="en-US"/>
              <a:t>	SET salary = salary*1.03;</a:t>
            </a:r>
          </a:p>
          <a:p>
            <a:pPr lvl="1" algn="just">
              <a:lnSpc>
                <a:spcPct val="40000"/>
              </a:lnSpc>
              <a:buFontTx/>
              <a:buNone/>
            </a:pPr>
            <a:endParaRPr lang="en-US" altLang="en-US"/>
          </a:p>
          <a:p>
            <a:pPr algn="just">
              <a:buFontTx/>
              <a:buNone/>
            </a:pPr>
            <a:r>
              <a:rPr lang="en-US" altLang="en-US"/>
              <a:t>Give all Managers a 5% pay increase.</a:t>
            </a:r>
          </a:p>
          <a:p>
            <a:pPr algn="just">
              <a:lnSpc>
                <a:spcPct val="50000"/>
              </a:lnSpc>
              <a:buFontTx/>
              <a:buNone/>
            </a:pPr>
            <a:r>
              <a:rPr lang="en-US" altLang="en-US"/>
              <a:t>		UPDATE Staff</a:t>
            </a:r>
          </a:p>
          <a:p>
            <a:pPr lvl="1" algn="just">
              <a:buFontTx/>
              <a:buNone/>
            </a:pPr>
            <a:r>
              <a:rPr lang="en-US" altLang="en-US"/>
              <a:t>		SET salary = salary*1.05</a:t>
            </a:r>
          </a:p>
          <a:p>
            <a:pPr lvl="1" algn="just">
              <a:buFontTx/>
              <a:buNone/>
            </a:pPr>
            <a:r>
              <a:rPr lang="en-US" altLang="en-US"/>
              <a:t>		WHERE position = ‘Manager’;</a:t>
            </a:r>
          </a:p>
          <a:p>
            <a:pPr lvl="1" algn="just">
              <a:buFontTx/>
              <a:buNone/>
            </a:pPr>
            <a:endParaRPr lang="en-US" altLang="en-US"/>
          </a:p>
          <a:p>
            <a:endParaRPr lang="en-US" altLang="en-US"/>
          </a:p>
        </p:txBody>
      </p:sp>
      <p:sp>
        <p:nvSpPr>
          <p:cNvPr id="10342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UPDATE Multiple Columns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800"/>
              <a:t>	Promote David Ford (staffNo=‘SG14’) to Manager and change his salary to £18,000.</a:t>
            </a:r>
          </a:p>
          <a:p>
            <a:pPr algn="just">
              <a:buFontTx/>
              <a:buNone/>
            </a:pPr>
            <a:endParaRPr lang="en-US" altLang="en-US" sz="2800"/>
          </a:p>
          <a:p>
            <a:pPr algn="just">
              <a:buFontTx/>
              <a:buNone/>
            </a:pPr>
            <a:r>
              <a:rPr lang="en-US" altLang="en-US"/>
              <a:t>		UPDATE Staff</a:t>
            </a:r>
          </a:p>
          <a:p>
            <a:pPr lvl="1" algn="just">
              <a:buFontTx/>
              <a:buNone/>
            </a:pPr>
            <a:r>
              <a:rPr lang="en-US" altLang="en-US"/>
              <a:t>		SET position = ‘Manager’, salary = 18000</a:t>
            </a:r>
          </a:p>
          <a:p>
            <a:pPr lvl="1" algn="just">
              <a:buFontTx/>
              <a:buNone/>
            </a:pPr>
            <a:r>
              <a:rPr lang="en-US" altLang="en-US"/>
              <a:t>		WHERE staffNo = ‘SG14’;</a:t>
            </a:r>
          </a:p>
          <a:p>
            <a:pPr lvl="3" algn="just"/>
            <a:endParaRPr lang="en-US" altLang="en-US" sz="2100"/>
          </a:p>
          <a:p>
            <a:endParaRPr lang="en-US" altLang="en-US"/>
          </a:p>
        </p:txBody>
      </p:sp>
      <p:sp>
        <p:nvSpPr>
          <p:cNvPr id="10445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DELETE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algn="just">
              <a:buFontTx/>
              <a:buNone/>
            </a:pPr>
            <a:r>
              <a:rPr lang="en-US" altLang="en-US" sz="2400"/>
              <a:t>DELETE FROM TableName </a:t>
            </a:r>
          </a:p>
          <a:p>
            <a:pPr lvl="1" algn="just">
              <a:buFontTx/>
              <a:buNone/>
            </a:pPr>
            <a:r>
              <a:rPr lang="en-US" altLang="en-US" sz="2400"/>
              <a:t>[WHERE searchCondition]</a:t>
            </a:r>
          </a:p>
          <a:p>
            <a:pPr algn="just">
              <a:lnSpc>
                <a:spcPct val="30000"/>
              </a:lnSpc>
              <a:buFontTx/>
              <a:buNone/>
            </a:pPr>
            <a:endParaRPr lang="en-US" altLang="en-US" sz="2800"/>
          </a:p>
          <a:p>
            <a:pPr algn="just"/>
            <a:r>
              <a:rPr lang="en-US" altLang="en-US" sz="2800" i="1"/>
              <a:t>TableName</a:t>
            </a:r>
            <a:r>
              <a:rPr lang="en-US" altLang="en-US" sz="2800"/>
              <a:t> can be name of a base table or an updatable view. </a:t>
            </a:r>
          </a:p>
          <a:p>
            <a:pPr algn="just"/>
            <a:r>
              <a:rPr lang="en-US" altLang="en-US" sz="2800" i="1"/>
              <a:t>searchCondition</a:t>
            </a:r>
            <a:r>
              <a:rPr lang="en-US" altLang="en-US" sz="2800"/>
              <a:t> is optional; if omitted, all rows are deleted from table. This does not delete table. If </a:t>
            </a:r>
            <a:r>
              <a:rPr lang="en-US" altLang="en-US" sz="2800" i="1"/>
              <a:t>search_condition</a:t>
            </a:r>
            <a:r>
              <a:rPr lang="en-US" altLang="en-US" sz="2800"/>
              <a:t> is specified, only those rows that satisfy condition are deleted.</a:t>
            </a:r>
          </a:p>
          <a:p>
            <a:endParaRPr lang="en-US" altLang="en-US" sz="2800"/>
          </a:p>
        </p:txBody>
      </p:sp>
      <p:sp>
        <p:nvSpPr>
          <p:cNvPr id="10547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Example:  DELETE Specific Rows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altLang="en-US" sz="2800"/>
              <a:t>Delete all viewings that relate to property PG4</a:t>
            </a:r>
            <a:r>
              <a:rPr lang="en-US" altLang="en-US"/>
              <a:t>.</a:t>
            </a:r>
          </a:p>
          <a:p>
            <a:pPr algn="just">
              <a:lnSpc>
                <a:spcPct val="40000"/>
              </a:lnSpc>
            </a:pPr>
            <a:endParaRPr lang="en-US" altLang="en-US"/>
          </a:p>
          <a:p>
            <a:pPr algn="just">
              <a:buFontTx/>
              <a:buNone/>
            </a:pPr>
            <a:r>
              <a:rPr lang="en-US" altLang="en-US"/>
              <a:t>		DELETE FROM Viewing</a:t>
            </a:r>
          </a:p>
          <a:p>
            <a:pPr lvl="1" algn="just">
              <a:buFontTx/>
              <a:buNone/>
            </a:pPr>
            <a:r>
              <a:rPr lang="en-US" altLang="en-US"/>
              <a:t>		WHERE propertyNo = ‘PG4’;</a:t>
            </a:r>
          </a:p>
          <a:p>
            <a:pPr algn="just">
              <a:buFontTx/>
              <a:buNone/>
            </a:pPr>
            <a:endParaRPr lang="en-US" altLang="en-US"/>
          </a:p>
          <a:p>
            <a:pPr algn="just">
              <a:buFontTx/>
              <a:buNone/>
            </a:pPr>
            <a:r>
              <a:rPr lang="en-US" altLang="en-US" sz="2800"/>
              <a:t>Delete all records from the Viewing table.</a:t>
            </a:r>
          </a:p>
          <a:p>
            <a:pPr algn="just">
              <a:lnSpc>
                <a:spcPct val="40000"/>
              </a:lnSpc>
              <a:buFontTx/>
              <a:buNone/>
            </a:pPr>
            <a:endParaRPr lang="en-US" altLang="en-US" sz="2800"/>
          </a:p>
          <a:p>
            <a:pPr lvl="1" algn="just">
              <a:buFontTx/>
              <a:buNone/>
            </a:pPr>
            <a:r>
              <a:rPr lang="en-US" altLang="en-US"/>
              <a:t>		DELETE FROM Viewing;</a:t>
            </a:r>
          </a:p>
          <a:p>
            <a:pPr lvl="1" algn="just">
              <a:buFontTx/>
              <a:buNone/>
            </a:pPr>
            <a:endParaRPr lang="en-US" altLang="en-US"/>
          </a:p>
          <a:p>
            <a:endParaRPr lang="en-US" altLang="en-US"/>
          </a:p>
        </p:txBody>
      </p:sp>
      <p:sp>
        <p:nvSpPr>
          <p:cNvPr id="10650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sz="3200"/>
            </a:br>
            <a:r>
              <a:rPr lang="en-US" altLang="en-US" sz="3200"/>
              <a:t>Quick Review Questions</a:t>
            </a:r>
            <a:br>
              <a:rPr lang="en-US" altLang="en-US" sz="3200"/>
            </a:br>
            <a:endParaRPr lang="en-US" altLang="en-US" sz="320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List the objectives of SQL.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Describe the importance of SQL.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What are literals?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List the SQL commands used for a range search   condition.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List the SQL command used for pattern matching.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List the SQL command used for single column ordering.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Name all possible aggregates used in a SELECT statement.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List the rules used in subqueries.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Differentiate between EXISTS and NOT EXISTS.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000"/>
          </a:p>
        </p:txBody>
      </p:sp>
      <p:sp>
        <p:nvSpPr>
          <p:cNvPr id="10752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</a:pPr>
            <a:endParaRPr lang="en-US" altLang="en-US"/>
          </a:p>
          <a:p>
            <a:r>
              <a:rPr lang="en-US" altLang="en-US"/>
              <a:t>Basic DML commands.</a:t>
            </a:r>
          </a:p>
          <a:p>
            <a:r>
              <a:rPr lang="en-US" altLang="en-US"/>
              <a:t>How to update database using INSERT, UPDATE, and DELETE.</a:t>
            </a:r>
          </a:p>
          <a:p>
            <a:endParaRPr lang="en-US" altLang="en-US"/>
          </a:p>
        </p:txBody>
      </p:sp>
      <p:sp>
        <p:nvSpPr>
          <p:cNvPr id="10854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sz="3200"/>
            </a:br>
            <a:r>
              <a:rPr lang="en-US" altLang="en-US" sz="3200"/>
              <a:t>Question and Answer Session</a:t>
            </a:r>
            <a:br>
              <a:rPr lang="en-US" altLang="en-US" sz="3200"/>
            </a:br>
            <a:endParaRPr lang="en-US" altLang="en-US" sz="3200"/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spcBef>
                <a:spcPct val="0"/>
              </a:spcBef>
              <a:buFontTx/>
              <a:buNone/>
            </a:pPr>
            <a:endParaRPr lang="en-US" altLang="en-US" sz="80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8000"/>
              <a:t>Q &amp; A</a:t>
            </a:r>
          </a:p>
          <a:p>
            <a:pPr>
              <a:buFontTx/>
              <a:buNone/>
            </a:pPr>
            <a:endParaRPr lang="en-US" altLang="en-US" sz="8000"/>
          </a:p>
        </p:txBody>
      </p:sp>
      <p:sp>
        <p:nvSpPr>
          <p:cNvPr id="10957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PU-2023">
      <a:dk1>
        <a:srgbClr val="081929"/>
      </a:dk1>
      <a:lt1>
        <a:srgbClr val="FFFFFF"/>
      </a:lt1>
      <a:dk2>
        <a:srgbClr val="0070C0"/>
      </a:dk2>
      <a:lt2>
        <a:srgbClr val="FFFFFF"/>
      </a:lt2>
      <a:accent1>
        <a:srgbClr val="00B0F0"/>
      </a:accent1>
      <a:accent2>
        <a:srgbClr val="99CC00"/>
      </a:accent2>
      <a:accent3>
        <a:srgbClr val="FF9966"/>
      </a:accent3>
      <a:accent4>
        <a:srgbClr val="45D7EA"/>
      </a:accent4>
      <a:accent5>
        <a:srgbClr val="CC66FF"/>
      </a:accent5>
      <a:accent6>
        <a:srgbClr val="FCE456"/>
      </a:accent6>
      <a:hlink>
        <a:srgbClr val="B7C6FE"/>
      </a:hlink>
      <a:folHlink>
        <a:srgbClr val="00B0F0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09830CF6CB84B8D12D02B69700FAF" ma:contentTypeVersion="14" ma:contentTypeDescription="Create a new document." ma:contentTypeScope="" ma:versionID="91bb3fc2fda44f6dca498e4986d3c34f">
  <xsd:schema xmlns:xsd="http://www.w3.org/2001/XMLSchema" xmlns:xs="http://www.w3.org/2001/XMLSchema" xmlns:p="http://schemas.microsoft.com/office/2006/metadata/properties" xmlns:ns3="c0f90a4e-2534-4174-991f-0eb794d5b859" xmlns:ns4="d2981e9c-0c44-4237-a41f-50944ddb2e5d" targetNamespace="http://schemas.microsoft.com/office/2006/metadata/properties" ma:root="true" ma:fieldsID="d346f1bbf5bc0d23fe733b73729b7857" ns3:_="" ns4:_="">
    <xsd:import namespace="c0f90a4e-2534-4174-991f-0eb794d5b859"/>
    <xsd:import namespace="d2981e9c-0c44-4237-a41f-50944ddb2e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90a4e-2534-4174-991f-0eb794d5b8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981e9c-0c44-4237-a41f-50944ddb2e5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74C82B-844E-4C6D-B41E-036AD4E59A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D3909F-E191-4C23-B23C-BA46B5ADDDA2}">
  <ds:schemaRefs>
    <ds:schemaRef ds:uri="http://purl.org/dc/terms/"/>
    <ds:schemaRef ds:uri="http://schemas.microsoft.com/office/2006/documentManagement/types"/>
    <ds:schemaRef ds:uri="d2981e9c-0c44-4237-a41f-50944ddb2e5d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90a4e-2534-4174-991f-0eb794d5b859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B6039F5-814C-4C5B-A6B0-438D9C48F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f90a4e-2534-4174-991f-0eb794d5b859"/>
    <ds:schemaRef ds:uri="d2981e9c-0c44-4237-a41f-50944ddb2e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1420</TotalTime>
  <Pages>11</Pages>
  <Words>4237</Words>
  <Application>Microsoft Office PowerPoint</Application>
  <PresentationFormat>Widescreen</PresentationFormat>
  <Paragraphs>603</Paragraphs>
  <Slides>103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8" baseType="lpstr">
      <vt:lpstr>Arial</vt:lpstr>
      <vt:lpstr>Calibri</vt:lpstr>
      <vt:lpstr>Montserrat</vt:lpstr>
      <vt:lpstr>PT Sans</vt:lpstr>
      <vt:lpstr>UCTI-Template-foundation-level</vt:lpstr>
      <vt:lpstr>CT004-3.5-3  Advanced Database Systems</vt:lpstr>
      <vt:lpstr>Topic &amp; Structure of Lesson</vt:lpstr>
      <vt:lpstr>Topic &amp; Structure of Lesson</vt:lpstr>
      <vt:lpstr>Key Terms you must be able to use</vt:lpstr>
      <vt:lpstr>Key Terms you must be able to use</vt:lpstr>
      <vt:lpstr>Objectives of SQL</vt:lpstr>
      <vt:lpstr>Objectives of SQL</vt:lpstr>
      <vt:lpstr>Objectives of SQL</vt:lpstr>
      <vt:lpstr>SELECT Statement</vt:lpstr>
      <vt:lpstr>SELECT Statement</vt:lpstr>
      <vt:lpstr>SELECT Statement</vt:lpstr>
      <vt:lpstr>Example: All Columns, All Rows</vt:lpstr>
      <vt:lpstr>Example: All Columns, All Rows</vt:lpstr>
      <vt:lpstr>Example: Specific Columns, All Rows</vt:lpstr>
      <vt:lpstr>Example:  Specific Columns, All Rows</vt:lpstr>
      <vt:lpstr>Example: Use of DISTINCT</vt:lpstr>
      <vt:lpstr>Example : Use of DISTINCT</vt:lpstr>
      <vt:lpstr>Example:  Calculated Fields</vt:lpstr>
      <vt:lpstr>Example:  Calculated Fields</vt:lpstr>
      <vt:lpstr>Example:  Calculated Fields</vt:lpstr>
      <vt:lpstr>Example: Comparison Search Condition</vt:lpstr>
      <vt:lpstr>Example: Comparison Search Condition</vt:lpstr>
      <vt:lpstr>Example: Compound Comparison Search Condition</vt:lpstr>
      <vt:lpstr>Example: Compound Comparison Search Condition</vt:lpstr>
      <vt:lpstr>Example:  Range Search Condition</vt:lpstr>
      <vt:lpstr>Example:  Range Search Condition</vt:lpstr>
      <vt:lpstr>Example:  Range Search Condition</vt:lpstr>
      <vt:lpstr>Example: Set Membership</vt:lpstr>
      <vt:lpstr>Example: Set Membership</vt:lpstr>
      <vt:lpstr>Example: Set Membership</vt:lpstr>
      <vt:lpstr>Example:  Pattern Matching</vt:lpstr>
      <vt:lpstr>Example:  Pattern Matching</vt:lpstr>
      <vt:lpstr>Example: Pattern Matching</vt:lpstr>
      <vt:lpstr>Example: NULL Search Condition</vt:lpstr>
      <vt:lpstr>Example: NULL Search Condition</vt:lpstr>
      <vt:lpstr>Example:  Single Column Ordering</vt:lpstr>
      <vt:lpstr>Example:  Single Column Ordering</vt:lpstr>
      <vt:lpstr>Example:  Multiple Column Ordering</vt:lpstr>
      <vt:lpstr>Example:  Multiple Column Ordering</vt:lpstr>
      <vt:lpstr>Example: Multiple Column Ordering</vt:lpstr>
      <vt:lpstr>Example: Multiple Column Ordering</vt:lpstr>
      <vt:lpstr>SELECT Statement - Aggregates</vt:lpstr>
      <vt:lpstr>SELECT Statement - Aggregates</vt:lpstr>
      <vt:lpstr>SELECT Statement - Aggregates</vt:lpstr>
      <vt:lpstr>SELECT Statement - Aggregates</vt:lpstr>
      <vt:lpstr>Example: Use of COUNT(*)</vt:lpstr>
      <vt:lpstr>Example:  Use of COUNT(DISTINCT)</vt:lpstr>
      <vt:lpstr>Example: Use of COUNT and SUM</vt:lpstr>
      <vt:lpstr>Example: Use of MIN, MAX, AVG</vt:lpstr>
      <vt:lpstr>SELECT Statement - Grouping</vt:lpstr>
      <vt:lpstr>SELECT Statement - Grouping</vt:lpstr>
      <vt:lpstr>Example: Use of GROUP BY</vt:lpstr>
      <vt:lpstr>Example: Use of GROUP BY</vt:lpstr>
      <vt:lpstr>Restricted Groupings – HAVING clause</vt:lpstr>
      <vt:lpstr>Example – Use of HAVING</vt:lpstr>
      <vt:lpstr>Example: Use of HAVING</vt:lpstr>
      <vt:lpstr>Subqueries</vt:lpstr>
      <vt:lpstr>Example: Subquery with Equality</vt:lpstr>
      <vt:lpstr>Example: Subquery with Equality</vt:lpstr>
      <vt:lpstr>Example: Subquery with Equality</vt:lpstr>
      <vt:lpstr>Example: Subquery with Aggregate</vt:lpstr>
      <vt:lpstr>Example: Subquery with Aggregate</vt:lpstr>
      <vt:lpstr>Example: Subquery with Aggregate</vt:lpstr>
      <vt:lpstr>Subquery Rules</vt:lpstr>
      <vt:lpstr>Subquery Rules</vt:lpstr>
      <vt:lpstr>Example: Nested subquery: use of IN</vt:lpstr>
      <vt:lpstr>Example: Nested subquery: use of IN</vt:lpstr>
      <vt:lpstr>Multi-Table Queries</vt:lpstr>
      <vt:lpstr>Multi-Table Queries</vt:lpstr>
      <vt:lpstr>Example: Simple Join</vt:lpstr>
      <vt:lpstr>Example: Simple Join</vt:lpstr>
      <vt:lpstr>Example: Simple Join</vt:lpstr>
      <vt:lpstr>Alternative JOIN Constructs</vt:lpstr>
      <vt:lpstr>Example:  Sorting a join</vt:lpstr>
      <vt:lpstr>Example:  Sorting a join</vt:lpstr>
      <vt:lpstr>Example: Three Table Join</vt:lpstr>
      <vt:lpstr>Example: Three Table Join</vt:lpstr>
      <vt:lpstr>Example :  Multiple Grouping Columns</vt:lpstr>
      <vt:lpstr>Example :  Multiple Grouping Columns</vt:lpstr>
      <vt:lpstr>Computing a Join</vt:lpstr>
      <vt:lpstr>Computing a Join</vt:lpstr>
      <vt:lpstr>EXISTS and NOT EXISTS</vt:lpstr>
      <vt:lpstr>EXISTS and NOT EXISTS</vt:lpstr>
      <vt:lpstr>Example:  Query using EXISTS</vt:lpstr>
      <vt:lpstr>Example:  Query using EXISTS</vt:lpstr>
      <vt:lpstr>Example:  Query using EXISTS</vt:lpstr>
      <vt:lpstr>Example:  Query using EXISTS</vt:lpstr>
      <vt:lpstr>INSERT</vt:lpstr>
      <vt:lpstr>Example: INSERT … VALUES</vt:lpstr>
      <vt:lpstr>Example: INSERT using Defaults</vt:lpstr>
      <vt:lpstr>INSERT … SELECT</vt:lpstr>
      <vt:lpstr>Example: INSERT … SELECT</vt:lpstr>
      <vt:lpstr>Example: INSERT … SELECT</vt:lpstr>
      <vt:lpstr>Example: INSERT … SELECT</vt:lpstr>
      <vt:lpstr>UPDATE</vt:lpstr>
      <vt:lpstr>UPDATE</vt:lpstr>
      <vt:lpstr>Example:  UPDATE All Rows</vt:lpstr>
      <vt:lpstr>Example:  UPDATE Multiple Columns</vt:lpstr>
      <vt:lpstr>DELETE</vt:lpstr>
      <vt:lpstr>Example:  DELETE Specific Rows</vt:lpstr>
      <vt:lpstr> Quick Review Questions </vt:lpstr>
      <vt:lpstr>Summary</vt:lpstr>
      <vt:lpstr> Question and Answer Session </vt:lpstr>
    </vt:vector>
  </TitlesOfParts>
  <Company>APU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Teaching Slides</dc:subject>
  <dc:creator>DBB</dc:creator>
  <cp:keywords>2023</cp:keywords>
  <cp:lastModifiedBy>Lai Chew Ping</cp:lastModifiedBy>
  <cp:revision>332</cp:revision>
  <cp:lastPrinted>2023-02-03T03:07:34Z</cp:lastPrinted>
  <dcterms:created xsi:type="dcterms:W3CDTF">2005-08-02T10:18:20Z</dcterms:created>
  <dcterms:modified xsi:type="dcterms:W3CDTF">2024-01-22T07:02:24Z</dcterms:modified>
  <cp:category>Teaching Slides</cp:category>
  <cp:contentStatus>2023 Version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0x01010050C09830CF6CB84B8D12D02B69700FAF</vt:lpwstr>
  </property>
</Properties>
</file>