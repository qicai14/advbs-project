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1" r:id="rId4"/>
  </p:sldMasterIdLst>
  <p:notesMasterIdLst>
    <p:notesMasterId r:id="rId52"/>
  </p:notesMasterIdLst>
  <p:handoutMasterIdLst>
    <p:handoutMasterId r:id="rId53"/>
  </p:handoutMasterIdLst>
  <p:sldIdLst>
    <p:sldId id="257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309" r:id="rId33"/>
    <p:sldId id="289" r:id="rId34"/>
    <p:sldId id="310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308" r:id="rId44"/>
    <p:sldId id="298" r:id="rId45"/>
    <p:sldId id="299" r:id="rId46"/>
    <p:sldId id="300" r:id="rId47"/>
    <p:sldId id="301" r:id="rId48"/>
    <p:sldId id="303" r:id="rId49"/>
    <p:sldId id="304" r:id="rId50"/>
    <p:sldId id="311" r:id="rId51"/>
  </p:sldIdLst>
  <p:sldSz cx="12192000" cy="6858000"/>
  <p:notesSz cx="7315200" cy="96012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ekly Intro - White BG" id="{B4587B1E-BB88-4173-8339-2929187587A5}">
          <p14:sldIdLst>
            <p14:sldId id="257"/>
            <p14:sldId id="258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309"/>
            <p14:sldId id="289"/>
            <p14:sldId id="310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308"/>
            <p14:sldId id="298"/>
            <p14:sldId id="299"/>
            <p14:sldId id="300"/>
            <p14:sldId id="301"/>
            <p14:sldId id="303"/>
            <p14:sldId id="304"/>
            <p14:sldId id="31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F1449"/>
    <a:srgbClr val="001B4D"/>
    <a:srgbClr val="FB6B53"/>
    <a:srgbClr val="FF6600"/>
    <a:srgbClr val="A2C1FE"/>
    <a:srgbClr val="A2FFA3"/>
    <a:srgbClr val="FFFF99"/>
    <a:srgbClr val="FFFF66"/>
    <a:srgbClr val="FCFEB9"/>
    <a:srgbClr val="CECE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79" autoAdjust="0"/>
    <p:restoredTop sz="94249" autoAdjust="0"/>
  </p:normalViewPr>
  <p:slideViewPr>
    <p:cSldViewPr snapToGrid="0">
      <p:cViewPr varScale="1">
        <p:scale>
          <a:sx n="81" d="100"/>
          <a:sy n="81" d="100"/>
        </p:scale>
        <p:origin x="739" y="53"/>
      </p:cViewPr>
      <p:guideLst/>
    </p:cSldViewPr>
  </p:slideViewPr>
  <p:outlineViewPr>
    <p:cViewPr>
      <p:scale>
        <a:sx n="33" d="100"/>
        <a:sy n="33" d="100"/>
      </p:scale>
      <p:origin x="0" y="-405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08"/>
    </p:cViewPr>
  </p:sorterViewPr>
  <p:notesViewPr>
    <p:cSldViewPr snapToGrid="0">
      <p:cViewPr varScale="1">
        <p:scale>
          <a:sx n="52" d="100"/>
          <a:sy n="52" d="100"/>
        </p:scale>
        <p:origin x="3006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DAC38E3-5144-412F-83AC-38A5B9DE52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4" y="103053"/>
            <a:ext cx="7247466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400">
                <a:latin typeface="Calibri" panose="020F0502020204030204" pitchFamily="34" charset="0"/>
                <a:cs typeface="Calibri" panose="020F0502020204030204" pitchFamily="34" charset="0"/>
              </a:rPr>
              <a:t>Asia Pacific University of Technology and Innovation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608D27AB-67B4-4693-A97B-2BDB09DB8D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3127" y="9192936"/>
            <a:ext cx="394340" cy="3052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defRPr/>
            </a:pPr>
            <a:fld id="{A20BED86-76BB-4410-9008-061BF87713AB}" type="slidenum">
              <a:rPr lang="en-GB" altLang="en-US" sz="1400" smtClean="0">
                <a:latin typeface="Calibri" panose="020F0502020204030204" pitchFamily="34" charset="0"/>
                <a:cs typeface="Calibri" panose="020F0502020204030204" pitchFamily="34" charset="0"/>
              </a:rPr>
              <a:pPr algn="r">
                <a:defRPr/>
              </a:pPr>
              <a:t>‹#›</a:t>
            </a:fld>
            <a:endParaRPr lang="en-GB" alt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4">
            <a:extLst>
              <a:ext uri="{FF2B5EF4-FFF2-40B4-BE49-F238E27FC236}">
                <a16:creationId xmlns:a16="http://schemas.microsoft.com/office/drawing/2014/main" id="{71953E81-BBEF-44F9-89AF-8D785172E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4" y="103053"/>
            <a:ext cx="7247466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400">
                <a:latin typeface="Calibri" panose="020F0502020204030204" pitchFamily="34" charset="0"/>
                <a:cs typeface="Calibri" panose="020F0502020204030204" pitchFamily="34" charset="0"/>
              </a:rPr>
              <a:t>Asia Pacific University of Technology and Innovation</a:t>
            </a:r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7839FB2E-0CEB-4E99-ABDC-42A6B27BD2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Notes Placeholder 9">
            <a:extLst>
              <a:ext uri="{FF2B5EF4-FFF2-40B4-BE49-F238E27FC236}">
                <a16:creationId xmlns:a16="http://schemas.microsoft.com/office/drawing/2014/main" id="{4B6ACB56-54E0-4171-9443-B2E55073FB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1520" y="4620549"/>
            <a:ext cx="5852160" cy="378030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1DBCDF8-B37C-47C2-B6B1-4B26357595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143588" y="9119503"/>
            <a:ext cx="3169920" cy="48169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30D94D-E1CF-4942-9670-7567F4F44871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66713" y="709613"/>
            <a:ext cx="6059487" cy="34099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7738" y="4332151"/>
            <a:ext cx="4975225" cy="41197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248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96988" y="798513"/>
            <a:ext cx="4264025" cy="31972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 transaction can have one of two outcomes. </a:t>
            </a:r>
          </a:p>
          <a:p>
            <a:r>
              <a:rPr lang="en-US" dirty="0"/>
              <a:t>If it </a:t>
            </a:r>
            <a:r>
              <a:rPr lang="en-US" b="1" dirty="0"/>
              <a:t>completes successfully</a:t>
            </a:r>
            <a:r>
              <a:rPr lang="en-US" dirty="0"/>
              <a:t>, the transaction is said to have </a:t>
            </a:r>
            <a:r>
              <a:rPr lang="en-US" b="1" dirty="0"/>
              <a:t>committed</a:t>
            </a:r>
            <a:r>
              <a:rPr lang="en-US" dirty="0"/>
              <a:t> and the database reaches a </a:t>
            </a:r>
            <a:r>
              <a:rPr lang="en-US" b="1" dirty="0"/>
              <a:t>new consistent state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if the transaction does </a:t>
            </a:r>
            <a:r>
              <a:rPr lang="en-US" b="1" dirty="0"/>
              <a:t>not execute successfully</a:t>
            </a:r>
            <a:r>
              <a:rPr lang="en-US" dirty="0"/>
              <a:t>, the transaction is aborted. </a:t>
            </a:r>
          </a:p>
          <a:p>
            <a:endParaRPr lang="en-US" dirty="0"/>
          </a:p>
          <a:p>
            <a:r>
              <a:rPr lang="en-US" dirty="0"/>
              <a:t>If a transaction is </a:t>
            </a:r>
            <a:r>
              <a:rPr lang="en-US" b="1" dirty="0"/>
              <a:t>aborted</a:t>
            </a:r>
            <a:r>
              <a:rPr lang="en-US" dirty="0"/>
              <a:t>, the database must be </a:t>
            </a:r>
            <a:r>
              <a:rPr lang="en-US" b="1" dirty="0"/>
              <a:t>restored to the consistent state </a:t>
            </a:r>
            <a:r>
              <a:rPr lang="en-US" dirty="0"/>
              <a:t>it was in before the</a:t>
            </a:r>
          </a:p>
          <a:p>
            <a:r>
              <a:rPr lang="en-US" dirty="0"/>
              <a:t>transaction started. Such a </a:t>
            </a:r>
            <a:r>
              <a:rPr lang="en-US" b="1" dirty="0"/>
              <a:t>transaction is rolled back or undone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A committed transaction cannot be aborted. </a:t>
            </a:r>
          </a:p>
          <a:p>
            <a:endParaRPr lang="en-US" dirty="0"/>
          </a:p>
          <a:p>
            <a:r>
              <a:rPr lang="en-US" dirty="0"/>
              <a:t>If we decide that the committed transaction was a mistake, we must perform another </a:t>
            </a:r>
            <a:r>
              <a:rPr lang="en-US" b="1" dirty="0"/>
              <a:t>compensating transaction </a:t>
            </a:r>
            <a:r>
              <a:rPr lang="en-US" dirty="0"/>
              <a:t>to reverse its effects.</a:t>
            </a:r>
          </a:p>
        </p:txBody>
      </p:sp>
    </p:spTree>
    <p:extLst>
      <p:ext uri="{BB962C8B-B14F-4D97-AF65-F5344CB8AC3E}">
        <p14:creationId xmlns:p14="http://schemas.microsoft.com/office/powerpoint/2010/main" val="41959224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96988" y="798513"/>
            <a:ext cx="4264025" cy="31972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Figure 20.2 shows the state transition diagram for a transaction. Note that in addition to</a:t>
            </a:r>
          </a:p>
          <a:p>
            <a:r>
              <a:rPr lang="en-US" dirty="0"/>
              <a:t>the obvious states of ACTIVE, COMMITTED, and ABORTED, there are two other states:</a:t>
            </a:r>
          </a:p>
          <a:p>
            <a:r>
              <a:rPr lang="en-US" dirty="0"/>
              <a:t>n PARTIALLY COMMITTED, which occurs after the </a:t>
            </a:r>
            <a:r>
              <a:rPr lang="en-US" dirty="0" err="1"/>
              <a:t>ﬁnal</a:t>
            </a:r>
            <a:r>
              <a:rPr lang="en-US" dirty="0"/>
              <a:t> statement has been executed.</a:t>
            </a:r>
          </a:p>
          <a:p>
            <a:r>
              <a:rPr lang="en-US" dirty="0"/>
              <a:t>At this point, it may be found that the transaction has violated </a:t>
            </a:r>
            <a:r>
              <a:rPr lang="en-US" dirty="0" err="1"/>
              <a:t>serializability</a:t>
            </a:r>
            <a:r>
              <a:rPr lang="en-US" dirty="0"/>
              <a:t> (see Sec-</a:t>
            </a:r>
          </a:p>
          <a:p>
            <a:r>
              <a:rPr lang="en-US" dirty="0" err="1"/>
              <a:t>tion</a:t>
            </a:r>
            <a:r>
              <a:rPr lang="en-US" dirty="0"/>
              <a:t> 20.2.2) or has violated an integrity constraint and the transaction has to be aborted.</a:t>
            </a:r>
          </a:p>
          <a:p>
            <a:r>
              <a:rPr lang="en-US" dirty="0"/>
              <a:t>Alternatively, the system may fail and any data updated by the transaction may not have</a:t>
            </a:r>
          </a:p>
          <a:p>
            <a:r>
              <a:rPr lang="en-US" dirty="0"/>
              <a:t>been safely recorded on secondary storage. In such cases, the transaction would go into</a:t>
            </a:r>
          </a:p>
          <a:p>
            <a:r>
              <a:rPr lang="en-US" dirty="0"/>
              <a:t>the FAILED state and would have to be aborted. If the transaction has been successful,</a:t>
            </a:r>
          </a:p>
          <a:p>
            <a:r>
              <a:rPr lang="en-US" dirty="0"/>
              <a:t>any updates can be safely recorded and the transaction can go to the COMMITTED state.</a:t>
            </a:r>
          </a:p>
          <a:p>
            <a:r>
              <a:rPr lang="en-US" dirty="0"/>
              <a:t>n FAILED, which occurs if the transaction cannot be committed or the transaction is aborted</a:t>
            </a:r>
          </a:p>
          <a:p>
            <a:r>
              <a:rPr lang="en-US" dirty="0"/>
              <a:t>while in the ACTIVE state, perhaps due to the user aborting the transaction or as a result</a:t>
            </a:r>
          </a:p>
          <a:p>
            <a:r>
              <a:rPr lang="en-US" dirty="0"/>
              <a:t>of the concurrency control protocol aborting the transaction to ensure </a:t>
            </a:r>
            <a:r>
              <a:rPr lang="en-US" dirty="0" err="1"/>
              <a:t>serializability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600940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87375" y="798513"/>
            <a:ext cx="5683250" cy="31972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There  are  properties  that  all  transactions  should  possess.  The  four  basic,  or  so-called</a:t>
            </a:r>
          </a:p>
          <a:p>
            <a:r>
              <a:rPr lang="en-US" dirty="0"/>
              <a:t>ACID, properties of a transaction are (</a:t>
            </a:r>
            <a:r>
              <a:rPr lang="en-US" dirty="0" err="1"/>
              <a:t>Haerder</a:t>
            </a:r>
            <a:r>
              <a:rPr lang="en-US" dirty="0"/>
              <a:t> and Reuter, 1983):</a:t>
            </a:r>
          </a:p>
          <a:p>
            <a:r>
              <a:rPr lang="en-US" dirty="0"/>
              <a:t>n Atomicity The  ‘all  or  nothing’  property.  A  transaction  is  an  indivisible  unit  that  is</a:t>
            </a:r>
          </a:p>
          <a:p>
            <a:r>
              <a:rPr lang="en-US" dirty="0"/>
              <a:t>either performed in its entirety or is not performed at all. It is the responsibility of the</a:t>
            </a:r>
          </a:p>
          <a:p>
            <a:r>
              <a:rPr lang="en-US" dirty="0"/>
              <a:t>recovery subsystem of the DBMS to ensure atomicity.</a:t>
            </a:r>
          </a:p>
          <a:p>
            <a:r>
              <a:rPr lang="en-US" dirty="0"/>
              <a:t>n Consistency A transaction must transform the database from one consistent state to</a:t>
            </a:r>
          </a:p>
          <a:p>
            <a:r>
              <a:rPr lang="en-US" dirty="0"/>
              <a:t>another consistent state. It is the responsibility of both the DBMS and the application</a:t>
            </a:r>
          </a:p>
          <a:p>
            <a:r>
              <a:rPr lang="en-US" dirty="0"/>
              <a:t>developers to ensure consistency. The DBMS can ensure consistency by enforcing all</a:t>
            </a:r>
          </a:p>
          <a:p>
            <a:r>
              <a:rPr lang="en-US" dirty="0"/>
              <a:t>the constraints that have been </a:t>
            </a:r>
            <a:r>
              <a:rPr lang="en-US" dirty="0" err="1"/>
              <a:t>speciﬁed</a:t>
            </a:r>
            <a:r>
              <a:rPr lang="en-US" dirty="0"/>
              <a:t> on the database schema, such as integrity and</a:t>
            </a:r>
          </a:p>
          <a:p>
            <a:r>
              <a:rPr lang="en-US" dirty="0"/>
              <a:t>enterprise constraints. However, in itself this is </a:t>
            </a:r>
            <a:r>
              <a:rPr lang="en-US" dirty="0" err="1"/>
              <a:t>insufﬁcient</a:t>
            </a:r>
            <a:r>
              <a:rPr lang="en-US" dirty="0"/>
              <a:t> to ensure consistency. For</a:t>
            </a:r>
          </a:p>
          <a:p>
            <a:r>
              <a:rPr lang="en-US" dirty="0"/>
              <a:t>example, suppose we have a transaction that is intended to transfer money from one</a:t>
            </a:r>
          </a:p>
          <a:p>
            <a:r>
              <a:rPr lang="en-US" dirty="0"/>
              <a:t>bank account to another and the programmer makes an error in the transaction logic and</a:t>
            </a:r>
          </a:p>
          <a:p>
            <a:r>
              <a:rPr lang="en-US" dirty="0"/>
              <a:t>debits one account but credits the wrong account, then the database is in an inconsistent</a:t>
            </a:r>
          </a:p>
          <a:p>
            <a:r>
              <a:rPr lang="en-US" dirty="0"/>
              <a:t>state. However, the DBMS would not have been responsible for introducing this </a:t>
            </a:r>
            <a:r>
              <a:rPr lang="en-US" dirty="0" err="1"/>
              <a:t>incon</a:t>
            </a:r>
            <a:r>
              <a:rPr lang="en-US" dirty="0"/>
              <a:t>-</a:t>
            </a:r>
          </a:p>
          <a:p>
            <a:r>
              <a:rPr lang="en-US" dirty="0" err="1"/>
              <a:t>sistency</a:t>
            </a:r>
            <a:r>
              <a:rPr lang="en-US" dirty="0"/>
              <a:t> and would have had no ability to detect the error.</a:t>
            </a:r>
          </a:p>
          <a:p>
            <a:endParaRPr lang="en-US" dirty="0"/>
          </a:p>
          <a:p>
            <a:r>
              <a:rPr lang="en-US" dirty="0"/>
              <a:t>n Isolation Transactions  execute  independently  of  one  another.  In  other  words,  the </a:t>
            </a:r>
          </a:p>
          <a:p>
            <a:r>
              <a:rPr lang="en-US" dirty="0"/>
              <a:t>partial effects of incomplete transactions should not be visible to other transactions. It</a:t>
            </a:r>
          </a:p>
          <a:p>
            <a:r>
              <a:rPr lang="en-US" dirty="0"/>
              <a:t>is the responsibility of the concurrency control subsystem to ensure isolation.</a:t>
            </a:r>
          </a:p>
          <a:p>
            <a:endParaRPr lang="en-US" dirty="0"/>
          </a:p>
          <a:p>
            <a:r>
              <a:rPr lang="en-US" dirty="0"/>
              <a:t>n Durability The effects of a successfully completed (committed) transaction are per-</a:t>
            </a:r>
          </a:p>
          <a:p>
            <a:r>
              <a:rPr lang="en-US" dirty="0" err="1"/>
              <a:t>manently</a:t>
            </a:r>
            <a:r>
              <a:rPr lang="en-US" dirty="0"/>
              <a:t> recorded in the database and must not be lost because of a subsequent failure.</a:t>
            </a:r>
          </a:p>
          <a:p>
            <a:r>
              <a:rPr lang="en-US" dirty="0"/>
              <a:t>It is the responsibility of the recovery subsystem to ensure durability.</a:t>
            </a:r>
          </a:p>
        </p:txBody>
      </p:sp>
    </p:spTree>
    <p:extLst>
      <p:ext uri="{BB962C8B-B14F-4D97-AF65-F5344CB8AC3E}">
        <p14:creationId xmlns:p14="http://schemas.microsoft.com/office/powerpoint/2010/main" val="2417282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96988" y="798513"/>
            <a:ext cx="4264025" cy="31972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which transaction T 1 is executing concurrently with transaction T 2 . T 1 is withdrawing</a:t>
            </a:r>
          </a:p>
          <a:p>
            <a:r>
              <a:rPr lang="en-US" dirty="0"/>
              <a:t>£10 from an account with balance bal x , initially £100, and T 2 is depositing £100 into the</a:t>
            </a:r>
          </a:p>
          <a:p>
            <a:r>
              <a:rPr lang="en-US" dirty="0"/>
              <a:t>same account. If these transactions are executed serially, one after the other with no inter-</a:t>
            </a:r>
          </a:p>
          <a:p>
            <a:r>
              <a:rPr lang="en-US" dirty="0"/>
              <a:t>leaving  of  operations,  the  </a:t>
            </a:r>
            <a:r>
              <a:rPr lang="en-US" dirty="0" err="1"/>
              <a:t>ﬁnal</a:t>
            </a:r>
            <a:r>
              <a:rPr lang="en-US" dirty="0"/>
              <a:t>  balance  would  be  £190  no  matter  which  transaction  is </a:t>
            </a:r>
          </a:p>
          <a:p>
            <a:r>
              <a:rPr lang="en-US" dirty="0"/>
              <a:t>performed </a:t>
            </a:r>
            <a:r>
              <a:rPr lang="en-US" dirty="0" err="1"/>
              <a:t>ﬁrst</a:t>
            </a:r>
            <a:r>
              <a:rPr lang="en-US" dirty="0"/>
              <a:t>.</a:t>
            </a:r>
          </a:p>
          <a:p>
            <a:r>
              <a:rPr lang="en-US" dirty="0"/>
              <a:t>Transactions T 1 and T 2 start at nearly the same time, and both read the balance as £100.</a:t>
            </a:r>
          </a:p>
          <a:p>
            <a:r>
              <a:rPr lang="en-US" dirty="0"/>
              <a:t>T 2 increases bal x by £100 to £200 and stores the update in the database. Meanwhile, </a:t>
            </a:r>
            <a:r>
              <a:rPr lang="en-US" dirty="0" err="1"/>
              <a:t>transac</a:t>
            </a:r>
            <a:r>
              <a:rPr lang="en-US" dirty="0"/>
              <a:t>-</a:t>
            </a:r>
          </a:p>
          <a:p>
            <a:r>
              <a:rPr lang="en-US" dirty="0" err="1"/>
              <a:t>tion</a:t>
            </a:r>
            <a:r>
              <a:rPr lang="en-US" dirty="0"/>
              <a:t> T 1 decrements its copy of bal x by £10 to £90 and stores this value in the database, over-</a:t>
            </a:r>
          </a:p>
          <a:p>
            <a:r>
              <a:rPr lang="en-US" dirty="0"/>
              <a:t>writing the previous update, and thereby ‘losing’ the £100 previously added to the balance.</a:t>
            </a:r>
          </a:p>
          <a:p>
            <a:r>
              <a:rPr lang="en-US" dirty="0"/>
              <a:t>The loss of T 2 ’s update is avoided by preventing T 1 from reading the value of bal x until</a:t>
            </a:r>
          </a:p>
          <a:p>
            <a:r>
              <a:rPr lang="en-US" dirty="0"/>
              <a:t>after T 2 ’s update has been completed.</a:t>
            </a:r>
          </a:p>
        </p:txBody>
      </p:sp>
    </p:spTree>
    <p:extLst>
      <p:ext uri="{BB962C8B-B14F-4D97-AF65-F5344CB8AC3E}">
        <p14:creationId xmlns:p14="http://schemas.microsoft.com/office/powerpoint/2010/main" val="29617061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96988" y="798513"/>
            <a:ext cx="4264025" cy="31972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using the same initial value</a:t>
            </a:r>
          </a:p>
          <a:p>
            <a:r>
              <a:rPr lang="en-US" dirty="0"/>
              <a:t>for  balance  bal x as  in  the  previous  example.  Here,  transaction  T 4 updates  bal x to  £200, </a:t>
            </a:r>
          </a:p>
          <a:p>
            <a:r>
              <a:rPr lang="en-US" dirty="0"/>
              <a:t>but it aborts the transaction so that bal x should be restored to its original value of £100.</a:t>
            </a:r>
          </a:p>
          <a:p>
            <a:r>
              <a:rPr lang="en-US" dirty="0"/>
              <a:t>However, by this time transaction T 3 has read the new value of bal x (£200) and is using </a:t>
            </a:r>
          </a:p>
          <a:p>
            <a:r>
              <a:rPr lang="en-US" dirty="0"/>
              <a:t>this value as the basis of the £10 reduction, giving a new incorrect balance of £190, instead</a:t>
            </a:r>
          </a:p>
          <a:p>
            <a:r>
              <a:rPr lang="en-US" dirty="0"/>
              <a:t>of £90. The value of bal x read by T 3 is called dirty data, giving rise to the alternative name,</a:t>
            </a:r>
          </a:p>
          <a:p>
            <a:r>
              <a:rPr lang="en-US" dirty="0"/>
              <a:t>the dirty read problem.</a:t>
            </a:r>
          </a:p>
          <a:p>
            <a:r>
              <a:rPr lang="en-US" dirty="0"/>
              <a:t>The reason for the rollback is unimportant; it may be that the transaction was in error,</a:t>
            </a:r>
          </a:p>
          <a:p>
            <a:r>
              <a:rPr lang="en-US" dirty="0"/>
              <a:t>perhaps crediting the wrong account. The effect is the assumption by T 3 that T 4 ’s update</a:t>
            </a:r>
          </a:p>
          <a:p>
            <a:r>
              <a:rPr lang="en-US" dirty="0"/>
              <a:t>completed successfully, although the update was subsequently rolled back. This problem</a:t>
            </a:r>
          </a:p>
          <a:p>
            <a:r>
              <a:rPr lang="en-US" dirty="0"/>
              <a:t>is avoided by preventing T 3 from reading bal x until after the decision has been made to</a:t>
            </a:r>
          </a:p>
          <a:p>
            <a:r>
              <a:rPr lang="en-US" dirty="0"/>
              <a:t>either commit or abort T 4 ’s effects.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3550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96988" y="798513"/>
            <a:ext cx="4264025" cy="31972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T5</a:t>
            </a:r>
            <a:r>
              <a:rPr lang="en-US" baseline="0" dirty="0"/>
              <a:t> (trans 5): mainly it withdraw 10 from (</a:t>
            </a:r>
            <a:r>
              <a:rPr lang="en-US" baseline="0" dirty="0" err="1"/>
              <a:t>balx</a:t>
            </a:r>
            <a:r>
              <a:rPr lang="en-US" baseline="0" dirty="0"/>
              <a:t>) and add it to (</a:t>
            </a:r>
            <a:r>
              <a:rPr lang="en-US" baseline="0" dirty="0" err="1"/>
              <a:t>balz</a:t>
            </a:r>
            <a:r>
              <a:rPr lang="en-US" baseline="0" dirty="0"/>
              <a:t>)</a:t>
            </a:r>
          </a:p>
          <a:p>
            <a:endParaRPr lang="en-US" baseline="0" dirty="0"/>
          </a:p>
          <a:p>
            <a:r>
              <a:rPr lang="en-US" baseline="0" dirty="0"/>
              <a:t>Final value suppose to be 195</a:t>
            </a:r>
          </a:p>
          <a:p>
            <a:endParaRPr lang="en-US" baseline="0" dirty="0"/>
          </a:p>
          <a:p>
            <a:endParaRPr lang="en-US" baseline="0" dirty="0"/>
          </a:p>
          <a:p>
            <a:r>
              <a:rPr lang="en-US" dirty="0"/>
              <a:t>The problem of inconsistent analysis occurs when a transaction reads several values from</a:t>
            </a:r>
          </a:p>
          <a:p>
            <a:r>
              <a:rPr lang="en-US" dirty="0"/>
              <a:t>the database but a second transaction updates some of them during the execution of the</a:t>
            </a:r>
          </a:p>
          <a:p>
            <a:r>
              <a:rPr lang="en-US" dirty="0" err="1"/>
              <a:t>ﬁrst</a:t>
            </a:r>
            <a:r>
              <a:rPr lang="en-US" dirty="0"/>
              <a:t>.  For  example,  a  transaction  that  is  summarizing  data  in  a  database  (for  example, </a:t>
            </a:r>
          </a:p>
          <a:p>
            <a:r>
              <a:rPr lang="en-US" dirty="0"/>
              <a:t>totaling balances) will obtain inaccurate results if, while it is executing, other transactions</a:t>
            </a:r>
          </a:p>
          <a:p>
            <a:r>
              <a:rPr lang="en-US" dirty="0"/>
              <a:t>are updating the database. One example is illustrated in Figure 20.6, in which a summary</a:t>
            </a:r>
          </a:p>
          <a:p>
            <a:r>
              <a:rPr lang="en-US" dirty="0"/>
              <a:t>transaction  T 6 is  executing  concurrently  with  transaction  T 5 .  Transaction  T 6 is  totaling </a:t>
            </a:r>
          </a:p>
          <a:p>
            <a:r>
              <a:rPr lang="en-US" dirty="0"/>
              <a:t>the balances of account x (£100), account y (£50), and account z (£25). However, in the</a:t>
            </a:r>
          </a:p>
          <a:p>
            <a:r>
              <a:rPr lang="en-US" dirty="0"/>
              <a:t>meantime, transaction T 5 has transferred £10 from bal x to bal z , so that T 6 now has the wrong</a:t>
            </a:r>
          </a:p>
          <a:p>
            <a:r>
              <a:rPr lang="en-US" dirty="0"/>
              <a:t>result (£10 too high). This problem is avoided by preventing transaction T 6 from reading</a:t>
            </a:r>
          </a:p>
          <a:p>
            <a:r>
              <a:rPr lang="en-US" dirty="0"/>
              <a:t>bal x and bal z until after T 5 has completed its updates.</a:t>
            </a:r>
          </a:p>
        </p:txBody>
      </p:sp>
    </p:spTree>
    <p:extLst>
      <p:ext uri="{BB962C8B-B14F-4D97-AF65-F5344CB8AC3E}">
        <p14:creationId xmlns:p14="http://schemas.microsoft.com/office/powerpoint/2010/main" val="42453154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Schedule S 3 is a serial schedule and, since S 1 and S 2 are equivalent to S 3 , S 1 and S 2 are </a:t>
            </a:r>
          </a:p>
          <a:p>
            <a:r>
              <a:rPr lang="en-US" dirty="0" err="1"/>
              <a:t>serializable</a:t>
            </a:r>
            <a:r>
              <a:rPr lang="en-US" dirty="0"/>
              <a:t> schedules.</a:t>
            </a:r>
            <a:endParaRPr lang="en-US"/>
          </a:p>
          <a:p>
            <a:endParaRPr lang="en-US" dirty="0"/>
          </a:p>
          <a:p>
            <a:r>
              <a:rPr lang="en-US" dirty="0"/>
              <a:t>This type of </a:t>
            </a:r>
            <a:r>
              <a:rPr lang="en-US" dirty="0" err="1"/>
              <a:t>serializability</a:t>
            </a:r>
            <a:r>
              <a:rPr lang="en-US" dirty="0"/>
              <a:t> is known as </a:t>
            </a:r>
            <a:r>
              <a:rPr lang="en-US" dirty="0" err="1"/>
              <a:t>conﬂict</a:t>
            </a:r>
            <a:r>
              <a:rPr lang="en-US" dirty="0"/>
              <a:t> </a:t>
            </a:r>
            <a:r>
              <a:rPr lang="en-US" dirty="0" err="1"/>
              <a:t>serializability</a:t>
            </a:r>
            <a:r>
              <a:rPr lang="en-US" dirty="0"/>
              <a:t>. A </a:t>
            </a:r>
            <a:r>
              <a:rPr lang="en-US" dirty="0" err="1"/>
              <a:t>conﬂict</a:t>
            </a:r>
            <a:r>
              <a:rPr lang="en-US" dirty="0"/>
              <a:t> </a:t>
            </a:r>
            <a:r>
              <a:rPr lang="en-US" dirty="0" err="1"/>
              <a:t>serializable</a:t>
            </a:r>
            <a:endParaRPr lang="en-US" dirty="0"/>
          </a:p>
          <a:p>
            <a:r>
              <a:rPr lang="en-US" dirty="0"/>
              <a:t>schedule orders any </a:t>
            </a:r>
            <a:r>
              <a:rPr lang="en-US" dirty="0" err="1"/>
              <a:t>conﬂicting</a:t>
            </a:r>
            <a:r>
              <a:rPr lang="en-US" dirty="0"/>
              <a:t> operations in the same way as some serial execution.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2D4166-F183-4D2E-B53B-015C7DAF7CF7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7166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r>
              <a:rPr lang="en-US"/>
              <a:t>S , S true because we allow two shared locks on the tuple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5155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solution to the lost update problem is shown in Figure 20.15. To prevent the lost update</a:t>
            </a:r>
          </a:p>
          <a:p>
            <a:r>
              <a:rPr lang="en-US" dirty="0"/>
              <a:t>problem occurring, T 2 </a:t>
            </a:r>
            <a:r>
              <a:rPr lang="en-US" dirty="0" err="1"/>
              <a:t>ﬁrst</a:t>
            </a:r>
            <a:r>
              <a:rPr lang="en-US" dirty="0"/>
              <a:t> requests an exclusive lock on bal x . It can then proceed to read</a:t>
            </a:r>
          </a:p>
          <a:p>
            <a:r>
              <a:rPr lang="en-US" dirty="0"/>
              <a:t>the value of bal x from the database, increment it by £100, and write the new value back to</a:t>
            </a:r>
          </a:p>
          <a:p>
            <a:r>
              <a:rPr lang="en-US" dirty="0"/>
              <a:t>the database. When T 1 starts, it also requests an exclusive lock on bal x . However, because</a:t>
            </a:r>
          </a:p>
          <a:p>
            <a:r>
              <a:rPr lang="en-US" dirty="0"/>
              <a:t>the data item bal x is currently exclusively locked by T 2 , the request is not immediately</a:t>
            </a:r>
          </a:p>
          <a:p>
            <a:r>
              <a:rPr lang="en-US" dirty="0"/>
              <a:t>granted and T 1 has to wait until the lock is released by T 2 . This occurs only once the commit of T 2 has been completed.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2D4166-F183-4D2E-B53B-015C7DAF7CF7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7903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solution to the uncommitted dependency problem is shown in Figure 20.16. To prevent</a:t>
            </a:r>
          </a:p>
          <a:p>
            <a:r>
              <a:rPr lang="en-US" dirty="0"/>
              <a:t>this problem occurring, T 4 </a:t>
            </a:r>
            <a:r>
              <a:rPr lang="en-US" dirty="0" err="1"/>
              <a:t>ﬁrst</a:t>
            </a:r>
            <a:r>
              <a:rPr lang="en-US" dirty="0"/>
              <a:t> requests an exclusive lock on bal x . It can then proceed to</a:t>
            </a:r>
          </a:p>
          <a:p>
            <a:r>
              <a:rPr lang="en-US" dirty="0"/>
              <a:t>read the value of </a:t>
            </a:r>
            <a:r>
              <a:rPr lang="en-US" dirty="0" err="1"/>
              <a:t>balx</a:t>
            </a:r>
            <a:r>
              <a:rPr lang="en-US" dirty="0"/>
              <a:t> from the database, increment it by £100, and write the new value</a:t>
            </a:r>
          </a:p>
          <a:p>
            <a:r>
              <a:rPr lang="en-US" dirty="0"/>
              <a:t>back to the database. When the rollback is executed, the updates of transaction T 4 are</a:t>
            </a:r>
          </a:p>
          <a:p>
            <a:r>
              <a:rPr lang="en-US" dirty="0"/>
              <a:t>undone and the value of bal x in the database is returned to its original value of £100. When</a:t>
            </a:r>
          </a:p>
          <a:p>
            <a:r>
              <a:rPr lang="en-US" dirty="0"/>
              <a:t>T 3 starts, it also requests an exclusive lock on bal x . However, because the data item bal x is</a:t>
            </a:r>
          </a:p>
          <a:p>
            <a:r>
              <a:rPr lang="en-US" dirty="0"/>
              <a:t>currently  exclusively  locked  by  T 4 ,  the  request  is  not  immediately  granted  and  T 3 has </a:t>
            </a:r>
          </a:p>
          <a:p>
            <a:r>
              <a:rPr lang="en-US" dirty="0"/>
              <a:t>to wait until the lock is released by T 4 . This occurs only once the rollback of T 4 has been</a:t>
            </a:r>
          </a:p>
          <a:p>
            <a:r>
              <a:rPr lang="en-US" dirty="0"/>
              <a:t>completed.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2D4166-F183-4D2E-B53B-015C7DAF7CF7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3693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solution to the inconsistent analysis problem is shown in Figure 20.17. To prevent this</a:t>
            </a:r>
          </a:p>
          <a:p>
            <a:r>
              <a:rPr lang="en-US" dirty="0"/>
              <a:t>problem occurring, T 5 must precede its reads by exclusive locks, and T 6 must precede its</a:t>
            </a:r>
          </a:p>
          <a:p>
            <a:r>
              <a:rPr lang="en-US" dirty="0"/>
              <a:t>reads with shared locks. Therefore, when T 5 starts it requests and obtains an exclusive lock</a:t>
            </a:r>
          </a:p>
          <a:p>
            <a:r>
              <a:rPr lang="en-US" dirty="0"/>
              <a:t>on bal x . Now, when T 6 tries to share lock bal x the request is not immediately granted and</a:t>
            </a:r>
          </a:p>
          <a:p>
            <a:r>
              <a:rPr lang="en-US" dirty="0"/>
              <a:t>T 6 has to wait until the lock is released, which is when T 5 commits.</a:t>
            </a:r>
          </a:p>
          <a:p>
            <a:r>
              <a:rPr lang="en-US" dirty="0"/>
              <a:t>It  can  be  proved  that  if  every transaction  in  a  schedule  follows  the  two-phase  lock-</a:t>
            </a:r>
          </a:p>
          <a:p>
            <a:r>
              <a:rPr lang="en-US" dirty="0" err="1"/>
              <a:t>ing</a:t>
            </a:r>
            <a:r>
              <a:rPr lang="en-US" dirty="0"/>
              <a:t> protocol, then the schedule is guaranteed to be </a:t>
            </a:r>
            <a:r>
              <a:rPr lang="en-US" dirty="0" err="1"/>
              <a:t>conﬂict</a:t>
            </a:r>
            <a:r>
              <a:rPr lang="en-US" dirty="0"/>
              <a:t> </a:t>
            </a:r>
            <a:r>
              <a:rPr lang="en-US" dirty="0" err="1"/>
              <a:t>serializable</a:t>
            </a:r>
            <a:r>
              <a:rPr lang="en-US" dirty="0"/>
              <a:t> (</a:t>
            </a:r>
            <a:r>
              <a:rPr lang="en-US" dirty="0" err="1"/>
              <a:t>Eswaran</a:t>
            </a:r>
            <a:r>
              <a:rPr lang="en-US" dirty="0"/>
              <a:t> et al.,</a:t>
            </a:r>
          </a:p>
          <a:p>
            <a:r>
              <a:rPr lang="en-US" dirty="0"/>
              <a:t>1976).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2D4166-F183-4D2E-B53B-015C7DAF7CF7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8431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case the checkpoint is not exists the recovery manager must</a:t>
            </a:r>
          </a:p>
          <a:p>
            <a:r>
              <a:rPr lang="en-US" dirty="0"/>
              <a:t>redo:</a:t>
            </a:r>
          </a:p>
          <a:p>
            <a:r>
              <a:rPr lang="en-US" dirty="0"/>
              <a:t>T2, T3, T4, and T5</a:t>
            </a:r>
          </a:p>
          <a:p>
            <a:r>
              <a:rPr lang="en-US" dirty="0"/>
              <a:t>Undo:</a:t>
            </a:r>
          </a:p>
          <a:p>
            <a:r>
              <a:rPr lang="en-US" dirty="0"/>
              <a:t>T1 and T6</a:t>
            </a:r>
          </a:p>
          <a:p>
            <a:endParaRPr lang="en-US" dirty="0"/>
          </a:p>
          <a:p>
            <a:r>
              <a:rPr lang="en-US" dirty="0"/>
              <a:t>In case the checkpoint exists the recovery manager must </a:t>
            </a:r>
          </a:p>
          <a:p>
            <a:r>
              <a:rPr lang="en-US" dirty="0"/>
              <a:t>redo:</a:t>
            </a:r>
          </a:p>
          <a:p>
            <a:r>
              <a:rPr lang="en-US" dirty="0"/>
              <a:t>T4 and T5</a:t>
            </a:r>
          </a:p>
          <a:p>
            <a:r>
              <a:rPr lang="en-US" dirty="0"/>
              <a:t>undo:</a:t>
            </a:r>
          </a:p>
          <a:p>
            <a:r>
              <a:rPr lang="en-US" dirty="0"/>
              <a:t>T1 and T6</a:t>
            </a:r>
          </a:p>
          <a:p>
            <a:endParaRPr lang="en-US" dirty="0"/>
          </a:p>
          <a:p>
            <a:r>
              <a:rPr lang="en-US" dirty="0"/>
              <a:t>T2 and T3 will not be effected since </a:t>
            </a:r>
            <a:r>
              <a:rPr lang="en-US"/>
              <a:t>they have </a:t>
            </a:r>
            <a:r>
              <a:rPr lang="en-US" dirty="0"/>
              <a:t>been committed earlier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2D4166-F183-4D2E-B53B-015C7DAF7CF7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677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E87F31-FA75-006F-00CD-B701AA25BE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567" b="5568"/>
          <a:stretch/>
        </p:blipFill>
        <p:spPr>
          <a:xfrm flipH="1" flipV="1">
            <a:off x="-2" y="1"/>
            <a:ext cx="12191999" cy="6858000"/>
          </a:xfrm>
          <a:prstGeom prst="rect">
            <a:avLst/>
          </a:prstGeom>
        </p:spPr>
      </p:pic>
      <p:sp>
        <p:nvSpPr>
          <p:cNvPr id="870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896608" y="2200276"/>
            <a:ext cx="9006416" cy="1470025"/>
          </a:xfrm>
        </p:spPr>
        <p:txBody>
          <a:bodyPr/>
          <a:lstStyle>
            <a:lvl1pPr algn="r">
              <a:defRPr>
                <a:solidFill>
                  <a:schemeClr val="accent5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970206" y="3879851"/>
            <a:ext cx="6913767" cy="1752600"/>
          </a:xfrm>
        </p:spPr>
        <p:txBody>
          <a:bodyPr/>
          <a:lstStyle>
            <a:lvl1pPr marL="0" indent="0" algn="r">
              <a:buFontTx/>
              <a:buNone/>
              <a:defRPr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dirty="0"/>
              <a:t>Click to edit Master subtitle style</a:t>
            </a:r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A01C7C8E-F6F3-0FA5-D100-E4D22106013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097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5900D48-6E21-4217-3CC3-BFF1E0D918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567" b="5568"/>
          <a:stretch/>
        </p:blipFill>
        <p:spPr>
          <a:xfrm flipH="1" flipV="1">
            <a:off x="-2" y="1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r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 algn="r">
              <a:buNone/>
              <a:defRPr sz="25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987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outdoor object, honeycomb&#10;&#10;Description automatically generated">
            <a:extLst>
              <a:ext uri="{FF2B5EF4-FFF2-40B4-BE49-F238E27FC236}">
                <a16:creationId xmlns:a16="http://schemas.microsoft.com/office/drawing/2014/main" id="{E2BECE40-B9F8-5238-73EB-2221EFFF70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4734"/>
          <a:stretch/>
        </p:blipFill>
        <p:spPr>
          <a:xfrm>
            <a:off x="0" y="-87085"/>
            <a:ext cx="12192000" cy="66185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684" y="127002"/>
            <a:ext cx="9821030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6684" y="1589575"/>
            <a:ext cx="9821030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959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08C35BC7-E310-108C-B8C4-672091E1D3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589575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684" y="3685880"/>
            <a:ext cx="9821030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6684" y="5148453"/>
            <a:ext cx="9821030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113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Header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684" y="3685880"/>
            <a:ext cx="9821030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6684" y="5148453"/>
            <a:ext cx="9821030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82A26D2-4216-FF76-6392-C88F8808F07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589575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4132206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10B0135-B9A4-80F3-C5A0-025E6765426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ctr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 algn="ctr">
              <a:buNone/>
              <a:defRPr sz="25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213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10B0135-B9A4-80F3-C5A0-025E6765426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CF2E1CC-7F1D-6CF8-6A38-2EE36FC97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684" y="127002"/>
            <a:ext cx="9349316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C71BCF8-2B27-BEA0-B962-D2EE1DB65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6684" y="1589575"/>
            <a:ext cx="9349316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accent6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FCDEFE03-E507-9264-8C2B-2E78DD2EA1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617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383451EB-63F4-DFF6-8522-1522FB643F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6">
            <a:extLst>
              <a:ext uri="{FF2B5EF4-FFF2-40B4-BE49-F238E27FC236}">
                <a16:creationId xmlns:a16="http://schemas.microsoft.com/office/drawing/2014/main" id="{98F54A5F-F810-96A4-5910-A7F80EDAE6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44417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8F54A5F-F810-96A4-5910-A7F80EDAE6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8F68BB6B-7571-DB8A-80FB-F7C3AD2610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978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APU Logo Final-medium.jpg">
            <a:extLst>
              <a:ext uri="{FF2B5EF4-FFF2-40B4-BE49-F238E27FC236}">
                <a16:creationId xmlns:a16="http://schemas.microsoft.com/office/drawing/2014/main" id="{D43B7469-696D-D5B3-7497-03AB7CFB3F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BBB11AA0-4CFB-DDD2-980D-D195C9DD8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15350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BBB11AA0-4CFB-DDD2-980D-D195C9DD8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163C07D3-0112-1601-B752-FDBF091DDE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8380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5352" y="1697038"/>
            <a:ext cx="53848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7817" y="1697038"/>
            <a:ext cx="53848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6" name="Picture 10" descr="APU Logo Final-medium.jpg">
            <a:extLst>
              <a:ext uri="{FF2B5EF4-FFF2-40B4-BE49-F238E27FC236}">
                <a16:creationId xmlns:a16="http://schemas.microsoft.com/office/drawing/2014/main" id="{0802BECB-EBD7-EAF2-F449-AA70E28039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4980A499-972D-DEC1-0CDD-C8C7AF0063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63119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5352" y="1697038"/>
            <a:ext cx="5384800" cy="4525962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7817" y="1697038"/>
            <a:ext cx="5384800" cy="4525962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980A499-972D-DEC1-0CDD-C8C7AF0063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9CBCAFAD-0874-A920-E7D5-68A99F5090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07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5352" y="1535113"/>
            <a:ext cx="570116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5352" y="2174875"/>
            <a:ext cx="5701165" cy="39512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12DAC53-88F1-5536-6538-48E550FD8C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59460E12-C28F-6F47-C8AD-1B01DC7DB1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71721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5352" y="1535113"/>
            <a:ext cx="570116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5352" y="2174875"/>
            <a:ext cx="5701165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12DAC53-88F1-5536-6538-48E550FD8C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C7C10021-D30B-49A3-9775-E4B0180588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5984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80677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2581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131C5456-E521-C7D4-FB88-68A63787FD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29999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04DC0352-F5ED-1918-1F8A-8B80BB6E8C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9544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AA1C13FB-D1A7-194E-A332-391C492A0C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26897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accent5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C3D40C30-8297-E054-688C-7A1636F331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9247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10" descr="APU Logo Final-medium.jpg">
            <a:extLst>
              <a:ext uri="{FF2B5EF4-FFF2-40B4-BE49-F238E27FC236}">
                <a16:creationId xmlns:a16="http://schemas.microsoft.com/office/drawing/2014/main" id="{53C3B966-D4E4-30D5-4A13-103486C2EB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64623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5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88157A30-7FA7-829E-6D9C-4DCC0CDCA7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447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D5BC53-2816-4210-4970-4FC239BFDB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192213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4F7A2FB-3692-7374-ECE6-3DDD8A007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4213781"/>
            <a:ext cx="11623250" cy="195841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10" descr="APU Logo Final-medium.jpg">
            <a:extLst>
              <a:ext uri="{FF2B5EF4-FFF2-40B4-BE49-F238E27FC236}">
                <a16:creationId xmlns:a16="http://schemas.microsoft.com/office/drawing/2014/main" id="{82C331B9-CEE5-20AD-DD62-DCC7F9E243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99797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D5BC53-2816-4210-4970-4FC239BFDB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192213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40F80C67-7C47-1046-B1B1-5649F52F2A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4213781"/>
            <a:ext cx="11623250" cy="195841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ED178921-E6EB-89FB-1721-8D340F832C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8181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4F7A2FB-3692-7374-ECE6-3DDD8A007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1132114"/>
            <a:ext cx="11623250" cy="165462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0E2C0782-CF15-D587-F209-76A369475B0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117C0E03-AD57-26BD-EFAD-135B4185F34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pic>
        <p:nvPicPr>
          <p:cNvPr id="8" name="Picture 10" descr="APU Logo Final-medium.jpg">
            <a:extLst>
              <a:ext uri="{FF2B5EF4-FFF2-40B4-BE49-F238E27FC236}">
                <a16:creationId xmlns:a16="http://schemas.microsoft.com/office/drawing/2014/main" id="{9186F32B-2E23-EAE7-28F5-E2FCF5E3DF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4194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4F7A2FB-3692-7374-ECE6-3DDD8A007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1132114"/>
            <a:ext cx="11623250" cy="165462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0E2C0782-CF15-D587-F209-76A369475B0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117C0E03-AD57-26BD-EFAD-135B4185F34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10178BF3-0C44-7F6F-9A93-FAD4F3ED2C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249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90AFE7E0-13D0-FC56-5802-BC4E161A01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2300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5E21580-F245-B670-F787-BF63FAB4B4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890838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7B93E3A1-F86B-5848-E0D8-9B910D2CF8D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76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1A60634-D380-05B9-A200-4BC09F6321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27914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FB27992A-9435-FF68-91D5-AB177C86FC7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96452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F1E11ABA-2F6F-AD00-6622-96402AE8B6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2300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E9A3798F-F75E-B413-49AE-B6F4D96322F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90838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614A16FD-3307-D7FB-6483-52A5C31098D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59376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EEA5B065-0239-646D-0C09-0596844EF55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27914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9972B1E5-9F94-B5C2-796B-D18122CA922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696452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60D7C342-4D59-30CD-6ECC-0731D5E447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C6F56718-5153-BA4C-1652-9EFB47DA6C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75778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90AFE7E0-13D0-FC56-5802-BC4E161A01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2300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5E21580-F245-B670-F787-BF63FAB4B4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890838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7B93E3A1-F86B-5848-E0D8-9B910D2CF8D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76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1A60634-D380-05B9-A200-4BC09F6321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27914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FB27992A-9435-FF68-91D5-AB177C86FC7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96452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F1E11ABA-2F6F-AD00-6622-96402AE8B6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2300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E9A3798F-F75E-B413-49AE-B6F4D96322F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90838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614A16FD-3307-D7FB-6483-52A5C31098D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59376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EEA5B065-0239-646D-0C09-0596844EF55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27914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9972B1E5-9F94-B5C2-796B-D18122CA922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696452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6E97445D-AA3E-4FF1-5C3D-A2CF07C45D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D4643407-354C-EF13-0031-A2AB96E23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0099642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842000" cy="501636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5" name="Picture 10" descr="APU Logo Final-medium.jpg">
            <a:extLst>
              <a:ext uri="{FF2B5EF4-FFF2-40B4-BE49-F238E27FC236}">
                <a16:creationId xmlns:a16="http://schemas.microsoft.com/office/drawing/2014/main" id="{1CD8D465-41A1-E0A8-A8B4-C64FB4642D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8F4BC8B8-56DE-CC45-EB9C-7BE8295CB9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08564" y="1"/>
            <a:ext cx="5783436" cy="6223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Lato Light" charset="0"/>
                <a:cs typeface="Lato Light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1451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842000" cy="5016369"/>
          </a:xfrm>
          <a:solidFill>
            <a:schemeClr val="tx1">
              <a:lumMod val="95000"/>
            </a:schemeClr>
          </a:solidFill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8F4BC8B8-56DE-CC45-EB9C-7BE8295CB9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08564" y="1"/>
            <a:ext cx="5783436" cy="6223000"/>
          </a:xfrm>
          <a:prstGeom prst="rect">
            <a:avLst/>
          </a:prstGeom>
          <a:solidFill>
            <a:schemeClr val="tx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Lato Light" charset="0"/>
                <a:cs typeface="Lato Light" charset="0"/>
              </a:defRPr>
            </a:lvl1pPr>
          </a:lstStyle>
          <a:p>
            <a:endParaRPr lang="en-US" dirty="0"/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894E1089-2642-1F16-6D34-0AA470DAB4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8149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4" name="Picture 10" descr="APU Logo Final-medium.jpg">
            <a:extLst>
              <a:ext uri="{FF2B5EF4-FFF2-40B4-BE49-F238E27FC236}">
                <a16:creationId xmlns:a16="http://schemas.microsoft.com/office/drawing/2014/main" id="{C97ADB29-0190-8E6A-A68B-AEBB217C0E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EAE3BF1D-7538-D216-ADA6-8A61272CEC0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0485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793A658E-0EDC-3F4C-BFB3-E8CA966F34D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609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A1C42F19-22A5-A6AA-F9A6-B990F2E4BD4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733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3F88012-5D39-66F9-BCBC-E3DED4808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1" y="1697038"/>
            <a:ext cx="4775200" cy="4525962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71734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61A374B0-731A-1D13-1D15-DEB568D14EE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0485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6DD384CD-5B1D-00AA-C88E-51863CE859A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609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C0E62B52-2676-DD95-FD76-B834BA0270E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733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374EF56-AF27-D8AD-DACE-E5CE66A7D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1" y="1697038"/>
            <a:ext cx="4775200" cy="4525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890E9656-A63D-02CF-0218-527AB2D41C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8052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277005" cy="5016369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5" name="Picture 10" descr="APU Logo Final-medium.jpg">
            <a:extLst>
              <a:ext uri="{FF2B5EF4-FFF2-40B4-BE49-F238E27FC236}">
                <a16:creationId xmlns:a16="http://schemas.microsoft.com/office/drawing/2014/main" id="{1CD8D465-41A1-E0A8-A8B4-C64FB4642D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148288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6F99F1D5-796D-B18C-4706-ECD5827DB6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" y="27044"/>
            <a:ext cx="977178" cy="981307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277005" cy="501636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511888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E2CC42D-17CB-E638-B81A-110B1B3F2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697038"/>
            <a:ext cx="5277005" cy="4525962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B45A787-9C75-0736-994E-7B094F400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708675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E3F9F65D-AB78-8571-A238-B3743684A6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41693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E2CC42D-17CB-E638-B81A-110B1B3F2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697038"/>
            <a:ext cx="5277005" cy="4525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B45A787-9C75-0736-994E-7B094F400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708675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EDC140F1-7C93-36F2-49E9-260DAC6B7E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16229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458D67BC-08A8-B641-2D7F-240DC17CDE3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52140" y="0"/>
            <a:ext cx="2066602" cy="2902857"/>
          </a:xfrm>
          <a:custGeom>
            <a:avLst/>
            <a:gdLst>
              <a:gd name="connsiteX0" fmla="*/ 0 w 2066602"/>
              <a:gd name="connsiteY0" fmla="*/ 0 h 2902857"/>
              <a:gd name="connsiteX1" fmla="*/ 2066602 w 2066602"/>
              <a:gd name="connsiteY1" fmla="*/ 0 h 2902857"/>
              <a:gd name="connsiteX2" fmla="*/ 2066602 w 2066602"/>
              <a:gd name="connsiteY2" fmla="*/ 2902857 h 2902857"/>
              <a:gd name="connsiteX3" fmla="*/ 0 w 2066602"/>
              <a:gd name="connsiteY3" fmla="*/ 2902857 h 290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902857">
                <a:moveTo>
                  <a:pt x="0" y="0"/>
                </a:moveTo>
                <a:lnTo>
                  <a:pt x="2066602" y="0"/>
                </a:lnTo>
                <a:lnTo>
                  <a:pt x="2066602" y="2902857"/>
                </a:lnTo>
                <a:lnTo>
                  <a:pt x="0" y="290285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91A76DD4-43F7-C972-85EA-CAFDE2FA041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52140" y="3033601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10D0C3E1-B2D7-E36D-87E0-ECAB470B2D2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7027" y="798286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62331960-A4CD-E907-ACF8-2904680BADA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7027" y="4277251"/>
            <a:ext cx="2066602" cy="2072748"/>
          </a:xfrm>
          <a:custGeom>
            <a:avLst/>
            <a:gdLst>
              <a:gd name="connsiteX0" fmla="*/ 0 w 2066602"/>
              <a:gd name="connsiteY0" fmla="*/ 0 h 2072748"/>
              <a:gd name="connsiteX1" fmla="*/ 2066602 w 2066602"/>
              <a:gd name="connsiteY1" fmla="*/ 0 h 2072748"/>
              <a:gd name="connsiteX2" fmla="*/ 2066602 w 2066602"/>
              <a:gd name="connsiteY2" fmla="*/ 2072748 h 2072748"/>
              <a:gd name="connsiteX3" fmla="*/ 0 w 2066602"/>
              <a:gd name="connsiteY3" fmla="*/ 2072748 h 207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072748">
                <a:moveTo>
                  <a:pt x="0" y="0"/>
                </a:moveTo>
                <a:lnTo>
                  <a:pt x="2066602" y="0"/>
                </a:lnTo>
                <a:lnTo>
                  <a:pt x="2066602" y="2072748"/>
                </a:lnTo>
                <a:lnTo>
                  <a:pt x="0" y="20727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77A9D95-A204-E92E-A5F8-1E263A7A8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5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  <a:lvl2pPr>
              <a:defRPr sz="2800">
                <a:solidFill>
                  <a:schemeClr val="accent6"/>
                </a:solidFill>
              </a:defRPr>
            </a:lvl2pPr>
            <a:lvl3pPr>
              <a:defRPr sz="2400">
                <a:solidFill>
                  <a:schemeClr val="accent6"/>
                </a:solidFill>
              </a:defRPr>
            </a:lvl3pPr>
            <a:lvl4pPr>
              <a:defRPr sz="2000">
                <a:solidFill>
                  <a:schemeClr val="accent6"/>
                </a:solidFill>
              </a:defRPr>
            </a:lvl4pPr>
            <a:lvl5pPr>
              <a:defRPr sz="2000">
                <a:solidFill>
                  <a:schemeClr val="accent6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403621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14576114-4EE3-A4A4-76CC-B9B2275D1E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52140" y="0"/>
            <a:ext cx="2066602" cy="2902857"/>
          </a:xfrm>
          <a:custGeom>
            <a:avLst/>
            <a:gdLst>
              <a:gd name="connsiteX0" fmla="*/ 0 w 2066602"/>
              <a:gd name="connsiteY0" fmla="*/ 0 h 2902857"/>
              <a:gd name="connsiteX1" fmla="*/ 2066602 w 2066602"/>
              <a:gd name="connsiteY1" fmla="*/ 0 h 2902857"/>
              <a:gd name="connsiteX2" fmla="*/ 2066602 w 2066602"/>
              <a:gd name="connsiteY2" fmla="*/ 2902857 h 2902857"/>
              <a:gd name="connsiteX3" fmla="*/ 0 w 2066602"/>
              <a:gd name="connsiteY3" fmla="*/ 2902857 h 290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902857">
                <a:moveTo>
                  <a:pt x="0" y="0"/>
                </a:moveTo>
                <a:lnTo>
                  <a:pt x="2066602" y="0"/>
                </a:lnTo>
                <a:lnTo>
                  <a:pt x="2066602" y="2902857"/>
                </a:lnTo>
                <a:lnTo>
                  <a:pt x="0" y="290285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F3B5096E-B439-B90B-5317-2550E3B6566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52140" y="3033601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7E850367-FBF9-B7B1-9E76-EC29821827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7027" y="798286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B7999D6D-BA9E-A93A-5AB4-A94911B24D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7027" y="4277251"/>
            <a:ext cx="2066602" cy="2072748"/>
          </a:xfrm>
          <a:custGeom>
            <a:avLst/>
            <a:gdLst>
              <a:gd name="connsiteX0" fmla="*/ 0 w 2066602"/>
              <a:gd name="connsiteY0" fmla="*/ 0 h 2072748"/>
              <a:gd name="connsiteX1" fmla="*/ 2066602 w 2066602"/>
              <a:gd name="connsiteY1" fmla="*/ 0 h 2072748"/>
              <a:gd name="connsiteX2" fmla="*/ 2066602 w 2066602"/>
              <a:gd name="connsiteY2" fmla="*/ 2072748 h 2072748"/>
              <a:gd name="connsiteX3" fmla="*/ 0 w 2066602"/>
              <a:gd name="connsiteY3" fmla="*/ 2072748 h 207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072748">
                <a:moveTo>
                  <a:pt x="0" y="0"/>
                </a:moveTo>
                <a:lnTo>
                  <a:pt x="2066602" y="0"/>
                </a:lnTo>
                <a:lnTo>
                  <a:pt x="2066602" y="2072748"/>
                </a:lnTo>
                <a:lnTo>
                  <a:pt x="0" y="20727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F213A9-305D-2AFC-FF34-19434A2D9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5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accent5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61370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098A0508-16C0-1CB1-9EB2-E710C774CB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60EB9AD5-7DDC-2BFA-AF2C-9962B35D0E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8358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F2B4AB36-8724-FDDC-F151-CBD3C7917C5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716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7807B4DD-82EF-E592-BE1A-58254BBE34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250740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78BA4D9-57E1-A80D-3014-2BD0F878A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352" y="274638"/>
            <a:ext cx="10457373" cy="1143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45A25BC-C7C5-6433-D8E4-A5DF23106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352" y="1417638"/>
            <a:ext cx="11601296" cy="45259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13" name="Picture 10" descr="APU Logo Final-medium.jpg">
            <a:extLst>
              <a:ext uri="{FF2B5EF4-FFF2-40B4-BE49-F238E27FC236}">
                <a16:creationId xmlns:a16="http://schemas.microsoft.com/office/drawing/2014/main" id="{C388C33F-8C44-39F0-8C2F-7CF690D3C1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274900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Vertical Title and Tex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098A0508-16C0-1CB1-9EB2-E710C774CB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60EB9AD5-7DDC-2BFA-AF2C-9962B35D0E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8358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F2B4AB36-8724-FDDC-F151-CBD3C7917C5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716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7807B4DD-82EF-E592-BE1A-58254BBE34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250740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78BA4D9-57E1-A80D-3014-2BD0F878A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352" y="274638"/>
            <a:ext cx="10457373" cy="11430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45A25BC-C7C5-6433-D8E4-A5DF23106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352" y="1417638"/>
            <a:ext cx="11601296" cy="4525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13D2297B-429D-D242-496A-D8036CC69E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29512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74638"/>
            <a:ext cx="9389533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49817" y="1697038"/>
            <a:ext cx="10972800" cy="4525962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063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microsoft.com/office/2007/relationships/hdphoto" Target="../media/hdphoto1.wdp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outdoor object, honeycomb&#10;&#10;Description automatically generated">
            <a:extLst>
              <a:ext uri="{FF2B5EF4-FFF2-40B4-BE49-F238E27FC236}">
                <a16:creationId xmlns:a16="http://schemas.microsoft.com/office/drawing/2014/main" id="{ECC693F6-F024-A3A9-24FB-E8ED5704B6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4">
            <a:extLst>
              <a:ext uri="{BEBA8EAE-BF5A-486C-A8C5-ECC9F3942E4B}">
                <a14:imgProps xmlns:a14="http://schemas.microsoft.com/office/drawing/2010/main">
                  <a14:imgLayer r:embed="rId45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94815"/>
          <a:stretch/>
        </p:blipFill>
        <p:spPr>
          <a:xfrm>
            <a:off x="0" y="6502398"/>
            <a:ext cx="12192000" cy="355601"/>
          </a:xfrm>
          <a:prstGeom prst="rect">
            <a:avLst/>
          </a:prstGeom>
        </p:spPr>
      </p:pic>
      <p:sp>
        <p:nvSpPr>
          <p:cNvPr id="1028" name="Rectangle 4">
            <a:extLst>
              <a:ext uri="{FF2B5EF4-FFF2-40B4-BE49-F238E27FC236}">
                <a16:creationId xmlns:a16="http://schemas.microsoft.com/office/drawing/2014/main" id="{B623752B-4505-458A-8F13-B97CEB0BB8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54000" y="1697038"/>
            <a:ext cx="117475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text styles</a:t>
            </a:r>
          </a:p>
          <a:p>
            <a:pPr lvl="1"/>
            <a:r>
              <a:rPr lang="en-GB" altLang="en-US" dirty="0"/>
              <a:t>Second level</a:t>
            </a:r>
          </a:p>
          <a:p>
            <a:pPr lvl="2"/>
            <a:r>
              <a:rPr lang="en-GB" altLang="en-US" dirty="0"/>
              <a:t>Third level</a:t>
            </a:r>
          </a:p>
          <a:p>
            <a:pPr lvl="3"/>
            <a:r>
              <a:rPr lang="en-GB" altLang="en-US" dirty="0"/>
              <a:t>Fourth level</a:t>
            </a:r>
          </a:p>
          <a:p>
            <a:pPr lvl="4"/>
            <a:r>
              <a:rPr lang="en-GB" altLang="en-US" dirty="0"/>
              <a:t>Fifth level</a:t>
            </a:r>
          </a:p>
        </p:txBody>
      </p:sp>
      <p:sp>
        <p:nvSpPr>
          <p:cNvPr id="1029" name="Rectangle 6">
            <a:extLst>
              <a:ext uri="{FF2B5EF4-FFF2-40B4-BE49-F238E27FC236}">
                <a16:creationId xmlns:a16="http://schemas.microsoft.com/office/drawing/2014/main" id="{4D7F5865-615B-424A-A375-A8F1EEAE74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48569D-7387-4D30-B100-DC94E7D1863E}"/>
              </a:ext>
            </a:extLst>
          </p:cNvPr>
          <p:cNvSpPr txBox="1"/>
          <p:nvPr userDrawn="1"/>
        </p:nvSpPr>
        <p:spPr>
          <a:xfrm>
            <a:off x="10859590" y="6588371"/>
            <a:ext cx="1550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bg2"/>
                </a:solidFill>
                <a:latin typeface="Montserrat" panose="00000500000000000000" pitchFamily="2" charset="0"/>
              </a:rPr>
              <a:t>SLIDE </a:t>
            </a:r>
            <a:fld id="{7E7DF8DA-2BBC-4974-99EF-62657F72EFE3}" type="slidenum">
              <a:rPr lang="en-US" sz="800" smtClean="0">
                <a:solidFill>
                  <a:schemeClr val="bg2"/>
                </a:solidFill>
                <a:latin typeface="Montserrat" panose="00000500000000000000" pitchFamily="2" charset="0"/>
              </a:rPr>
              <a:pPr algn="ctr"/>
              <a:t>‹#›</a:t>
            </a:fld>
            <a:endParaRPr lang="en-US" sz="800" dirty="0">
              <a:solidFill>
                <a:schemeClr val="bg2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DC117F-9549-84AD-C279-A42AEB20D920}"/>
              </a:ext>
            </a:extLst>
          </p:cNvPr>
          <p:cNvSpPr txBox="1"/>
          <p:nvPr userDrawn="1"/>
        </p:nvSpPr>
        <p:spPr>
          <a:xfrm>
            <a:off x="39175" y="6588371"/>
            <a:ext cx="23774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800" dirty="0">
                <a:solidFill>
                  <a:schemeClr val="bg2"/>
                </a:solidFill>
                <a:latin typeface="Montserrat" panose="00000500000000000000" pitchFamily="2" charset="0"/>
              </a:rPr>
              <a:t>Module Code &amp; Module Title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BD054F-4D2B-C683-DC2F-88927DD0A10B}"/>
              </a:ext>
            </a:extLst>
          </p:cNvPr>
          <p:cNvSpPr txBox="1"/>
          <p:nvPr userDrawn="1"/>
        </p:nvSpPr>
        <p:spPr>
          <a:xfrm>
            <a:off x="4480560" y="6572476"/>
            <a:ext cx="33963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bg2"/>
                </a:solidFill>
                <a:latin typeface="Montserrat" panose="00000500000000000000" pitchFamily="2" charset="0"/>
              </a:rPr>
              <a:t>Slide Title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53" r:id="rId2"/>
    <p:sldLayoutId id="2147483729" r:id="rId3"/>
    <p:sldLayoutId id="2147483757" r:id="rId4"/>
    <p:sldLayoutId id="2147483758" r:id="rId5"/>
    <p:sldLayoutId id="2147483720" r:id="rId6"/>
    <p:sldLayoutId id="2147483756" r:id="rId7"/>
    <p:sldLayoutId id="2147483719" r:id="rId8"/>
    <p:sldLayoutId id="2147483737" r:id="rId9"/>
    <p:sldLayoutId id="2147483723" r:id="rId10"/>
    <p:sldLayoutId id="2147483739" r:id="rId11"/>
    <p:sldLayoutId id="2147483721" r:id="rId12"/>
    <p:sldLayoutId id="2147483744" r:id="rId13"/>
    <p:sldLayoutId id="2147483722" r:id="rId14"/>
    <p:sldLayoutId id="2147483745" r:id="rId15"/>
    <p:sldLayoutId id="2147483731" r:id="rId16"/>
    <p:sldLayoutId id="2147483724" r:id="rId17"/>
    <p:sldLayoutId id="2147483730" r:id="rId18"/>
    <p:sldLayoutId id="2147483735" r:id="rId19"/>
    <p:sldLayoutId id="2147483725" r:id="rId20"/>
    <p:sldLayoutId id="2147483743" r:id="rId21"/>
    <p:sldLayoutId id="2147483726" r:id="rId22"/>
    <p:sldLayoutId id="2147483740" r:id="rId23"/>
    <p:sldLayoutId id="2147483732" r:id="rId24"/>
    <p:sldLayoutId id="2147483742" r:id="rId25"/>
    <p:sldLayoutId id="2147483749" r:id="rId26"/>
    <p:sldLayoutId id="2147483750" r:id="rId27"/>
    <p:sldLayoutId id="2147483741" r:id="rId28"/>
    <p:sldLayoutId id="2147483734" r:id="rId29"/>
    <p:sldLayoutId id="2147483733" r:id="rId30"/>
    <p:sldLayoutId id="2147483752" r:id="rId31"/>
    <p:sldLayoutId id="2147483727" r:id="rId32"/>
    <p:sldLayoutId id="2147483738" r:id="rId33"/>
    <p:sldLayoutId id="2147483751" r:id="rId34"/>
    <p:sldLayoutId id="2147483747" r:id="rId35"/>
    <p:sldLayoutId id="2147483736" r:id="rId36"/>
    <p:sldLayoutId id="2147483748" r:id="rId37"/>
    <p:sldLayoutId id="2147483728" r:id="rId38"/>
    <p:sldLayoutId id="2147483746" r:id="rId39"/>
    <p:sldLayoutId id="2147483754" r:id="rId40"/>
    <p:sldLayoutId id="2147483755" r:id="rId41"/>
    <p:sldLayoutId id="2147483759" r:id="rId4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Montserrat" panose="00000500000000000000" pitchFamily="2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500">
          <a:solidFill>
            <a:schemeClr val="tx1"/>
          </a:solidFill>
          <a:latin typeface="+mj-lt"/>
          <a:ea typeface="+mn-ea"/>
          <a:cs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cs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j-lt"/>
          <a:cs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j-lt"/>
          <a:cs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j-lt"/>
          <a:cs typeface="Calibri" panose="020F050202020403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 noGrp="1"/>
          </p:cNvSpPr>
          <p:nvPr>
            <p:ph type="ctrTitle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1" hangingPunct="1">
              <a:defRPr/>
            </a:pPr>
            <a:r>
              <a:rPr lang="en-US" sz="3600" b="0" dirty="0">
                <a:solidFill>
                  <a:schemeClr val="bg1"/>
                </a:solidFill>
                <a:latin typeface="+mj-lt"/>
              </a:rPr>
              <a:t>CT004-3.5-3 </a:t>
            </a:r>
            <a:br>
              <a:rPr lang="en-US" sz="3600" b="0" dirty="0">
                <a:solidFill>
                  <a:schemeClr val="bg1"/>
                </a:solidFill>
                <a:latin typeface="+mj-lt"/>
              </a:rPr>
            </a:br>
            <a:r>
              <a:rPr lang="en-US" sz="3600" b="0" dirty="0">
                <a:solidFill>
                  <a:schemeClr val="bg1"/>
                </a:solidFill>
                <a:latin typeface="+mj-lt"/>
              </a:rPr>
              <a:t>Advanced Database Systems</a:t>
            </a:r>
            <a:endParaRPr lang="en-MY" sz="360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406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536573" y="3670301"/>
            <a:ext cx="6913767" cy="1752600"/>
          </a:xfrm>
        </p:spPr>
        <p:txBody>
          <a:bodyPr/>
          <a:lstStyle/>
          <a:p>
            <a:r>
              <a:rPr lang="en-US" b="1" dirty="0"/>
              <a:t>Transaction Management</a:t>
            </a:r>
          </a:p>
        </p:txBody>
      </p:sp>
    </p:spTree>
  </p:cSld>
  <p:clrMapOvr>
    <a:masterClrMapping/>
  </p:clrMapOvr>
  <p:transition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/>
              <a:t>Learning objectives</a:t>
            </a:r>
            <a:endParaRPr lang="en-US" b="1" dirty="0"/>
          </a:p>
        </p:txBody>
      </p:sp>
      <p:sp>
        <p:nvSpPr>
          <p:cNvPr id="242691" name="Rectangle 1027"/>
          <p:cNvSpPr>
            <a:spLocks noGrp="1" noChangeArrowheads="1"/>
          </p:cNvSpPr>
          <p:nvPr>
            <p:ph idx="1"/>
          </p:nvPr>
        </p:nvSpPr>
        <p:spPr>
          <a:xfrm>
            <a:off x="2057400" y="1557338"/>
            <a:ext cx="8382000" cy="4648200"/>
          </a:xfrm>
        </p:spPr>
        <p:txBody>
          <a:bodyPr>
            <a:normAutofit/>
          </a:bodyPr>
          <a:lstStyle/>
          <a:p>
            <a:r>
              <a:rPr lang="en-US" sz="2800" b="1" dirty="0"/>
              <a:t>Function and importance of transactions.</a:t>
            </a:r>
          </a:p>
          <a:p>
            <a:pPr algn="just"/>
            <a:r>
              <a:rPr lang="en-US" sz="2800" b="1" dirty="0"/>
              <a:t>Properties of transactions.</a:t>
            </a:r>
          </a:p>
          <a:p>
            <a:pPr algn="just"/>
            <a:r>
              <a:rPr lang="en-US" sz="2800" b="1" dirty="0"/>
              <a:t>Concurrency Control</a:t>
            </a:r>
          </a:p>
          <a:p>
            <a:pPr algn="just"/>
            <a:r>
              <a:rPr lang="en-US" sz="2800" b="1" dirty="0"/>
              <a:t>Concurrency problem </a:t>
            </a:r>
          </a:p>
          <a:p>
            <a:pPr lvl="1" algn="just">
              <a:buNone/>
            </a:pPr>
            <a:r>
              <a:rPr lang="en-US" b="1" dirty="0">
                <a:ea typeface="+mn-ea"/>
                <a:cs typeface="+mn-cs"/>
              </a:rPr>
              <a:t>- Meaning of </a:t>
            </a:r>
            <a:r>
              <a:rPr lang="en-US" b="1" dirty="0" err="1">
                <a:ea typeface="+mn-ea"/>
                <a:cs typeface="+mn-cs"/>
              </a:rPr>
              <a:t>serializability</a:t>
            </a:r>
            <a:r>
              <a:rPr lang="en-US" b="1" dirty="0">
                <a:ea typeface="+mn-ea"/>
                <a:cs typeface="+mn-cs"/>
              </a:rPr>
              <a:t>.</a:t>
            </a:r>
          </a:p>
          <a:p>
            <a:pPr lvl="1" algn="just">
              <a:buNone/>
            </a:pPr>
            <a:r>
              <a:rPr lang="en-US" b="1" dirty="0">
                <a:ea typeface="+mn-ea"/>
                <a:cs typeface="+mn-cs"/>
              </a:rPr>
              <a:t>- How locking can ensure </a:t>
            </a:r>
            <a:r>
              <a:rPr lang="en-US" b="1" dirty="0" err="1">
                <a:ea typeface="+mn-ea"/>
                <a:cs typeface="+mn-cs"/>
              </a:rPr>
              <a:t>serializability</a:t>
            </a:r>
            <a:r>
              <a:rPr lang="en-US" b="1" dirty="0">
                <a:ea typeface="+mn-ea"/>
                <a:cs typeface="+mn-cs"/>
              </a:rPr>
              <a:t>.</a:t>
            </a:r>
          </a:p>
          <a:p>
            <a:pPr lvl="1" algn="just">
              <a:buNone/>
            </a:pPr>
            <a:r>
              <a:rPr lang="en-US" b="1" dirty="0">
                <a:ea typeface="+mn-ea"/>
                <a:cs typeface="+mn-cs"/>
              </a:rPr>
              <a:t>- Deadlock and how it can be resolved.</a:t>
            </a:r>
          </a:p>
          <a:p>
            <a:pPr lvl="1" algn="just"/>
            <a:endParaRPr lang="en-US" b="1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2691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sz="2900"/>
              <a:t>Transaction Support</a:t>
            </a:r>
          </a:p>
        </p:txBody>
      </p:sp>
      <p:sp>
        <p:nvSpPr>
          <p:cNvPr id="244739" name="Rectangle 3"/>
          <p:cNvSpPr>
            <a:spLocks noGrp="1" noChangeArrowheads="1"/>
          </p:cNvSpPr>
          <p:nvPr>
            <p:ph idx="1"/>
          </p:nvPr>
        </p:nvSpPr>
        <p:spPr>
          <a:xfrm>
            <a:off x="2055813" y="1557338"/>
            <a:ext cx="8001000" cy="4343400"/>
          </a:xfrm>
        </p:spPr>
        <p:txBody>
          <a:bodyPr/>
          <a:lstStyle/>
          <a:p>
            <a:pPr lvl="1" algn="just">
              <a:buFontTx/>
              <a:buNone/>
            </a:pPr>
            <a:r>
              <a:rPr lang="en-US" sz="2400" b="1" u="sng" dirty="0"/>
              <a:t>Transaction</a:t>
            </a:r>
            <a:endParaRPr lang="en-US" sz="2400" u="sng" dirty="0"/>
          </a:p>
          <a:p>
            <a:pPr lvl="1" algn="just">
              <a:buFontTx/>
              <a:buNone/>
            </a:pPr>
            <a:r>
              <a:rPr lang="en-US" sz="2400" b="1" dirty="0"/>
              <a:t>	Action, or series of actions, carried out by user or application, which reads or updates contents of database. </a:t>
            </a:r>
          </a:p>
          <a:p>
            <a:pPr algn="just">
              <a:lnSpc>
                <a:spcPct val="0"/>
              </a:lnSpc>
              <a:buFont typeface="Monotype Sorts" pitchFamily="2" charset="2"/>
              <a:buNone/>
            </a:pPr>
            <a:endParaRPr lang="en-US" sz="2400" b="1" dirty="0"/>
          </a:p>
          <a:p>
            <a:pPr algn="just"/>
            <a:r>
              <a:rPr lang="en-US" sz="2400" b="1" dirty="0"/>
              <a:t>Logical unit of work on the database. </a:t>
            </a:r>
          </a:p>
          <a:p>
            <a:pPr algn="just"/>
            <a:endParaRPr lang="en-US" sz="2400" b="1" dirty="0"/>
          </a:p>
          <a:p>
            <a:pPr algn="just"/>
            <a:r>
              <a:rPr lang="en-US" sz="2400" b="1" dirty="0"/>
              <a:t>Transforms database from one consistent state to another, although consistency may be violated during transaction.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739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900"/>
              <a:t>Example Transaction</a:t>
            </a:r>
            <a:endParaRPr lang="en-US"/>
          </a:p>
        </p:txBody>
      </p:sp>
      <p:pic>
        <p:nvPicPr>
          <p:cNvPr id="245764" name="Picture 4" descr="DS3-Figure 19-0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92314" y="1557339"/>
            <a:ext cx="7775575" cy="3311525"/>
          </a:xfrm>
          <a:prstGeom prst="rect">
            <a:avLst/>
          </a:prstGeom>
          <a:noFill/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sz="2900"/>
              <a:t>Transaction Support</a:t>
            </a:r>
            <a:endParaRPr lang="en-US" b="1"/>
          </a:p>
        </p:txBody>
      </p:sp>
      <p:sp>
        <p:nvSpPr>
          <p:cNvPr id="246787" name="Rectangle 3"/>
          <p:cNvSpPr>
            <a:spLocks noGrp="1" noChangeArrowheads="1"/>
          </p:cNvSpPr>
          <p:nvPr>
            <p:ph idx="1"/>
          </p:nvPr>
        </p:nvSpPr>
        <p:spPr>
          <a:xfrm>
            <a:off x="2055813" y="1557338"/>
            <a:ext cx="8001000" cy="4114800"/>
          </a:xfrm>
        </p:spPr>
        <p:txBody>
          <a:bodyPr/>
          <a:lstStyle/>
          <a:p>
            <a:pPr algn="just"/>
            <a:r>
              <a:rPr lang="en-US" b="1"/>
              <a:t>Can have one of two outcomes:</a:t>
            </a:r>
          </a:p>
          <a:p>
            <a:pPr lvl="1" algn="just"/>
            <a:r>
              <a:rPr lang="en-US" sz="2400" b="1"/>
              <a:t>Success - transaction </a:t>
            </a:r>
            <a:r>
              <a:rPr lang="en-US" sz="2400" b="1" i="1"/>
              <a:t>commits</a:t>
            </a:r>
            <a:r>
              <a:rPr lang="en-US" sz="2400" b="1"/>
              <a:t> and database reaches a new consistent state. </a:t>
            </a:r>
          </a:p>
          <a:p>
            <a:pPr lvl="1" algn="just"/>
            <a:r>
              <a:rPr lang="en-US" sz="2400" b="1"/>
              <a:t>Failure - transaction </a:t>
            </a:r>
            <a:r>
              <a:rPr lang="en-US" sz="2400" b="1" i="1"/>
              <a:t>aborts</a:t>
            </a:r>
            <a:r>
              <a:rPr lang="en-US" sz="2400" b="1"/>
              <a:t>, and database must be restored to consistent state before it started. </a:t>
            </a:r>
          </a:p>
          <a:p>
            <a:pPr lvl="1" algn="just"/>
            <a:r>
              <a:rPr lang="en-US" sz="2400" b="1"/>
              <a:t>Such a transaction is </a:t>
            </a:r>
            <a:r>
              <a:rPr lang="en-US" sz="2400" b="1" i="1"/>
              <a:t>rolled back</a:t>
            </a:r>
            <a:r>
              <a:rPr lang="en-US" sz="2400" b="1"/>
              <a:t> or </a:t>
            </a:r>
            <a:r>
              <a:rPr lang="en-US" sz="2400" b="1" i="1"/>
              <a:t>undone</a:t>
            </a:r>
            <a:r>
              <a:rPr lang="en-US" sz="2400" b="1"/>
              <a:t>. </a:t>
            </a:r>
          </a:p>
          <a:p>
            <a:pPr algn="just"/>
            <a:r>
              <a:rPr lang="en-US" b="1"/>
              <a:t>Committed transaction cannot be aborted.</a:t>
            </a:r>
          </a:p>
          <a:p>
            <a:pPr algn="just"/>
            <a:r>
              <a:rPr lang="en-US" b="1"/>
              <a:t>Aborted transaction that is rolled back can be restarted later.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78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2900" dirty="0"/>
              <a:t>State Transition Diagram for Transaction </a:t>
            </a:r>
          </a:p>
        </p:txBody>
      </p:sp>
      <p:pic>
        <p:nvPicPr>
          <p:cNvPr id="247812" name="Picture 4" descr="DS3-Figure 19-0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92313" y="1700214"/>
            <a:ext cx="7631112" cy="2935287"/>
          </a:xfrm>
          <a:prstGeom prst="rect">
            <a:avLst/>
          </a:prstGeom>
          <a:noFill/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900" dirty="0"/>
              <a:t>Properties of Transactions </a:t>
            </a:r>
            <a:endParaRPr lang="en-US" dirty="0"/>
          </a:p>
        </p:txBody>
      </p:sp>
      <p:sp>
        <p:nvSpPr>
          <p:cNvPr id="248835" name="Rectangle 3"/>
          <p:cNvSpPr>
            <a:spLocks noGrp="1" noChangeArrowheads="1"/>
          </p:cNvSpPr>
          <p:nvPr>
            <p:ph idx="1"/>
          </p:nvPr>
        </p:nvSpPr>
        <p:spPr>
          <a:xfrm>
            <a:off x="2051050" y="1557338"/>
            <a:ext cx="8077200" cy="4114800"/>
          </a:xfrm>
        </p:spPr>
        <p:txBody>
          <a:bodyPr/>
          <a:lstStyle/>
          <a:p>
            <a:pPr marL="0" indent="0" algn="just">
              <a:buNone/>
              <a:tabLst>
                <a:tab pos="1905000" algn="l"/>
                <a:tab pos="2286000" algn="l"/>
              </a:tabLst>
            </a:pPr>
            <a:r>
              <a:rPr lang="en-US" sz="2400" b="1" dirty="0"/>
              <a:t>Four basic </a:t>
            </a:r>
            <a:r>
              <a:rPr lang="en-US" sz="2400" b="1" i="1" dirty="0"/>
              <a:t>(ACID)</a:t>
            </a:r>
            <a:r>
              <a:rPr lang="en-US" sz="2400" b="1" dirty="0"/>
              <a:t> properties of a transaction are:</a:t>
            </a:r>
          </a:p>
          <a:p>
            <a:pPr marL="0" indent="0" algn="just">
              <a:lnSpc>
                <a:spcPct val="40000"/>
              </a:lnSpc>
              <a:tabLst>
                <a:tab pos="1905000" algn="l"/>
                <a:tab pos="2286000" algn="l"/>
              </a:tabLst>
            </a:pPr>
            <a:endParaRPr lang="en-US" sz="2400" b="1" dirty="0"/>
          </a:p>
          <a:p>
            <a:pPr marL="0" indent="0" algn="just">
              <a:buNone/>
              <a:tabLst>
                <a:tab pos="1905000" algn="l"/>
                <a:tab pos="2286000" algn="l"/>
              </a:tabLst>
            </a:pPr>
            <a:r>
              <a:rPr lang="en-US" sz="2400" b="1" u="sng" dirty="0"/>
              <a:t>Atomicity</a:t>
            </a:r>
            <a:r>
              <a:rPr lang="en-US" sz="2400" b="1" dirty="0"/>
              <a:t> 	‘All or nothing’ property. </a:t>
            </a:r>
          </a:p>
          <a:p>
            <a:pPr marL="0" indent="0" algn="just">
              <a:buNone/>
              <a:tabLst>
                <a:tab pos="1905000" algn="l"/>
                <a:tab pos="2286000" algn="l"/>
              </a:tabLst>
            </a:pPr>
            <a:r>
              <a:rPr lang="en-US" sz="2400" b="1" u="sng" dirty="0"/>
              <a:t>Consistency</a:t>
            </a:r>
            <a:r>
              <a:rPr lang="en-US" sz="2400" b="1" dirty="0"/>
              <a:t>	Must transform database from one consistent state to another.</a:t>
            </a:r>
          </a:p>
          <a:p>
            <a:pPr marL="0" indent="0" algn="just">
              <a:buNone/>
              <a:tabLst>
                <a:tab pos="1905000" algn="l"/>
                <a:tab pos="2286000" algn="l"/>
              </a:tabLst>
            </a:pPr>
            <a:r>
              <a:rPr lang="en-US" sz="2400" b="1" u="sng" dirty="0"/>
              <a:t>Isolation</a:t>
            </a:r>
            <a:r>
              <a:rPr lang="en-US" sz="2400" b="1" dirty="0"/>
              <a:t>  	Partial effects of incomplete transactions should not be visible to other transactions.</a:t>
            </a:r>
          </a:p>
          <a:p>
            <a:pPr marL="0" indent="0" algn="just">
              <a:buNone/>
              <a:tabLst>
                <a:tab pos="1905000" algn="l"/>
                <a:tab pos="2286000" algn="l"/>
              </a:tabLst>
            </a:pPr>
            <a:r>
              <a:rPr lang="en-US" sz="2400" b="1" u="sng" dirty="0"/>
              <a:t>Durability</a:t>
            </a:r>
            <a:r>
              <a:rPr lang="en-US" sz="2400" b="1" dirty="0"/>
              <a:t>	Effects of a committed transaction are permanent and must not be lost because of later failure.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883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900" dirty="0"/>
              <a:t>Concurrency Control  </a:t>
            </a:r>
          </a:p>
        </p:txBody>
      </p:sp>
      <p:sp>
        <p:nvSpPr>
          <p:cNvPr id="250883" name="Rectangle 3"/>
          <p:cNvSpPr>
            <a:spLocks noGrp="1" noChangeArrowheads="1"/>
          </p:cNvSpPr>
          <p:nvPr>
            <p:ph idx="1"/>
          </p:nvPr>
        </p:nvSpPr>
        <p:spPr>
          <a:xfrm>
            <a:off x="2055813" y="1557338"/>
            <a:ext cx="8001000" cy="4114800"/>
          </a:xfrm>
        </p:spPr>
        <p:txBody>
          <a:bodyPr/>
          <a:lstStyle/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800" b="1" dirty="0"/>
              <a:t>	Process of managing concurrent operations on the database without having them interfere with one another.</a:t>
            </a:r>
          </a:p>
          <a:p>
            <a:pPr>
              <a:lnSpc>
                <a:spcPct val="20000"/>
              </a:lnSpc>
              <a:buFont typeface="Monotype Sorts" pitchFamily="2" charset="2"/>
              <a:buNone/>
            </a:pPr>
            <a:endParaRPr lang="en-US" sz="2800" b="1" dirty="0"/>
          </a:p>
          <a:p>
            <a:pPr>
              <a:lnSpc>
                <a:spcPct val="90000"/>
              </a:lnSpc>
            </a:pPr>
            <a:r>
              <a:rPr lang="en-US" sz="2800" b="1" dirty="0"/>
              <a:t>Prevents interference when two or more users are accessing database concurrently and at least one is updating data.</a:t>
            </a:r>
          </a:p>
          <a:p>
            <a:pPr>
              <a:lnSpc>
                <a:spcPct val="90000"/>
              </a:lnSpc>
            </a:pPr>
            <a:endParaRPr lang="en-US" sz="2800" b="1" dirty="0"/>
          </a:p>
          <a:p>
            <a:pPr>
              <a:lnSpc>
                <a:spcPct val="90000"/>
              </a:lnSpc>
            </a:pPr>
            <a:r>
              <a:rPr lang="en-US" sz="2800" b="1" dirty="0"/>
              <a:t>Although two transactions may be correct in themselves, interleaving of operations may produce an incorrect result.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900" dirty="0"/>
              <a:t>Need for Concurrency Control</a:t>
            </a:r>
            <a:endParaRPr lang="en-US" b="1" dirty="0"/>
          </a:p>
        </p:txBody>
      </p:sp>
      <p:sp>
        <p:nvSpPr>
          <p:cNvPr id="251907" name="Rectangle 3"/>
          <p:cNvSpPr>
            <a:spLocks noGrp="1" noChangeArrowheads="1"/>
          </p:cNvSpPr>
          <p:nvPr>
            <p:ph idx="1"/>
          </p:nvPr>
        </p:nvSpPr>
        <p:spPr>
          <a:xfrm>
            <a:off x="2055813" y="1557338"/>
            <a:ext cx="8001000" cy="4114800"/>
          </a:xfrm>
        </p:spPr>
        <p:txBody>
          <a:bodyPr/>
          <a:lstStyle/>
          <a:p>
            <a:pPr algn="just"/>
            <a:r>
              <a:rPr lang="en-US" b="1" dirty="0"/>
              <a:t>Three examples of potential problems caused by concurrency: </a:t>
            </a:r>
          </a:p>
          <a:p>
            <a:pPr algn="just"/>
            <a:endParaRPr lang="en-US" b="1" dirty="0"/>
          </a:p>
          <a:p>
            <a:pPr lvl="1" algn="just"/>
            <a:r>
              <a:rPr lang="en-US" b="1" dirty="0"/>
              <a:t>	Lost update problem.</a:t>
            </a:r>
          </a:p>
          <a:p>
            <a:pPr lvl="1" algn="just"/>
            <a:r>
              <a:rPr lang="en-US" b="1" dirty="0"/>
              <a:t>	Uncommitted dependency problem.</a:t>
            </a:r>
          </a:p>
          <a:p>
            <a:pPr lvl="1" algn="just"/>
            <a:r>
              <a:rPr lang="en-US" b="1" dirty="0"/>
              <a:t>	Inconsistent analysis problem. </a:t>
            </a:r>
            <a:endParaRPr lang="en-US" sz="2500" b="1" dirty="0"/>
          </a:p>
        </p:txBody>
      </p:sp>
    </p:spTree>
  </p:cSld>
  <p:clrMapOvr>
    <a:masterClrMapping/>
  </p:clrMapOvr>
  <p:transition>
    <p:wipe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Lost update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Successfully completed update is overridden by another user.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sz="2900"/>
              <a:t>Lost Update Problem</a:t>
            </a:r>
          </a:p>
        </p:txBody>
      </p:sp>
      <p:sp>
        <p:nvSpPr>
          <p:cNvPr id="253955" name="Rectangle 3"/>
          <p:cNvSpPr>
            <a:spLocks noGrp="1" noChangeArrowheads="1"/>
          </p:cNvSpPr>
          <p:nvPr>
            <p:ph idx="1"/>
          </p:nvPr>
        </p:nvSpPr>
        <p:spPr>
          <a:xfrm>
            <a:off x="2144713" y="4572000"/>
            <a:ext cx="7696200" cy="1219200"/>
          </a:xfrm>
        </p:spPr>
        <p:txBody>
          <a:bodyPr/>
          <a:lstStyle/>
          <a:p>
            <a:pPr algn="just"/>
            <a:r>
              <a:rPr lang="en-US" b="1"/>
              <a:t>Loss of T</a:t>
            </a:r>
            <a:r>
              <a:rPr lang="en-US" b="1" baseline="-25000"/>
              <a:t>2</a:t>
            </a:r>
            <a:r>
              <a:rPr lang="en-US" b="1"/>
              <a:t>’s update avoided by preventing T</a:t>
            </a:r>
            <a:r>
              <a:rPr lang="en-US" b="1" baseline="-25000"/>
              <a:t>1</a:t>
            </a:r>
            <a:r>
              <a:rPr lang="en-US" b="1"/>
              <a:t> from reading bal</a:t>
            </a:r>
            <a:r>
              <a:rPr lang="en-US" b="1" baseline="-25000"/>
              <a:t>x</a:t>
            </a:r>
            <a:r>
              <a:rPr lang="en-US" b="1"/>
              <a:t> until after update.</a:t>
            </a:r>
            <a:endParaRPr lang="en-US"/>
          </a:p>
        </p:txBody>
      </p:sp>
      <p:pic>
        <p:nvPicPr>
          <p:cNvPr id="253956" name="Picture 4" descr="DS3-Figure 19-0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63750" y="1557339"/>
            <a:ext cx="7704138" cy="2930525"/>
          </a:xfrm>
          <a:prstGeom prst="rect">
            <a:avLst/>
          </a:prstGeom>
          <a:noFill/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3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955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sz="2900"/>
              <a:t>Lost Update Problem</a:t>
            </a:r>
          </a:p>
        </p:txBody>
      </p:sp>
      <p:sp>
        <p:nvSpPr>
          <p:cNvPr id="252931" name="Rectangle 3"/>
          <p:cNvSpPr>
            <a:spLocks noGrp="1" noChangeArrowheads="1"/>
          </p:cNvSpPr>
          <p:nvPr>
            <p:ph idx="1"/>
          </p:nvPr>
        </p:nvSpPr>
        <p:spPr>
          <a:xfrm>
            <a:off x="2055813" y="1557338"/>
            <a:ext cx="8001000" cy="4114800"/>
          </a:xfrm>
        </p:spPr>
        <p:txBody>
          <a:bodyPr/>
          <a:lstStyle/>
          <a:p>
            <a:pPr algn="just"/>
            <a:r>
              <a:rPr lang="en-US" b="1" dirty="0"/>
              <a:t>T</a:t>
            </a:r>
            <a:r>
              <a:rPr lang="en-US" b="1" baseline="-25000" dirty="0"/>
              <a:t>1</a:t>
            </a:r>
            <a:r>
              <a:rPr lang="en-US" b="1" dirty="0"/>
              <a:t> withdrawing £10 from an account with </a:t>
            </a:r>
            <a:r>
              <a:rPr lang="en-US" b="1" dirty="0" err="1"/>
              <a:t>bal</a:t>
            </a:r>
            <a:r>
              <a:rPr lang="en-US" b="1" baseline="-25000" dirty="0" err="1"/>
              <a:t>x</a:t>
            </a:r>
            <a:r>
              <a:rPr lang="en-US" b="1" dirty="0"/>
              <a:t>, initially £100.</a:t>
            </a:r>
          </a:p>
          <a:p>
            <a:pPr algn="just"/>
            <a:r>
              <a:rPr lang="en-US" b="1" dirty="0"/>
              <a:t>T</a:t>
            </a:r>
            <a:r>
              <a:rPr lang="en-US" b="1" baseline="-25000" dirty="0"/>
              <a:t>2</a:t>
            </a:r>
            <a:r>
              <a:rPr lang="en-US" b="1" dirty="0"/>
              <a:t> depositing £100 into same account. </a:t>
            </a:r>
          </a:p>
          <a:p>
            <a:pPr algn="just"/>
            <a:r>
              <a:rPr lang="en-US" b="1" dirty="0"/>
              <a:t>Serially, final balance would be £190. 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2931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sz="2900"/>
              <a:t>Uncommitted Dependency Problem</a:t>
            </a:r>
            <a:endParaRPr lang="en-US"/>
          </a:p>
        </p:txBody>
      </p:sp>
      <p:sp>
        <p:nvSpPr>
          <p:cNvPr id="254979" name="Rectangle 3"/>
          <p:cNvSpPr>
            <a:spLocks noGrp="1" noChangeArrowheads="1"/>
          </p:cNvSpPr>
          <p:nvPr>
            <p:ph idx="1"/>
          </p:nvPr>
        </p:nvSpPr>
        <p:spPr>
          <a:xfrm>
            <a:off x="2058988" y="1557338"/>
            <a:ext cx="7924800" cy="4114800"/>
          </a:xfrm>
        </p:spPr>
        <p:txBody>
          <a:bodyPr/>
          <a:lstStyle/>
          <a:p>
            <a:pPr algn="just"/>
            <a:r>
              <a:rPr lang="en-US" b="1" dirty="0"/>
              <a:t>Occurs when one transaction can see intermediate results of another transaction before it has committed. 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979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sz="2900" dirty="0"/>
              <a:t>Uncommitted Dependency Problem</a:t>
            </a:r>
            <a:endParaRPr lang="en-US" dirty="0"/>
          </a:p>
        </p:txBody>
      </p:sp>
      <p:sp>
        <p:nvSpPr>
          <p:cNvPr id="256003" name="Rectangle 3"/>
          <p:cNvSpPr>
            <a:spLocks noGrp="1" noChangeArrowheads="1"/>
          </p:cNvSpPr>
          <p:nvPr>
            <p:ph idx="1"/>
          </p:nvPr>
        </p:nvSpPr>
        <p:spPr>
          <a:xfrm>
            <a:off x="2133600" y="4724400"/>
            <a:ext cx="7620000" cy="1066800"/>
          </a:xfrm>
        </p:spPr>
        <p:txBody>
          <a:bodyPr/>
          <a:lstStyle/>
          <a:p>
            <a:pPr algn="just"/>
            <a:r>
              <a:rPr lang="en-US" b="1"/>
              <a:t>Problem avoided by preventing T</a:t>
            </a:r>
            <a:r>
              <a:rPr lang="en-US" b="1" baseline="-25000"/>
              <a:t>3</a:t>
            </a:r>
            <a:r>
              <a:rPr lang="en-US" b="1"/>
              <a:t> from reading bal</a:t>
            </a:r>
            <a:r>
              <a:rPr lang="en-US" b="1" baseline="-25000"/>
              <a:t>x</a:t>
            </a:r>
            <a:r>
              <a:rPr lang="en-US" b="1"/>
              <a:t> until after T</a:t>
            </a:r>
            <a:r>
              <a:rPr lang="en-US" b="1" baseline="-25000"/>
              <a:t>4</a:t>
            </a:r>
            <a:r>
              <a:rPr lang="en-US" b="1"/>
              <a:t> commits or aborts.</a:t>
            </a:r>
          </a:p>
        </p:txBody>
      </p:sp>
      <p:pic>
        <p:nvPicPr>
          <p:cNvPr id="256004" name="Picture 4" descr="DS3-Figure 19-0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35188" y="1484314"/>
            <a:ext cx="7345362" cy="3197225"/>
          </a:xfrm>
          <a:prstGeom prst="rect">
            <a:avLst/>
          </a:prstGeom>
          <a:noFill/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03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2850" y="228600"/>
            <a:ext cx="7042150" cy="1143000"/>
          </a:xfrm>
        </p:spPr>
        <p:txBody>
          <a:bodyPr/>
          <a:lstStyle/>
          <a:p>
            <a:r>
              <a:rPr lang="en-US" b="1" dirty="0"/>
              <a:t>Uncommitted Dependency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T</a:t>
            </a:r>
            <a:r>
              <a:rPr lang="en-US" b="1" baseline="-25000" dirty="0"/>
              <a:t>4</a:t>
            </a:r>
            <a:r>
              <a:rPr lang="en-US" b="1" dirty="0"/>
              <a:t> updates </a:t>
            </a:r>
            <a:r>
              <a:rPr lang="en-US" b="1" dirty="0" err="1"/>
              <a:t>bal</a:t>
            </a:r>
            <a:r>
              <a:rPr lang="en-US" b="1" baseline="-25000" dirty="0" err="1"/>
              <a:t>x</a:t>
            </a:r>
            <a:r>
              <a:rPr lang="en-US" b="1" dirty="0"/>
              <a:t> to £200 but it aborts, so </a:t>
            </a:r>
            <a:r>
              <a:rPr lang="en-US" b="1" dirty="0" err="1"/>
              <a:t>bal</a:t>
            </a:r>
            <a:r>
              <a:rPr lang="en-US" b="1" baseline="-25000" dirty="0" err="1"/>
              <a:t>x</a:t>
            </a:r>
            <a:r>
              <a:rPr lang="en-US" b="1" dirty="0"/>
              <a:t> should be back at original value of £100.</a:t>
            </a:r>
          </a:p>
          <a:p>
            <a:pPr algn="just"/>
            <a:r>
              <a:rPr lang="en-US" b="1" dirty="0"/>
              <a:t>T</a:t>
            </a:r>
            <a:r>
              <a:rPr lang="en-US" b="1" baseline="-25000" dirty="0"/>
              <a:t>3</a:t>
            </a:r>
            <a:r>
              <a:rPr lang="en-US" b="1" dirty="0"/>
              <a:t> has read new value of </a:t>
            </a:r>
            <a:r>
              <a:rPr lang="en-US" b="1" dirty="0" err="1"/>
              <a:t>bal</a:t>
            </a:r>
            <a:r>
              <a:rPr lang="en-US" b="1" baseline="-25000" dirty="0" err="1"/>
              <a:t>x</a:t>
            </a:r>
            <a:r>
              <a:rPr lang="en-US" b="1" dirty="0"/>
              <a:t> (£200) and uses value as basis of £10 reduction, giving a new balance of £190, instead of £90.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Rectangle 2"/>
          <p:cNvSpPr>
            <a:spLocks noGrp="1" noChangeArrowheads="1"/>
          </p:cNvSpPr>
          <p:nvPr>
            <p:ph type="title"/>
          </p:nvPr>
        </p:nvSpPr>
        <p:spPr>
          <a:xfrm>
            <a:off x="2971801" y="274638"/>
            <a:ext cx="6219825" cy="1143000"/>
          </a:xfrm>
        </p:spPr>
        <p:txBody>
          <a:bodyPr/>
          <a:lstStyle/>
          <a:p>
            <a:pPr algn="just"/>
            <a:r>
              <a:rPr lang="en-US" sz="2900" dirty="0"/>
              <a:t>Inconsistent Analysis Problem</a:t>
            </a:r>
          </a:p>
        </p:txBody>
      </p:sp>
      <p:sp>
        <p:nvSpPr>
          <p:cNvPr id="257027" name="Rectangle 3"/>
          <p:cNvSpPr>
            <a:spLocks noGrp="1" noChangeArrowheads="1"/>
          </p:cNvSpPr>
          <p:nvPr>
            <p:ph idx="1"/>
          </p:nvPr>
        </p:nvSpPr>
        <p:spPr>
          <a:xfrm>
            <a:off x="2055813" y="1524000"/>
            <a:ext cx="8001000" cy="4267200"/>
          </a:xfrm>
        </p:spPr>
        <p:txBody>
          <a:bodyPr/>
          <a:lstStyle/>
          <a:p>
            <a:pPr algn="just"/>
            <a:r>
              <a:rPr lang="en-US" b="1" dirty="0"/>
              <a:t>Occurs when transaction reads several values but second transaction updates some of them during execution of first.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Sometimes referred to as </a:t>
            </a:r>
            <a:r>
              <a:rPr lang="en-US" b="1" i="1" dirty="0"/>
              <a:t>dirty read</a:t>
            </a:r>
            <a:r>
              <a:rPr lang="en-US" b="1" dirty="0"/>
              <a:t> or </a:t>
            </a:r>
            <a:r>
              <a:rPr lang="en-US" b="1" i="1" dirty="0"/>
              <a:t>unrepeatable read</a:t>
            </a:r>
            <a:r>
              <a:rPr lang="en-US" b="1" dirty="0"/>
              <a:t>. 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7027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Grp="1" noChangeArrowheads="1"/>
          </p:cNvSpPr>
          <p:nvPr>
            <p:ph type="title"/>
          </p:nvPr>
        </p:nvSpPr>
        <p:spPr>
          <a:xfrm>
            <a:off x="2863850" y="274638"/>
            <a:ext cx="5899150" cy="1143000"/>
          </a:xfrm>
        </p:spPr>
        <p:txBody>
          <a:bodyPr/>
          <a:lstStyle/>
          <a:p>
            <a:pPr algn="just"/>
            <a:r>
              <a:rPr lang="en-US" sz="2900" dirty="0"/>
              <a:t>Inconsistent Analysis Problem</a:t>
            </a:r>
            <a:endParaRPr lang="en-US" dirty="0"/>
          </a:p>
        </p:txBody>
      </p:sp>
      <p:sp>
        <p:nvSpPr>
          <p:cNvPr id="258051" name="Rectangle 3"/>
          <p:cNvSpPr>
            <a:spLocks noGrp="1" noChangeArrowheads="1"/>
          </p:cNvSpPr>
          <p:nvPr>
            <p:ph idx="1"/>
          </p:nvPr>
        </p:nvSpPr>
        <p:spPr>
          <a:xfrm>
            <a:off x="2057400" y="4953000"/>
            <a:ext cx="7854950" cy="838200"/>
          </a:xfrm>
        </p:spPr>
        <p:txBody>
          <a:bodyPr/>
          <a:lstStyle/>
          <a:p>
            <a:pPr algn="just"/>
            <a:r>
              <a:rPr lang="en-US" b="1"/>
              <a:t>Problem avoided by preventing T</a:t>
            </a:r>
            <a:r>
              <a:rPr lang="en-US" b="1" baseline="-25000"/>
              <a:t>6</a:t>
            </a:r>
            <a:r>
              <a:rPr lang="en-US" b="1"/>
              <a:t> from reading bal</a:t>
            </a:r>
            <a:r>
              <a:rPr lang="en-US" b="1" baseline="-25000"/>
              <a:t>x</a:t>
            </a:r>
            <a:r>
              <a:rPr lang="en-US" b="1"/>
              <a:t> and bal</a:t>
            </a:r>
            <a:r>
              <a:rPr lang="en-US" b="1" baseline="-25000"/>
              <a:t>z</a:t>
            </a:r>
            <a:r>
              <a:rPr lang="en-US" b="1"/>
              <a:t> until after T</a:t>
            </a:r>
            <a:r>
              <a:rPr lang="en-US" b="1" baseline="-25000"/>
              <a:t>5</a:t>
            </a:r>
            <a:r>
              <a:rPr lang="en-US" b="1"/>
              <a:t> completed updates.</a:t>
            </a:r>
          </a:p>
        </p:txBody>
      </p:sp>
      <p:pic>
        <p:nvPicPr>
          <p:cNvPr id="258052" name="Picture 4" descr="DS3-Figure 19-0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63750" y="1484312"/>
            <a:ext cx="8147050" cy="5065750"/>
          </a:xfrm>
          <a:prstGeom prst="rect">
            <a:avLst/>
          </a:prstGeom>
          <a:noFill/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8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8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8051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Inconsistent Analysis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 b="1" dirty="0"/>
              <a:t>T</a:t>
            </a:r>
            <a:r>
              <a:rPr lang="en-US" sz="2800" b="1" baseline="-25000" dirty="0"/>
              <a:t>6</a:t>
            </a:r>
            <a:r>
              <a:rPr lang="en-US" sz="2800" b="1" dirty="0"/>
              <a:t> is totaling balances of account x (£100), account y (£50), and account z (£25).</a:t>
            </a:r>
          </a:p>
          <a:p>
            <a:pPr algn="just"/>
            <a:r>
              <a:rPr lang="en-US" sz="2800" b="1" dirty="0"/>
              <a:t>Meantime, T</a:t>
            </a:r>
            <a:r>
              <a:rPr lang="en-US" sz="2800" b="1" baseline="-25000" dirty="0"/>
              <a:t>5</a:t>
            </a:r>
            <a:r>
              <a:rPr lang="en-US" sz="2800" b="1" dirty="0"/>
              <a:t> has transferred £10 from </a:t>
            </a:r>
            <a:r>
              <a:rPr lang="en-US" sz="2800" b="1" dirty="0" err="1"/>
              <a:t>bal</a:t>
            </a:r>
            <a:r>
              <a:rPr lang="en-US" sz="2800" b="1" baseline="-25000" dirty="0" err="1"/>
              <a:t>x</a:t>
            </a:r>
            <a:r>
              <a:rPr lang="en-US" sz="2800" b="1" dirty="0"/>
              <a:t> to </a:t>
            </a:r>
            <a:r>
              <a:rPr lang="en-US" sz="2800" b="1" dirty="0" err="1"/>
              <a:t>bal</a:t>
            </a:r>
            <a:r>
              <a:rPr lang="en-US" sz="2800" b="1" baseline="-25000" dirty="0" err="1"/>
              <a:t>z</a:t>
            </a:r>
            <a:r>
              <a:rPr lang="en-US" sz="2800" b="1" dirty="0"/>
              <a:t>, so T</a:t>
            </a:r>
            <a:r>
              <a:rPr lang="en-US" sz="2800" b="1" baseline="-25000" dirty="0"/>
              <a:t>6</a:t>
            </a:r>
            <a:r>
              <a:rPr lang="en-US" sz="2800" b="1" dirty="0"/>
              <a:t> now has wrong result (£10 too high).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2"/>
          <p:cNvSpPr>
            <a:spLocks noGrp="1" noChangeArrowheads="1"/>
          </p:cNvSpPr>
          <p:nvPr>
            <p:ph type="title"/>
          </p:nvPr>
        </p:nvSpPr>
        <p:spPr>
          <a:xfrm>
            <a:off x="2466976" y="274638"/>
            <a:ext cx="6219825" cy="1143000"/>
          </a:xfrm>
        </p:spPr>
        <p:txBody>
          <a:bodyPr/>
          <a:lstStyle/>
          <a:p>
            <a:pPr algn="just"/>
            <a:r>
              <a:rPr lang="en-US" sz="2900" dirty="0" err="1"/>
              <a:t>Serializability</a:t>
            </a:r>
            <a:endParaRPr lang="en-US" sz="2900" dirty="0"/>
          </a:p>
        </p:txBody>
      </p:sp>
      <p:sp>
        <p:nvSpPr>
          <p:cNvPr id="259075" name="Rectangle 3"/>
          <p:cNvSpPr>
            <a:spLocks noGrp="1" noChangeArrowheads="1"/>
          </p:cNvSpPr>
          <p:nvPr>
            <p:ph idx="1"/>
          </p:nvPr>
        </p:nvSpPr>
        <p:spPr>
          <a:xfrm>
            <a:off x="2058988" y="1557338"/>
            <a:ext cx="7924800" cy="4114800"/>
          </a:xfrm>
        </p:spPr>
        <p:txBody>
          <a:bodyPr/>
          <a:lstStyle/>
          <a:p>
            <a:pPr algn="just"/>
            <a:r>
              <a:rPr lang="en-US" sz="2800" b="1" dirty="0"/>
              <a:t>Objective of a concurrency control protocol is to schedule transactions in such a way as to avoid any interference. </a:t>
            </a:r>
          </a:p>
          <a:p>
            <a:pPr algn="just"/>
            <a:r>
              <a:rPr lang="en-US" sz="2800" b="1" dirty="0"/>
              <a:t>Could run transactions serially, but this limits degree of concurrency or parallelism in system.</a:t>
            </a:r>
          </a:p>
          <a:p>
            <a:pPr algn="just"/>
            <a:r>
              <a:rPr lang="en-US" sz="2800" b="1" dirty="0" err="1"/>
              <a:t>Serializability</a:t>
            </a:r>
            <a:r>
              <a:rPr lang="en-US" sz="2800" b="1" dirty="0"/>
              <a:t> identifies those executions of transactions guaranteed to ensure consistency.</a:t>
            </a:r>
          </a:p>
        </p:txBody>
      </p:sp>
    </p:spTree>
  </p:cSld>
  <p:clrMapOvr>
    <a:masterClrMapping/>
  </p:clrMapOvr>
  <p:transition>
    <p:wipe dir="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sz="2900" dirty="0" err="1"/>
              <a:t>Serializability</a:t>
            </a:r>
            <a:endParaRPr lang="en-US" sz="2900" dirty="0"/>
          </a:p>
        </p:txBody>
      </p:sp>
      <p:sp>
        <p:nvSpPr>
          <p:cNvPr id="260099" name="Rectangle 3"/>
          <p:cNvSpPr>
            <a:spLocks noGrp="1" noChangeArrowheads="1"/>
          </p:cNvSpPr>
          <p:nvPr>
            <p:ph idx="1"/>
          </p:nvPr>
        </p:nvSpPr>
        <p:spPr>
          <a:xfrm>
            <a:off x="2051050" y="1524000"/>
            <a:ext cx="8077200" cy="4495800"/>
          </a:xfrm>
        </p:spPr>
        <p:txBody>
          <a:bodyPr/>
          <a:lstStyle/>
          <a:p>
            <a:pPr lvl="1" algn="just">
              <a:lnSpc>
                <a:spcPct val="90000"/>
              </a:lnSpc>
              <a:buFontTx/>
              <a:buNone/>
            </a:pPr>
            <a:r>
              <a:rPr lang="en-US" b="1" u="sng" dirty="0"/>
              <a:t>Schedule</a:t>
            </a:r>
            <a:endParaRPr lang="en-US" b="1" dirty="0"/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US" b="1" dirty="0"/>
              <a:t>	Sequence of reads/writes by set of concurrent transactions. </a:t>
            </a:r>
          </a:p>
          <a:p>
            <a:pPr algn="just">
              <a:lnSpc>
                <a:spcPct val="0"/>
              </a:lnSpc>
              <a:buFont typeface="Monotype Sorts" pitchFamily="2" charset="2"/>
              <a:buNone/>
            </a:pPr>
            <a:endParaRPr lang="en-US" sz="2800" b="1" dirty="0"/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US" b="1" u="sng" dirty="0"/>
              <a:t>Serial Schedule</a:t>
            </a:r>
            <a:endParaRPr lang="en-US" b="1" dirty="0"/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US" b="1" dirty="0"/>
              <a:t>	Schedule where operations of each transaction are executed one after the other without any interleaved operations from other transactions. </a:t>
            </a:r>
          </a:p>
          <a:p>
            <a:pPr algn="just">
              <a:lnSpc>
                <a:spcPct val="20000"/>
              </a:lnSpc>
              <a:buFont typeface="Monotype Sorts" pitchFamily="2" charset="2"/>
              <a:buNone/>
            </a:pPr>
            <a:endParaRPr lang="en-US" sz="2800" b="1" dirty="0"/>
          </a:p>
        </p:txBody>
      </p:sp>
    </p:spTree>
  </p:cSld>
  <p:clrMapOvr>
    <a:masterClrMapping/>
  </p:clrMapOvr>
  <p:transition>
    <p:wipe dir="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sz="2800" dirty="0" err="1"/>
              <a:t>Nonserial</a:t>
            </a:r>
            <a:r>
              <a:rPr lang="en-US" sz="2800" dirty="0"/>
              <a:t> Schedule</a:t>
            </a:r>
          </a:p>
        </p:txBody>
      </p:sp>
      <p:sp>
        <p:nvSpPr>
          <p:cNvPr id="261123" name="Rectangle 3"/>
          <p:cNvSpPr>
            <a:spLocks noGrp="1" noChangeArrowheads="1"/>
          </p:cNvSpPr>
          <p:nvPr>
            <p:ph idx="1"/>
          </p:nvPr>
        </p:nvSpPr>
        <p:spPr>
          <a:xfrm>
            <a:off x="2055813" y="1557338"/>
            <a:ext cx="8001000" cy="4114800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US" sz="2800" b="1" dirty="0"/>
              <a:t>Schedule where operations from set of concurrent transactions are interleaved.</a:t>
            </a:r>
          </a:p>
          <a:p>
            <a:pPr algn="just">
              <a:lnSpc>
                <a:spcPct val="10000"/>
              </a:lnSpc>
            </a:pPr>
            <a:endParaRPr lang="en-US" sz="2800" b="1" dirty="0"/>
          </a:p>
          <a:p>
            <a:pPr algn="just">
              <a:lnSpc>
                <a:spcPct val="90000"/>
              </a:lnSpc>
            </a:pPr>
            <a:r>
              <a:rPr lang="en-US" sz="2800" b="1" dirty="0"/>
              <a:t>Objective of </a:t>
            </a:r>
            <a:r>
              <a:rPr lang="en-US" sz="2800" b="1" dirty="0" err="1"/>
              <a:t>serializability</a:t>
            </a:r>
            <a:r>
              <a:rPr lang="en-US" sz="2800" b="1" dirty="0"/>
              <a:t> is to find </a:t>
            </a:r>
            <a:r>
              <a:rPr lang="en-US" sz="2800" b="1" dirty="0" err="1"/>
              <a:t>nonserial</a:t>
            </a:r>
            <a:r>
              <a:rPr lang="en-US" sz="2800" b="1" dirty="0"/>
              <a:t> schedules that allow transactions to execute concurrently without interfering with one another.</a:t>
            </a:r>
          </a:p>
          <a:p>
            <a:pPr algn="just">
              <a:lnSpc>
                <a:spcPct val="10000"/>
              </a:lnSpc>
            </a:pPr>
            <a:endParaRPr lang="en-US" sz="2800" b="1" dirty="0"/>
          </a:p>
          <a:p>
            <a:pPr algn="just">
              <a:lnSpc>
                <a:spcPct val="90000"/>
              </a:lnSpc>
            </a:pPr>
            <a:r>
              <a:rPr lang="en-US" sz="2800" b="1" dirty="0"/>
              <a:t>In other words, want to find </a:t>
            </a:r>
            <a:r>
              <a:rPr lang="en-US" sz="2800" b="1" dirty="0" err="1"/>
              <a:t>nonserial</a:t>
            </a:r>
            <a:r>
              <a:rPr lang="en-US" sz="2800" b="1" dirty="0"/>
              <a:t> schedules that are equivalent to </a:t>
            </a:r>
            <a:r>
              <a:rPr lang="en-US" sz="2800" b="1" i="1" dirty="0"/>
              <a:t>some</a:t>
            </a:r>
            <a:r>
              <a:rPr lang="en-US" sz="2800" b="1" dirty="0"/>
              <a:t> serial schedule. Such a schedule is called </a:t>
            </a:r>
            <a:r>
              <a:rPr lang="en-US" sz="2800" b="1" i="1" dirty="0" err="1"/>
              <a:t>serializable</a:t>
            </a:r>
            <a:r>
              <a:rPr lang="en-US" sz="2800" b="1" dirty="0"/>
              <a:t>. </a:t>
            </a:r>
            <a:endParaRPr lang="en-US" sz="2800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524000" y="6356351"/>
            <a:ext cx="2133600" cy="365125"/>
          </a:xfrm>
          <a:prstGeom prst="rect">
            <a:avLst/>
          </a:prstGeom>
        </p:spPr>
        <p:txBody>
          <a:bodyPr/>
          <a:lstStyle/>
          <a:p>
            <a:fld id="{63E1F133-B896-4D0A-B9A9-DC6D48EFA907}" type="slidenum">
              <a:rPr lang="en-GB"/>
              <a:pPr/>
              <a:t>21</a:t>
            </a:fld>
            <a:endParaRPr lang="en-GB"/>
          </a:p>
        </p:txBody>
      </p:sp>
    </p:spTree>
  </p:cSld>
  <p:clrMapOvr>
    <a:masterClrMapping/>
  </p:clrMapOvr>
  <p:transition>
    <p:wipe dir="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sz="2900"/>
              <a:t>Serializability</a:t>
            </a:r>
          </a:p>
        </p:txBody>
      </p:sp>
      <p:sp>
        <p:nvSpPr>
          <p:cNvPr id="262147" name="Rectangle 3"/>
          <p:cNvSpPr>
            <a:spLocks noGrp="1" noChangeArrowheads="1"/>
          </p:cNvSpPr>
          <p:nvPr>
            <p:ph idx="1"/>
          </p:nvPr>
        </p:nvSpPr>
        <p:spPr>
          <a:xfrm>
            <a:off x="2058988" y="1557338"/>
            <a:ext cx="7924800" cy="4343400"/>
          </a:xfrm>
        </p:spPr>
        <p:txBody>
          <a:bodyPr/>
          <a:lstStyle/>
          <a:p>
            <a:pPr marL="476250" indent="-476250" algn="just">
              <a:lnSpc>
                <a:spcPct val="90000"/>
              </a:lnSpc>
            </a:pPr>
            <a:r>
              <a:rPr lang="en-US" sz="2800" b="1" dirty="0"/>
              <a:t>In </a:t>
            </a:r>
            <a:r>
              <a:rPr lang="en-US" sz="2800" b="1" dirty="0" err="1"/>
              <a:t>serializability</a:t>
            </a:r>
            <a:r>
              <a:rPr lang="en-US" sz="2800" b="1" dirty="0"/>
              <a:t>, ordering of read/writes is important:</a:t>
            </a:r>
          </a:p>
          <a:p>
            <a:pPr marL="476250" indent="-476250" algn="just">
              <a:lnSpc>
                <a:spcPct val="90000"/>
              </a:lnSpc>
              <a:buNone/>
            </a:pPr>
            <a:r>
              <a:rPr lang="en-US" sz="2800" b="1" dirty="0"/>
              <a:t>(a)  If two transactions only read a data item, they do not conflict and order is not important.</a:t>
            </a:r>
          </a:p>
          <a:p>
            <a:pPr marL="476250" indent="-476250">
              <a:lnSpc>
                <a:spcPct val="90000"/>
              </a:lnSpc>
              <a:buNone/>
            </a:pPr>
            <a:r>
              <a:rPr lang="en-US" sz="2800" b="1" dirty="0"/>
              <a:t>(b)  If two transactions either read or write completely separate data items, they do not conflict and order is not important.</a:t>
            </a:r>
          </a:p>
          <a:p>
            <a:pPr marL="476250" indent="-476250" algn="just">
              <a:lnSpc>
                <a:spcPct val="90000"/>
              </a:lnSpc>
              <a:buNone/>
            </a:pPr>
            <a:r>
              <a:rPr lang="en-US" sz="2800" b="1" dirty="0"/>
              <a:t>(c) If one transaction writes a data item and another reads or writes same data item, order of execution is important.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524000" y="6356351"/>
            <a:ext cx="2133600" cy="365125"/>
          </a:xfrm>
          <a:prstGeom prst="rect">
            <a:avLst/>
          </a:prstGeom>
        </p:spPr>
        <p:txBody>
          <a:bodyPr/>
          <a:lstStyle/>
          <a:p>
            <a:fld id="{5BB17D4B-4975-4F6C-A6BC-E861A3CEC727}" type="slidenum">
              <a:rPr lang="en-GB"/>
              <a:pPr/>
              <a:t>22</a:t>
            </a:fld>
            <a:endParaRPr lang="en-GB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2147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900" dirty="0"/>
              <a:t>Example of Conflict </a:t>
            </a:r>
            <a:r>
              <a:rPr lang="en-US" sz="2900" dirty="0" err="1"/>
              <a:t>Serializability</a:t>
            </a:r>
            <a:endParaRPr lang="en-US" dirty="0"/>
          </a:p>
        </p:txBody>
      </p:sp>
      <p:pic>
        <p:nvPicPr>
          <p:cNvPr id="263172" name="Picture 4" descr="DS3-Figure 19-0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92313" y="1557338"/>
            <a:ext cx="8064500" cy="4032250"/>
          </a:xfrm>
          <a:prstGeom prst="rect">
            <a:avLst/>
          </a:prstGeom>
          <a:noFill/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3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sz="2900"/>
              <a:t>Serializability</a:t>
            </a:r>
            <a:endParaRPr lang="en-US" b="1"/>
          </a:p>
        </p:txBody>
      </p:sp>
      <p:sp>
        <p:nvSpPr>
          <p:cNvPr id="264195" name="Rectangle 3"/>
          <p:cNvSpPr>
            <a:spLocks noGrp="1" noChangeArrowheads="1"/>
          </p:cNvSpPr>
          <p:nvPr>
            <p:ph idx="1"/>
          </p:nvPr>
        </p:nvSpPr>
        <p:spPr>
          <a:xfrm>
            <a:off x="2055813" y="1557338"/>
            <a:ext cx="8001000" cy="4114800"/>
          </a:xfrm>
        </p:spPr>
        <p:txBody>
          <a:bodyPr/>
          <a:lstStyle/>
          <a:p>
            <a:pPr algn="just"/>
            <a:r>
              <a:rPr lang="en-US" b="1" dirty="0"/>
              <a:t>Conflict </a:t>
            </a:r>
            <a:r>
              <a:rPr lang="en-US" b="1" dirty="0" err="1"/>
              <a:t>serializable</a:t>
            </a:r>
            <a:r>
              <a:rPr lang="en-US" b="1" dirty="0"/>
              <a:t> schedule orders any conflicting operations in same way as some serial execution.</a:t>
            </a:r>
            <a:r>
              <a:rPr lang="en-US" dirty="0"/>
              <a:t> </a:t>
            </a:r>
            <a:endParaRPr lang="en-US" b="1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195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sz="2900" dirty="0"/>
              <a:t>Concurrency Control Techniques</a:t>
            </a:r>
          </a:p>
        </p:txBody>
      </p:sp>
      <p:sp>
        <p:nvSpPr>
          <p:cNvPr id="273411" name="Rectangle 3"/>
          <p:cNvSpPr>
            <a:spLocks noGrp="1" noChangeArrowheads="1"/>
          </p:cNvSpPr>
          <p:nvPr>
            <p:ph idx="1"/>
          </p:nvPr>
        </p:nvSpPr>
        <p:spPr>
          <a:xfrm>
            <a:off x="2057400" y="1557338"/>
            <a:ext cx="8001000" cy="4114800"/>
          </a:xfrm>
        </p:spPr>
        <p:txBody>
          <a:bodyPr/>
          <a:lstStyle/>
          <a:p>
            <a:pPr algn="just"/>
            <a:r>
              <a:rPr lang="en-US" sz="2800" b="1" dirty="0"/>
              <a:t>Two basic concurrency control techniques:</a:t>
            </a:r>
          </a:p>
          <a:p>
            <a:pPr lvl="1" algn="just"/>
            <a:r>
              <a:rPr lang="en-US" b="1" dirty="0"/>
              <a:t>	 Locking,</a:t>
            </a:r>
          </a:p>
          <a:p>
            <a:pPr lvl="1" algn="just"/>
            <a:r>
              <a:rPr lang="en-US" b="1" dirty="0"/>
              <a:t>	 </a:t>
            </a:r>
            <a:r>
              <a:rPr lang="en-US" b="1" dirty="0" err="1"/>
              <a:t>Timestamping</a:t>
            </a:r>
            <a:r>
              <a:rPr lang="en-US" b="1" dirty="0"/>
              <a:t>.</a:t>
            </a:r>
          </a:p>
          <a:p>
            <a:pPr algn="just"/>
            <a:r>
              <a:rPr lang="en-US" sz="2800" b="1" dirty="0"/>
              <a:t>Both are conservative approaches: delay transactions in case they conflict with other transactions. </a:t>
            </a:r>
          </a:p>
          <a:p>
            <a:pPr algn="just"/>
            <a:r>
              <a:rPr lang="en-US" sz="2800" b="1" dirty="0"/>
              <a:t>Optimistic methods assume conflict is rare and only check for conflicts at commit.</a:t>
            </a:r>
            <a:endParaRPr lang="en-US" sz="2800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772400" y="6623050"/>
            <a:ext cx="2895600" cy="234950"/>
          </a:xfrm>
          <a:prstGeom prst="rect">
            <a:avLst/>
          </a:prstGeom>
        </p:spPr>
        <p:txBody>
          <a:bodyPr/>
          <a:lstStyle/>
          <a:p>
            <a:fld id="{5CB58625-F267-48FD-B42F-D6FE68F81EC0}" type="slidenum">
              <a:rPr lang="en-GB"/>
              <a:pPr/>
              <a:t>25</a:t>
            </a:fld>
            <a:endParaRPr lang="en-GB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3411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sz="2900"/>
              <a:t>Locking</a:t>
            </a:r>
          </a:p>
        </p:txBody>
      </p:sp>
      <p:sp>
        <p:nvSpPr>
          <p:cNvPr id="274435" name="Rectangle 3"/>
          <p:cNvSpPr>
            <a:spLocks noGrp="1" noChangeArrowheads="1"/>
          </p:cNvSpPr>
          <p:nvPr>
            <p:ph idx="1"/>
          </p:nvPr>
        </p:nvSpPr>
        <p:spPr>
          <a:xfrm>
            <a:off x="2046288" y="1557338"/>
            <a:ext cx="8153400" cy="4114800"/>
          </a:xfrm>
        </p:spPr>
        <p:txBody>
          <a:bodyPr/>
          <a:lstStyle/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lang="en-US" sz="2800" b="1" dirty="0"/>
              <a:t>	Transaction uses locks to deny access to other transactions and so prevent incorrect updates.</a:t>
            </a:r>
          </a:p>
          <a:p>
            <a:pPr algn="just">
              <a:lnSpc>
                <a:spcPct val="20000"/>
              </a:lnSpc>
              <a:buFont typeface="Monotype Sorts" pitchFamily="2" charset="2"/>
              <a:buNone/>
            </a:pPr>
            <a:endParaRPr lang="en-US" sz="2800" b="1" dirty="0"/>
          </a:p>
          <a:p>
            <a:pPr algn="just">
              <a:lnSpc>
                <a:spcPct val="90000"/>
              </a:lnSpc>
            </a:pPr>
            <a:r>
              <a:rPr lang="en-US" sz="2800" b="1" dirty="0"/>
              <a:t>Most widely used approach to ensure </a:t>
            </a:r>
            <a:r>
              <a:rPr lang="en-US" sz="2800" b="1" dirty="0" err="1"/>
              <a:t>serializability</a:t>
            </a:r>
            <a:r>
              <a:rPr lang="en-US" sz="2800" b="1" dirty="0"/>
              <a:t>.</a:t>
            </a:r>
          </a:p>
          <a:p>
            <a:pPr algn="just">
              <a:lnSpc>
                <a:spcPct val="90000"/>
              </a:lnSpc>
            </a:pPr>
            <a:r>
              <a:rPr lang="en-US" sz="2800" b="1" dirty="0"/>
              <a:t>Generally, a transaction must claim a </a:t>
            </a:r>
            <a:r>
              <a:rPr lang="en-US" sz="2800" b="1" i="1" dirty="0"/>
              <a:t>shared </a:t>
            </a:r>
            <a:r>
              <a:rPr lang="en-US" sz="2800" b="1" dirty="0"/>
              <a:t>(</a:t>
            </a:r>
            <a:r>
              <a:rPr lang="en-US" sz="2800" b="1" i="1" dirty="0"/>
              <a:t>read</a:t>
            </a:r>
            <a:r>
              <a:rPr lang="en-US" sz="2800" b="1" dirty="0"/>
              <a:t>) or </a:t>
            </a:r>
            <a:r>
              <a:rPr lang="en-US" sz="2800" b="1" i="1" dirty="0"/>
              <a:t>exclusive </a:t>
            </a:r>
            <a:r>
              <a:rPr lang="en-US" sz="2800" b="1" dirty="0"/>
              <a:t>(</a:t>
            </a:r>
            <a:r>
              <a:rPr lang="en-US" sz="2800" b="1" i="1" dirty="0"/>
              <a:t>write</a:t>
            </a:r>
            <a:r>
              <a:rPr lang="en-US" sz="2800" b="1" dirty="0"/>
              <a:t>) lock on a data item before read or write. </a:t>
            </a:r>
          </a:p>
          <a:p>
            <a:pPr algn="just">
              <a:lnSpc>
                <a:spcPct val="90000"/>
              </a:lnSpc>
            </a:pPr>
            <a:r>
              <a:rPr lang="en-US" sz="2800" b="1" dirty="0"/>
              <a:t>Lock prevents another transaction from modifying item or even reading it, in the case of a write lock. 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772400" y="6623050"/>
            <a:ext cx="2895600" cy="234950"/>
          </a:xfrm>
          <a:prstGeom prst="rect">
            <a:avLst/>
          </a:prstGeom>
        </p:spPr>
        <p:txBody>
          <a:bodyPr/>
          <a:lstStyle/>
          <a:p>
            <a:fld id="{91A29872-F66F-412A-A0CA-DAE4130221A1}" type="slidenum">
              <a:rPr lang="en-GB"/>
              <a:pPr/>
              <a:t>26</a:t>
            </a:fld>
            <a:endParaRPr lang="en-GB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435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sz="2900"/>
              <a:t>Locking - Basic Rules</a:t>
            </a:r>
            <a:endParaRPr lang="en-US" b="1"/>
          </a:p>
        </p:txBody>
      </p:sp>
      <p:sp>
        <p:nvSpPr>
          <p:cNvPr id="275459" name="Rectangle 3"/>
          <p:cNvSpPr>
            <a:spLocks noGrp="1" noChangeArrowheads="1"/>
          </p:cNvSpPr>
          <p:nvPr>
            <p:ph idx="1"/>
          </p:nvPr>
        </p:nvSpPr>
        <p:spPr>
          <a:xfrm>
            <a:off x="2046288" y="1557338"/>
            <a:ext cx="8153400" cy="4114800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US" b="1" dirty="0"/>
              <a:t>If transaction has shared lock on item, can read but not update item.</a:t>
            </a:r>
          </a:p>
          <a:p>
            <a:pPr algn="just">
              <a:lnSpc>
                <a:spcPct val="90000"/>
              </a:lnSpc>
            </a:pPr>
            <a:r>
              <a:rPr lang="en-US" b="1" dirty="0"/>
              <a:t>If transaction has exclusive lock on item, it can read and update item.</a:t>
            </a:r>
          </a:p>
          <a:p>
            <a:pPr algn="just">
              <a:lnSpc>
                <a:spcPct val="90000"/>
              </a:lnSpc>
            </a:pPr>
            <a:r>
              <a:rPr lang="en-US" b="1" dirty="0"/>
              <a:t>Reads cannot conflict, so more than one transaction can hold shared locks concurrently on same item. </a:t>
            </a:r>
          </a:p>
          <a:p>
            <a:pPr algn="just">
              <a:lnSpc>
                <a:spcPct val="90000"/>
              </a:lnSpc>
            </a:pPr>
            <a:r>
              <a:rPr lang="en-US" b="1" dirty="0"/>
              <a:t>Exclusive lock gives transaction exclusive access to that item.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772400" y="6623050"/>
            <a:ext cx="2895600" cy="234950"/>
          </a:xfrm>
          <a:prstGeom prst="rect">
            <a:avLst/>
          </a:prstGeom>
        </p:spPr>
        <p:txBody>
          <a:bodyPr/>
          <a:lstStyle/>
          <a:p>
            <a:fld id="{8AF811D1-1ABA-4DAF-AFA3-96EE4C11B3FC}" type="slidenum">
              <a:rPr lang="en-GB"/>
              <a:pPr/>
              <a:t>27</a:t>
            </a:fld>
            <a:endParaRPr lang="en-GB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459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sz="2900" dirty="0"/>
              <a:t>Locking - Basic Rules</a:t>
            </a:r>
            <a:endParaRPr lang="en-US" b="1" dirty="0"/>
          </a:p>
        </p:txBody>
      </p:sp>
      <p:sp>
        <p:nvSpPr>
          <p:cNvPr id="276483" name="Rectangle 3"/>
          <p:cNvSpPr>
            <a:spLocks noGrp="1" noChangeArrowheads="1"/>
          </p:cNvSpPr>
          <p:nvPr>
            <p:ph idx="1"/>
          </p:nvPr>
        </p:nvSpPr>
        <p:spPr>
          <a:xfrm>
            <a:off x="2051050" y="1557338"/>
            <a:ext cx="8077200" cy="4114800"/>
          </a:xfrm>
        </p:spPr>
        <p:txBody>
          <a:bodyPr/>
          <a:lstStyle/>
          <a:p>
            <a:pPr algn="just"/>
            <a:r>
              <a:rPr lang="en-US" b="1"/>
              <a:t>Some systems allow transaction to upgrade read lock to an exclusive lock, or downgrade exclusive lock to a shared lock.</a:t>
            </a:r>
            <a:endParaRPr lang="en-US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772400" y="6623050"/>
            <a:ext cx="2895600" cy="234950"/>
          </a:xfrm>
          <a:prstGeom prst="rect">
            <a:avLst/>
          </a:prstGeom>
        </p:spPr>
        <p:txBody>
          <a:bodyPr/>
          <a:lstStyle/>
          <a:p>
            <a:fld id="{93754D96-8B45-4EBA-B314-F8AE9D84DD00}" type="slidenum">
              <a:rPr lang="en-GB"/>
              <a:pPr/>
              <a:t>28</a:t>
            </a:fld>
            <a:endParaRPr lang="en-GB"/>
          </a:p>
        </p:txBody>
      </p:sp>
    </p:spTree>
  </p:cSld>
  <p:clrMapOvr>
    <a:masterClrMapping/>
  </p:clrMapOvr>
  <p:transition>
    <p:wipe dir="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47"/>
          <p:cNvSpPr>
            <a:spLocks noGrp="1" noChangeArrowheads="1"/>
          </p:cNvSpPr>
          <p:nvPr>
            <p:ph type="title"/>
          </p:nvPr>
        </p:nvSpPr>
        <p:spPr>
          <a:xfrm>
            <a:off x="2386014" y="152400"/>
            <a:ext cx="6757987" cy="1143000"/>
          </a:xfrm>
          <a:noFill/>
        </p:spPr>
        <p:txBody>
          <a:bodyPr/>
          <a:lstStyle/>
          <a:p>
            <a:pPr eaLnBrk="1" hangingPunct="1"/>
            <a:r>
              <a:rPr lang="en-GB" dirty="0"/>
              <a:t>Locking</a:t>
            </a:r>
          </a:p>
        </p:txBody>
      </p:sp>
      <p:graphicFrame>
        <p:nvGraphicFramePr>
          <p:cNvPr id="166960" name="Group 48"/>
          <p:cNvGraphicFramePr>
            <a:graphicFrameLocks noGrp="1"/>
          </p:cNvGraphicFramePr>
          <p:nvPr/>
        </p:nvGraphicFramePr>
        <p:xfrm>
          <a:off x="4138613" y="1730375"/>
          <a:ext cx="4030662" cy="2762250"/>
        </p:xfrm>
        <a:graphic>
          <a:graphicData uri="http://schemas.openxmlformats.org/drawingml/2006/table">
            <a:tbl>
              <a:tblPr/>
              <a:tblGrid>
                <a:gridCol w="1427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06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28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20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0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0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597" name="Line 66"/>
          <p:cNvSpPr>
            <a:spLocks noChangeShapeType="1"/>
          </p:cNvSpPr>
          <p:nvPr/>
        </p:nvSpPr>
        <p:spPr bwMode="auto">
          <a:xfrm>
            <a:off x="4138613" y="1730375"/>
            <a:ext cx="1427162" cy="920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98" name="Text Box 67"/>
          <p:cNvSpPr txBox="1">
            <a:spLocks noChangeArrowheads="1"/>
          </p:cNvSpPr>
          <p:nvPr/>
        </p:nvSpPr>
        <p:spPr bwMode="auto">
          <a:xfrm>
            <a:off x="4278314" y="2136776"/>
            <a:ext cx="3571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GB"/>
              <a:t>T</a:t>
            </a:r>
            <a:r>
              <a:rPr lang="en-GB" baseline="-25000"/>
              <a:t>i</a:t>
            </a:r>
          </a:p>
        </p:txBody>
      </p:sp>
      <p:sp>
        <p:nvSpPr>
          <p:cNvPr id="24599" name="Text Box 68"/>
          <p:cNvSpPr txBox="1">
            <a:spLocks noChangeArrowheads="1"/>
          </p:cNvSpPr>
          <p:nvPr/>
        </p:nvSpPr>
        <p:spPr bwMode="auto">
          <a:xfrm>
            <a:off x="5002214" y="1844676"/>
            <a:ext cx="3571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GB"/>
              <a:t>T</a:t>
            </a:r>
            <a:r>
              <a:rPr lang="en-GB" baseline="-25000"/>
              <a:t>j</a:t>
            </a:r>
          </a:p>
        </p:txBody>
      </p:sp>
      <p:sp>
        <p:nvSpPr>
          <p:cNvPr id="24600" name="Text Box 69"/>
          <p:cNvSpPr txBox="1">
            <a:spLocks noChangeArrowheads="1"/>
          </p:cNvSpPr>
          <p:nvPr/>
        </p:nvSpPr>
        <p:spPr bwMode="auto">
          <a:xfrm>
            <a:off x="2130426" y="5024438"/>
            <a:ext cx="48609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buFontTx/>
              <a:buChar char="•"/>
            </a:pPr>
            <a:r>
              <a:rPr lang="en-GB"/>
              <a:t>   Locks must be held for a duration of access</a:t>
            </a:r>
          </a:p>
        </p:txBody>
      </p:sp>
    </p:spTree>
  </p:cSld>
  <p:clrMapOvr>
    <a:masterClrMapping/>
  </p:clrMapOvr>
  <p:transition advTm="270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sz="2900" dirty="0"/>
              <a:t>Two-Phase Locking (2PL)</a:t>
            </a:r>
            <a:endParaRPr lang="en-US" dirty="0"/>
          </a:p>
        </p:txBody>
      </p:sp>
      <p:sp>
        <p:nvSpPr>
          <p:cNvPr id="280579" name="Rectangle 3"/>
          <p:cNvSpPr>
            <a:spLocks noGrp="1" noChangeArrowheads="1"/>
          </p:cNvSpPr>
          <p:nvPr>
            <p:ph idx="1"/>
          </p:nvPr>
        </p:nvSpPr>
        <p:spPr>
          <a:xfrm>
            <a:off x="2057400" y="1557338"/>
            <a:ext cx="7727950" cy="4114800"/>
          </a:xfrm>
        </p:spPr>
        <p:txBody>
          <a:bodyPr/>
          <a:lstStyle/>
          <a:p>
            <a:pPr algn="just">
              <a:buFont typeface="Monotype Sorts" pitchFamily="2" charset="2"/>
              <a:buNone/>
            </a:pPr>
            <a:r>
              <a:rPr lang="en-US" b="1" dirty="0"/>
              <a:t>	Transaction follows 2PL protocol if all locking operations precede first unlock operation in the transaction. </a:t>
            </a:r>
          </a:p>
          <a:p>
            <a:pPr algn="just">
              <a:lnSpc>
                <a:spcPct val="50000"/>
              </a:lnSpc>
              <a:buFont typeface="Monotype Sorts" pitchFamily="2" charset="2"/>
              <a:buNone/>
            </a:pPr>
            <a:endParaRPr lang="en-US" b="1" dirty="0"/>
          </a:p>
          <a:p>
            <a:pPr algn="just"/>
            <a:r>
              <a:rPr lang="en-US" b="1" dirty="0"/>
              <a:t>Two phases for transaction:</a:t>
            </a:r>
          </a:p>
          <a:p>
            <a:pPr lvl="1" algn="just"/>
            <a:r>
              <a:rPr lang="en-US" b="1" dirty="0"/>
              <a:t>Growing phase - acquires all locks but cannot release any locks.</a:t>
            </a:r>
          </a:p>
          <a:p>
            <a:pPr lvl="1" algn="just"/>
            <a:r>
              <a:rPr lang="en-US" b="1" dirty="0"/>
              <a:t>Shrinking phase - releases locks but cannot acquire any new locks. 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772400" y="6623050"/>
            <a:ext cx="2895600" cy="234950"/>
          </a:xfrm>
          <a:prstGeom prst="rect">
            <a:avLst/>
          </a:prstGeom>
        </p:spPr>
        <p:txBody>
          <a:bodyPr/>
          <a:lstStyle/>
          <a:p>
            <a:fld id="{799DEECD-B575-453C-B0A5-985BD0E6CA8D}" type="slidenum">
              <a:rPr lang="en-GB"/>
              <a:pPr/>
              <a:t>30</a:t>
            </a:fld>
            <a:endParaRPr lang="en-GB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4"/>
          <p:cNvSpPr>
            <a:spLocks noGrp="1" noChangeArrowheads="1"/>
          </p:cNvSpPr>
          <p:nvPr>
            <p:ph type="title"/>
          </p:nvPr>
        </p:nvSpPr>
        <p:spPr>
          <a:xfrm>
            <a:off x="1624013" y="38100"/>
            <a:ext cx="7772400" cy="1143000"/>
          </a:xfrm>
          <a:noFill/>
        </p:spPr>
        <p:txBody>
          <a:bodyPr/>
          <a:lstStyle/>
          <a:p>
            <a:r>
              <a:rPr lang="en-US" sz="2900" dirty="0"/>
              <a:t>Two-Phase Locking (2PL)</a:t>
            </a:r>
          </a:p>
        </p:txBody>
      </p:sp>
      <p:sp>
        <p:nvSpPr>
          <p:cNvPr id="29699" name="Rectangle 5"/>
          <p:cNvSpPr>
            <a:spLocks noGrp="1" noChangeArrowheads="1"/>
          </p:cNvSpPr>
          <p:nvPr>
            <p:ph idx="1"/>
          </p:nvPr>
        </p:nvSpPr>
        <p:spPr>
          <a:xfrm>
            <a:off x="1716089" y="1122363"/>
            <a:ext cx="8423275" cy="3200400"/>
          </a:xfrm>
          <a:noFill/>
        </p:spPr>
        <p:txBody>
          <a:bodyPr/>
          <a:lstStyle/>
          <a:p>
            <a:pPr eaLnBrk="1" hangingPunct="1"/>
            <a:r>
              <a:rPr lang="en-US"/>
              <a:t>The protocol has a </a:t>
            </a:r>
            <a:r>
              <a:rPr lang="en-US" b="1" i="1"/>
              <a:t>growing</a:t>
            </a:r>
            <a:r>
              <a:rPr lang="en-US"/>
              <a:t> phase and a </a:t>
            </a:r>
            <a:r>
              <a:rPr lang="en-US" b="1" i="1"/>
              <a:t>shrinking </a:t>
            </a:r>
            <a:r>
              <a:rPr lang="en-US"/>
              <a:t>phase</a:t>
            </a:r>
          </a:p>
          <a:p>
            <a:pPr eaLnBrk="1" hangingPunct="1"/>
            <a:r>
              <a:rPr lang="en-US"/>
              <a:t>Ensures serialisability, but not the freedom from deadlocks</a:t>
            </a:r>
          </a:p>
          <a:p>
            <a:pPr eaLnBrk="1" hangingPunct="1"/>
            <a:r>
              <a:rPr lang="en-US"/>
              <a:t>May seriously reduce parallelism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2438400" y="3844926"/>
            <a:ext cx="6877050" cy="2398713"/>
            <a:chOff x="488" y="2582"/>
            <a:chExt cx="4332" cy="1511"/>
          </a:xfrm>
        </p:grpSpPr>
        <p:sp>
          <p:nvSpPr>
            <p:cNvPr id="29701" name="Line 7"/>
            <p:cNvSpPr>
              <a:spLocks noChangeShapeType="1"/>
            </p:cNvSpPr>
            <p:nvPr/>
          </p:nvSpPr>
          <p:spPr bwMode="auto">
            <a:xfrm>
              <a:off x="1443" y="2933"/>
              <a:ext cx="0" cy="11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02" name="Line 8"/>
            <p:cNvSpPr>
              <a:spLocks noChangeShapeType="1"/>
            </p:cNvSpPr>
            <p:nvPr/>
          </p:nvSpPr>
          <p:spPr bwMode="auto">
            <a:xfrm>
              <a:off x="1443" y="4093"/>
              <a:ext cx="33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03" name="Text Box 9"/>
            <p:cNvSpPr txBox="1">
              <a:spLocks noChangeArrowheads="1"/>
            </p:cNvSpPr>
            <p:nvPr/>
          </p:nvSpPr>
          <p:spPr bwMode="auto">
            <a:xfrm>
              <a:off x="488" y="3325"/>
              <a:ext cx="908" cy="33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GB" sz="1400"/>
                <a:t>Number of locks acquired</a:t>
              </a:r>
            </a:p>
          </p:txBody>
        </p:sp>
        <p:sp>
          <p:nvSpPr>
            <p:cNvPr id="29704" name="Text Box 10"/>
            <p:cNvSpPr txBox="1">
              <a:spLocks noChangeArrowheads="1"/>
            </p:cNvSpPr>
            <p:nvPr/>
          </p:nvSpPr>
          <p:spPr bwMode="auto">
            <a:xfrm>
              <a:off x="1711" y="2582"/>
              <a:ext cx="873" cy="19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GB" sz="1400"/>
                <a:t>Growing phase</a:t>
              </a:r>
            </a:p>
          </p:txBody>
        </p:sp>
        <p:sp>
          <p:nvSpPr>
            <p:cNvPr id="29705" name="Text Box 11"/>
            <p:cNvSpPr txBox="1">
              <a:spLocks noChangeArrowheads="1"/>
            </p:cNvSpPr>
            <p:nvPr/>
          </p:nvSpPr>
          <p:spPr bwMode="auto">
            <a:xfrm>
              <a:off x="3391" y="2582"/>
              <a:ext cx="1014" cy="19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GB" sz="1400"/>
                <a:t>Shrinking phase</a:t>
              </a:r>
            </a:p>
          </p:txBody>
        </p:sp>
        <p:sp>
          <p:nvSpPr>
            <p:cNvPr id="29706" name="AutoShape 12"/>
            <p:cNvSpPr>
              <a:spLocks noChangeArrowheads="1"/>
            </p:cNvSpPr>
            <p:nvPr/>
          </p:nvSpPr>
          <p:spPr bwMode="auto">
            <a:xfrm>
              <a:off x="1446" y="3058"/>
              <a:ext cx="2635" cy="1035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7" name="Line 13"/>
            <p:cNvSpPr>
              <a:spLocks noChangeShapeType="1"/>
            </p:cNvSpPr>
            <p:nvPr/>
          </p:nvSpPr>
          <p:spPr bwMode="auto">
            <a:xfrm>
              <a:off x="2774" y="2933"/>
              <a:ext cx="0" cy="11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08" name="Text Box 14"/>
            <p:cNvSpPr txBox="1">
              <a:spLocks noChangeArrowheads="1"/>
            </p:cNvSpPr>
            <p:nvPr/>
          </p:nvSpPr>
          <p:spPr bwMode="auto">
            <a:xfrm>
              <a:off x="3989" y="3454"/>
              <a:ext cx="831" cy="19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GB" sz="1400"/>
                <a:t>Commit point</a:t>
              </a:r>
            </a:p>
          </p:txBody>
        </p:sp>
        <p:sp>
          <p:nvSpPr>
            <p:cNvPr id="29709" name="Line 15"/>
            <p:cNvSpPr>
              <a:spLocks noChangeShapeType="1"/>
            </p:cNvSpPr>
            <p:nvPr/>
          </p:nvSpPr>
          <p:spPr bwMode="auto">
            <a:xfrm>
              <a:off x="1971" y="2780"/>
              <a:ext cx="138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10" name="Line 16"/>
            <p:cNvSpPr>
              <a:spLocks noChangeShapeType="1"/>
            </p:cNvSpPr>
            <p:nvPr/>
          </p:nvSpPr>
          <p:spPr bwMode="auto">
            <a:xfrm flipH="1">
              <a:off x="3205" y="2780"/>
              <a:ext cx="460" cy="6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11" name="Line 17"/>
            <p:cNvSpPr>
              <a:spLocks noChangeShapeType="1"/>
            </p:cNvSpPr>
            <p:nvPr/>
          </p:nvSpPr>
          <p:spPr bwMode="auto">
            <a:xfrm flipH="1">
              <a:off x="2774" y="3556"/>
              <a:ext cx="1215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12" name="Line 18"/>
            <p:cNvSpPr>
              <a:spLocks noChangeShapeType="1"/>
            </p:cNvSpPr>
            <p:nvPr/>
          </p:nvSpPr>
          <p:spPr bwMode="auto">
            <a:xfrm flipV="1">
              <a:off x="933" y="2925"/>
              <a:ext cx="0" cy="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 advTm="230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sz="2900"/>
              <a:t>Preventing Lost Update Problem using 2PL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772400" y="6623050"/>
            <a:ext cx="2895600" cy="234950"/>
          </a:xfrm>
          <a:prstGeom prst="rect">
            <a:avLst/>
          </a:prstGeom>
        </p:spPr>
        <p:txBody>
          <a:bodyPr/>
          <a:lstStyle/>
          <a:p>
            <a:fld id="{378B3C31-4D28-4E7B-B53A-3C917D05F520}" type="slidenum">
              <a:rPr lang="en-GB"/>
              <a:pPr/>
              <a:t>32</a:t>
            </a:fld>
            <a:endParaRPr lang="en-GB"/>
          </a:p>
        </p:txBody>
      </p:sp>
      <p:pic>
        <p:nvPicPr>
          <p:cNvPr id="281604" name="Picture 4" descr="DS3-Figure 19-1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63750" y="1628776"/>
            <a:ext cx="8064500" cy="34956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sz="2900"/>
              <a:t>Preventing Uncommitted Dependency Problem using 2PL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772400" y="6623050"/>
            <a:ext cx="2895600" cy="234950"/>
          </a:xfrm>
          <a:prstGeom prst="rect">
            <a:avLst/>
          </a:prstGeom>
        </p:spPr>
        <p:txBody>
          <a:bodyPr/>
          <a:lstStyle/>
          <a:p>
            <a:fld id="{EFC9A27E-6088-4F67-83E9-BA585DC1D06B}" type="slidenum">
              <a:rPr lang="en-GB"/>
              <a:pPr/>
              <a:t>33</a:t>
            </a:fld>
            <a:endParaRPr lang="en-GB"/>
          </a:p>
        </p:txBody>
      </p:sp>
      <p:pic>
        <p:nvPicPr>
          <p:cNvPr id="282628" name="Picture 4" descr="DS3-Figure 19-1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33600" y="1676401"/>
            <a:ext cx="7778750" cy="35655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sz="2900"/>
              <a:t>Preventing Inconsistent Analysis Problem using 2PL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772400" y="6623050"/>
            <a:ext cx="2895600" cy="234950"/>
          </a:xfrm>
          <a:prstGeom prst="rect">
            <a:avLst/>
          </a:prstGeom>
        </p:spPr>
        <p:txBody>
          <a:bodyPr/>
          <a:lstStyle/>
          <a:p>
            <a:fld id="{C4854641-5CE0-4903-96C0-63498D14D08D}" type="slidenum">
              <a:rPr lang="en-GB"/>
              <a:pPr/>
              <a:t>34</a:t>
            </a:fld>
            <a:endParaRPr lang="en-GB"/>
          </a:p>
        </p:txBody>
      </p:sp>
      <p:pic>
        <p:nvPicPr>
          <p:cNvPr id="283652" name="Picture 4" descr="DS3-Figure 19-1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92314" y="1484314"/>
            <a:ext cx="7559675" cy="487203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sz="2900"/>
              <a:t>Database Recovery </a:t>
            </a:r>
            <a:endParaRPr lang="en-US" b="1"/>
          </a:p>
        </p:txBody>
      </p:sp>
      <p:sp>
        <p:nvSpPr>
          <p:cNvPr id="319491" name="Rectangle 3"/>
          <p:cNvSpPr>
            <a:spLocks noGrp="1" noChangeArrowheads="1"/>
          </p:cNvSpPr>
          <p:nvPr>
            <p:ph idx="1"/>
          </p:nvPr>
        </p:nvSpPr>
        <p:spPr>
          <a:xfrm>
            <a:off x="2051050" y="1557338"/>
            <a:ext cx="8077200" cy="4419600"/>
          </a:xfrm>
        </p:spPr>
        <p:txBody>
          <a:bodyPr/>
          <a:lstStyle/>
          <a:p>
            <a:pPr algn="just">
              <a:buFont typeface="Monotype Sorts" pitchFamily="2" charset="2"/>
              <a:buNone/>
            </a:pPr>
            <a:r>
              <a:rPr lang="en-US" sz="2600" b="1" dirty="0"/>
              <a:t>	Process of restoring database to a correct state in the event of a failure. </a:t>
            </a:r>
          </a:p>
          <a:p>
            <a:pPr algn="just">
              <a:lnSpc>
                <a:spcPct val="170000"/>
              </a:lnSpc>
            </a:pPr>
            <a:r>
              <a:rPr lang="en-US" sz="2600" b="1" dirty="0"/>
              <a:t>Need for Recovery Control</a:t>
            </a:r>
          </a:p>
          <a:p>
            <a:pPr lvl="1" algn="just"/>
            <a:r>
              <a:rPr lang="en-US" sz="2600" b="1" dirty="0"/>
              <a:t>Two types of storage: volatile (main memory) and nonvolatile.</a:t>
            </a:r>
          </a:p>
          <a:p>
            <a:pPr lvl="1" algn="just"/>
            <a:r>
              <a:rPr lang="en-US" sz="2600" b="1" dirty="0"/>
              <a:t>Volatile storage does not survive system crashes. </a:t>
            </a:r>
          </a:p>
          <a:p>
            <a:pPr lvl="1" algn="just"/>
            <a:r>
              <a:rPr lang="en-US" sz="2600" b="1" dirty="0"/>
              <a:t>Stable storage represents information that has been replicated in several nonvolatile storage media.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772400" y="6623050"/>
            <a:ext cx="2895600" cy="234950"/>
          </a:xfrm>
          <a:prstGeom prst="rect">
            <a:avLst/>
          </a:prstGeom>
        </p:spPr>
        <p:txBody>
          <a:bodyPr/>
          <a:lstStyle/>
          <a:p>
            <a:fld id="{B1F2FA69-0FC3-4F81-B8FB-B2BD36867049}" type="slidenum">
              <a:rPr lang="en-GB"/>
              <a:pPr/>
              <a:t>35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491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sz="2900"/>
              <a:t>Types of Failures</a:t>
            </a:r>
            <a:endParaRPr lang="en-US" b="1"/>
          </a:p>
        </p:txBody>
      </p:sp>
      <p:sp>
        <p:nvSpPr>
          <p:cNvPr id="320515" name="Rectangle 3"/>
          <p:cNvSpPr>
            <a:spLocks noGrp="1" noChangeArrowheads="1"/>
          </p:cNvSpPr>
          <p:nvPr>
            <p:ph idx="1"/>
          </p:nvPr>
        </p:nvSpPr>
        <p:spPr>
          <a:xfrm>
            <a:off x="2063750" y="1557338"/>
            <a:ext cx="7924800" cy="4114800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US" sz="2400" b="1" dirty="0"/>
              <a:t>System crashes, resulting in loss of main memory.</a:t>
            </a:r>
          </a:p>
          <a:p>
            <a:pPr algn="just">
              <a:lnSpc>
                <a:spcPct val="90000"/>
              </a:lnSpc>
            </a:pPr>
            <a:endParaRPr lang="en-US" sz="2400" b="1" dirty="0"/>
          </a:p>
          <a:p>
            <a:pPr algn="just">
              <a:lnSpc>
                <a:spcPct val="90000"/>
              </a:lnSpc>
            </a:pPr>
            <a:r>
              <a:rPr lang="en-US" sz="2400" b="1" dirty="0"/>
              <a:t>Media failures, resulting in loss of parts of secondary storage.</a:t>
            </a:r>
          </a:p>
          <a:p>
            <a:pPr algn="just">
              <a:lnSpc>
                <a:spcPct val="90000"/>
              </a:lnSpc>
            </a:pPr>
            <a:endParaRPr lang="en-US" sz="2400" b="1" dirty="0"/>
          </a:p>
          <a:p>
            <a:pPr algn="just">
              <a:lnSpc>
                <a:spcPct val="90000"/>
              </a:lnSpc>
            </a:pPr>
            <a:r>
              <a:rPr lang="en-US" sz="2400" b="1" dirty="0"/>
              <a:t>Application software errors.</a:t>
            </a:r>
          </a:p>
          <a:p>
            <a:pPr algn="just">
              <a:lnSpc>
                <a:spcPct val="90000"/>
              </a:lnSpc>
            </a:pPr>
            <a:endParaRPr lang="en-US" sz="2400" b="1" dirty="0"/>
          </a:p>
          <a:p>
            <a:pPr algn="just">
              <a:lnSpc>
                <a:spcPct val="90000"/>
              </a:lnSpc>
            </a:pPr>
            <a:r>
              <a:rPr lang="en-US" sz="2400" b="1" dirty="0"/>
              <a:t>Natural physical disasters.</a:t>
            </a:r>
          </a:p>
          <a:p>
            <a:pPr algn="just">
              <a:lnSpc>
                <a:spcPct val="90000"/>
              </a:lnSpc>
            </a:pPr>
            <a:endParaRPr lang="en-US" sz="2400" b="1" dirty="0"/>
          </a:p>
          <a:p>
            <a:pPr algn="just">
              <a:lnSpc>
                <a:spcPct val="90000"/>
              </a:lnSpc>
            </a:pPr>
            <a:r>
              <a:rPr lang="en-US" sz="2400" b="1" dirty="0"/>
              <a:t>Carelessness or unintentional destruction of data or facilities.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772400" y="6623050"/>
            <a:ext cx="2895600" cy="234950"/>
          </a:xfrm>
          <a:prstGeom prst="rect">
            <a:avLst/>
          </a:prstGeom>
        </p:spPr>
        <p:txBody>
          <a:bodyPr/>
          <a:lstStyle/>
          <a:p>
            <a:fld id="{B778B334-6F9F-463D-833F-2BEF3BA38F3A}" type="slidenum">
              <a:rPr lang="en-GB"/>
              <a:pPr/>
              <a:t>36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515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sz="2900" dirty="0"/>
              <a:t>Transactions and Recovery</a:t>
            </a:r>
          </a:p>
        </p:txBody>
      </p:sp>
      <p:sp>
        <p:nvSpPr>
          <p:cNvPr id="321539" name="Rectangle 3"/>
          <p:cNvSpPr>
            <a:spLocks noGrp="1" noChangeArrowheads="1"/>
          </p:cNvSpPr>
          <p:nvPr>
            <p:ph idx="1"/>
          </p:nvPr>
        </p:nvSpPr>
        <p:spPr>
          <a:xfrm>
            <a:off x="2133600" y="1524000"/>
            <a:ext cx="7924800" cy="4267200"/>
          </a:xfrm>
        </p:spPr>
        <p:txBody>
          <a:bodyPr/>
          <a:lstStyle/>
          <a:p>
            <a:pPr algn="just"/>
            <a:r>
              <a:rPr lang="en-US" sz="2400" b="1" dirty="0"/>
              <a:t>Transactions represent basic unit of recovery.</a:t>
            </a:r>
          </a:p>
          <a:p>
            <a:pPr algn="just"/>
            <a:endParaRPr lang="en-US" sz="2400" b="1" dirty="0"/>
          </a:p>
          <a:p>
            <a:pPr algn="just"/>
            <a:r>
              <a:rPr lang="en-US" sz="2400" b="1" dirty="0"/>
              <a:t>Recovery manager responsible for </a:t>
            </a:r>
            <a:r>
              <a:rPr lang="en-US" sz="2400" b="1" u="sng" dirty="0"/>
              <a:t>atomicity</a:t>
            </a:r>
            <a:r>
              <a:rPr lang="en-US" sz="2400" b="1" dirty="0"/>
              <a:t> and </a:t>
            </a:r>
            <a:r>
              <a:rPr lang="en-US" sz="2400" b="1" u="sng" dirty="0"/>
              <a:t>durability.</a:t>
            </a:r>
          </a:p>
          <a:p>
            <a:pPr algn="just"/>
            <a:endParaRPr lang="en-US" sz="2400" b="1" dirty="0"/>
          </a:p>
          <a:p>
            <a:pPr algn="just"/>
            <a:r>
              <a:rPr lang="en-US" sz="2400" b="1" dirty="0"/>
              <a:t>If failure occurs between commit and database buffers being flushed to secondary storage then, to ensure durability, recovery manager has to </a:t>
            </a:r>
            <a:r>
              <a:rPr lang="en-US" sz="2400" b="1" i="1" dirty="0"/>
              <a:t>redo</a:t>
            </a:r>
            <a:r>
              <a:rPr lang="en-US" sz="2400" b="1" dirty="0"/>
              <a:t> (</a:t>
            </a:r>
            <a:r>
              <a:rPr lang="en-US" sz="2400" b="1" i="1" dirty="0" err="1"/>
              <a:t>rollforward</a:t>
            </a:r>
            <a:r>
              <a:rPr lang="en-US" sz="2400" b="1" dirty="0"/>
              <a:t>) transaction’s updates.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772400" y="6623050"/>
            <a:ext cx="2895600" cy="234950"/>
          </a:xfrm>
          <a:prstGeom prst="rect">
            <a:avLst/>
          </a:prstGeom>
        </p:spPr>
        <p:txBody>
          <a:bodyPr/>
          <a:lstStyle/>
          <a:p>
            <a:fld id="{F117F4EC-BCDD-412A-A41D-40E3CD742246}" type="slidenum">
              <a:rPr lang="en-GB"/>
              <a:pPr/>
              <a:t>37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539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sz="2900"/>
              <a:t>Transactions and Recovery</a:t>
            </a:r>
            <a:endParaRPr lang="en-US" b="1"/>
          </a:p>
        </p:txBody>
      </p:sp>
      <p:sp>
        <p:nvSpPr>
          <p:cNvPr id="322563" name="Rectangle 3"/>
          <p:cNvSpPr>
            <a:spLocks noGrp="1" noChangeArrowheads="1"/>
          </p:cNvSpPr>
          <p:nvPr>
            <p:ph idx="1"/>
          </p:nvPr>
        </p:nvSpPr>
        <p:spPr>
          <a:xfrm>
            <a:off x="2057400" y="1557338"/>
            <a:ext cx="7924800" cy="4114800"/>
          </a:xfrm>
        </p:spPr>
        <p:txBody>
          <a:bodyPr/>
          <a:lstStyle/>
          <a:p>
            <a:pPr algn="just"/>
            <a:r>
              <a:rPr lang="en-US" sz="2400" b="1" dirty="0"/>
              <a:t>If transaction had not committed at failure time, recovery manager has to </a:t>
            </a:r>
            <a:r>
              <a:rPr lang="en-US" sz="2400" b="1" i="1" dirty="0"/>
              <a:t>undo</a:t>
            </a:r>
            <a:r>
              <a:rPr lang="en-US" sz="2400" b="1" dirty="0"/>
              <a:t> (</a:t>
            </a:r>
            <a:r>
              <a:rPr lang="en-US" sz="2400" b="1" i="1" dirty="0"/>
              <a:t>rollback</a:t>
            </a:r>
            <a:r>
              <a:rPr lang="en-US" sz="2400" b="1" dirty="0"/>
              <a:t>) any effects of that transaction for atomicity.</a:t>
            </a:r>
          </a:p>
          <a:p>
            <a:pPr algn="just"/>
            <a:endParaRPr lang="en-US" sz="2400" b="1" dirty="0"/>
          </a:p>
          <a:p>
            <a:pPr algn="just"/>
            <a:r>
              <a:rPr lang="en-US" sz="2400" b="1" dirty="0"/>
              <a:t>Partial undo - only one transaction has to be undone. </a:t>
            </a:r>
          </a:p>
          <a:p>
            <a:pPr algn="just"/>
            <a:endParaRPr lang="en-US" sz="2400" b="1" dirty="0"/>
          </a:p>
          <a:p>
            <a:pPr algn="just"/>
            <a:r>
              <a:rPr lang="en-US" sz="2400" b="1" dirty="0"/>
              <a:t>Global undo - all transactions have to be undone. </a:t>
            </a:r>
            <a:endParaRPr lang="en-US" sz="2400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772400" y="6623050"/>
            <a:ext cx="2895600" cy="234950"/>
          </a:xfrm>
          <a:prstGeom prst="rect">
            <a:avLst/>
          </a:prstGeom>
        </p:spPr>
        <p:txBody>
          <a:bodyPr/>
          <a:lstStyle/>
          <a:p>
            <a:fld id="{2D3AF134-7A2E-444F-96A0-1EA36B2D650F}" type="slidenum">
              <a:rPr lang="en-GB"/>
              <a:pPr/>
              <a:t>38</a:t>
            </a:fld>
            <a:endParaRPr lang="en-GB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56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sz="2900" dirty="0"/>
              <a:t>Example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772400" y="6623050"/>
            <a:ext cx="2895600" cy="234950"/>
          </a:xfrm>
          <a:prstGeom prst="rect">
            <a:avLst/>
          </a:prstGeom>
        </p:spPr>
        <p:txBody>
          <a:bodyPr/>
          <a:lstStyle/>
          <a:p>
            <a:fld id="{2B2AE493-B18C-4E39-B321-94F9DCAF40DB}" type="slidenum">
              <a:rPr lang="en-GB"/>
              <a:pPr/>
              <a:t>39</a:t>
            </a:fld>
            <a:endParaRPr lang="en-GB"/>
          </a:p>
        </p:txBody>
      </p:sp>
      <p:pic>
        <p:nvPicPr>
          <p:cNvPr id="323588" name="Picture 4" descr="DS3-Figure 19-2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1865314"/>
            <a:ext cx="9154866" cy="4078287"/>
          </a:xfrm>
          <a:prstGeom prst="rect">
            <a:avLst/>
          </a:prstGeom>
          <a:noFill/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</a:t>
            </a:r>
            <a:endParaRPr lang="en-US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b="1" dirty="0"/>
              <a:t>DBMS starts at time t</a:t>
            </a:r>
            <a:r>
              <a:rPr lang="en-US" sz="2800" b="1" baseline="-25000" dirty="0"/>
              <a:t>0</a:t>
            </a:r>
            <a:r>
              <a:rPr lang="en-US" sz="2800" b="1" dirty="0"/>
              <a:t>, but fails at time </a:t>
            </a:r>
            <a:r>
              <a:rPr lang="en-US" sz="2800" b="1" dirty="0" err="1"/>
              <a:t>t</a:t>
            </a:r>
            <a:r>
              <a:rPr lang="en-US" sz="2800" b="1" baseline="-25000" dirty="0" err="1"/>
              <a:t>f</a:t>
            </a:r>
            <a:r>
              <a:rPr lang="en-US" sz="2800" b="1" dirty="0"/>
              <a:t>. Assume data for transactions T</a:t>
            </a:r>
            <a:r>
              <a:rPr lang="en-US" sz="2800" b="1" baseline="-25000" dirty="0"/>
              <a:t>2</a:t>
            </a:r>
            <a:r>
              <a:rPr lang="en-US" sz="2800" b="1" dirty="0"/>
              <a:t> and T</a:t>
            </a:r>
            <a:r>
              <a:rPr lang="en-US" sz="2800" b="1" baseline="-25000" dirty="0"/>
              <a:t>3</a:t>
            </a:r>
            <a:r>
              <a:rPr lang="en-US" sz="2800" b="1" dirty="0"/>
              <a:t> have been written to secondary storage. </a:t>
            </a:r>
          </a:p>
          <a:p>
            <a:pPr>
              <a:lnSpc>
                <a:spcPct val="90000"/>
              </a:lnSpc>
            </a:pPr>
            <a:endParaRPr lang="en-US" sz="2800" b="1" dirty="0"/>
          </a:p>
          <a:p>
            <a:pPr algn="just">
              <a:lnSpc>
                <a:spcPct val="90000"/>
              </a:lnSpc>
            </a:pPr>
            <a:r>
              <a:rPr lang="en-US" sz="2800" b="1" dirty="0"/>
              <a:t>T</a:t>
            </a:r>
            <a:r>
              <a:rPr lang="en-US" sz="2800" b="1" baseline="-25000" dirty="0"/>
              <a:t>1</a:t>
            </a:r>
            <a:r>
              <a:rPr lang="en-US" sz="2800" b="1" dirty="0"/>
              <a:t> and T</a:t>
            </a:r>
            <a:r>
              <a:rPr lang="en-US" sz="2800" b="1" baseline="-25000" dirty="0"/>
              <a:t>6</a:t>
            </a:r>
            <a:r>
              <a:rPr lang="en-US" sz="2800" b="1" dirty="0"/>
              <a:t> have to be undone. In absence of any other information, recovery manager has to redo T</a:t>
            </a:r>
            <a:r>
              <a:rPr lang="en-US" sz="2800" b="1" baseline="-25000" dirty="0"/>
              <a:t>2</a:t>
            </a:r>
            <a:r>
              <a:rPr lang="en-US" sz="2800" b="1" dirty="0"/>
              <a:t>, T</a:t>
            </a:r>
            <a:r>
              <a:rPr lang="en-US" sz="2800" b="1" baseline="-25000" dirty="0"/>
              <a:t>3</a:t>
            </a:r>
            <a:r>
              <a:rPr lang="en-US" sz="2800" b="1" dirty="0"/>
              <a:t>, T</a:t>
            </a:r>
            <a:r>
              <a:rPr lang="en-US" sz="2800" b="1" baseline="-25000" dirty="0"/>
              <a:t>4</a:t>
            </a:r>
            <a:r>
              <a:rPr lang="en-US" sz="2800" b="1" dirty="0"/>
              <a:t>, and T</a:t>
            </a:r>
            <a:r>
              <a:rPr lang="en-US" sz="2800" b="1" baseline="-25000" dirty="0"/>
              <a:t>5</a:t>
            </a:r>
            <a:r>
              <a:rPr lang="en-US" sz="2800" b="1" dirty="0"/>
              <a:t>. if there is no check point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sz="2900"/>
              <a:t>Recovery Facilities</a:t>
            </a:r>
          </a:p>
        </p:txBody>
      </p:sp>
      <p:sp>
        <p:nvSpPr>
          <p:cNvPr id="324611" name="Rectangle 3"/>
          <p:cNvSpPr>
            <a:spLocks noGrp="1" noChangeArrowheads="1"/>
          </p:cNvSpPr>
          <p:nvPr>
            <p:ph idx="1"/>
          </p:nvPr>
        </p:nvSpPr>
        <p:spPr>
          <a:xfrm>
            <a:off x="2055813" y="1557338"/>
            <a:ext cx="8001000" cy="4191000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US" sz="2400" b="1" dirty="0"/>
              <a:t>DBMS should provide following facilities to assist with recovery:</a:t>
            </a:r>
          </a:p>
          <a:p>
            <a:pPr lvl="1" algn="just">
              <a:lnSpc>
                <a:spcPct val="0"/>
              </a:lnSpc>
            </a:pPr>
            <a:endParaRPr lang="en-US" sz="2400" b="1" dirty="0"/>
          </a:p>
          <a:p>
            <a:pPr lvl="1" algn="just">
              <a:lnSpc>
                <a:spcPct val="90000"/>
              </a:lnSpc>
            </a:pPr>
            <a:r>
              <a:rPr lang="en-US" sz="2400" b="1" dirty="0"/>
              <a:t>Backup mechanism, which makes periodic backup copies of database.</a:t>
            </a:r>
          </a:p>
          <a:p>
            <a:pPr lvl="1" algn="just">
              <a:lnSpc>
                <a:spcPct val="90000"/>
              </a:lnSpc>
            </a:pPr>
            <a:r>
              <a:rPr lang="en-US" sz="2400" b="1" dirty="0"/>
              <a:t>Logging facilities, which keep track of current state of transactions and database changes.</a:t>
            </a:r>
          </a:p>
          <a:p>
            <a:pPr lvl="1" algn="just">
              <a:lnSpc>
                <a:spcPct val="90000"/>
              </a:lnSpc>
            </a:pPr>
            <a:r>
              <a:rPr lang="en-US" sz="2400" b="1" dirty="0"/>
              <a:t>Checkpoint facility, which enables updates to database in progress to be made permanent.</a:t>
            </a:r>
          </a:p>
          <a:p>
            <a:pPr lvl="1" algn="just">
              <a:lnSpc>
                <a:spcPct val="90000"/>
              </a:lnSpc>
            </a:pPr>
            <a:r>
              <a:rPr lang="en-US" sz="2400" b="1" dirty="0"/>
              <a:t>Recovery manager, which allows DBMS to restore database to consistent state following a failure.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772400" y="6623050"/>
            <a:ext cx="2895600" cy="234950"/>
          </a:xfrm>
          <a:prstGeom prst="rect">
            <a:avLst/>
          </a:prstGeom>
        </p:spPr>
        <p:txBody>
          <a:bodyPr/>
          <a:lstStyle/>
          <a:p>
            <a:fld id="{E7901CBE-F4A9-4A71-9D10-5445F951DFD1}" type="slidenum">
              <a:rPr lang="en-GB"/>
              <a:pPr/>
              <a:t>41</a:t>
            </a:fld>
            <a:endParaRPr lang="en-GB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611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sz="2900"/>
              <a:t>Log File</a:t>
            </a:r>
          </a:p>
        </p:txBody>
      </p:sp>
      <p:sp>
        <p:nvSpPr>
          <p:cNvPr id="325635" name="Rectangle 3"/>
          <p:cNvSpPr>
            <a:spLocks noGrp="1" noChangeArrowheads="1"/>
          </p:cNvSpPr>
          <p:nvPr>
            <p:ph idx="1"/>
          </p:nvPr>
        </p:nvSpPr>
        <p:spPr>
          <a:xfrm>
            <a:off x="2057400" y="1524000"/>
            <a:ext cx="8001000" cy="4724400"/>
          </a:xfrm>
        </p:spPr>
        <p:txBody>
          <a:bodyPr/>
          <a:lstStyle/>
          <a:p>
            <a:pPr algn="just"/>
            <a:r>
              <a:rPr lang="en-US" b="1"/>
              <a:t>Contains information about all updates to database:</a:t>
            </a:r>
          </a:p>
          <a:p>
            <a:pPr lvl="1" algn="just"/>
            <a:r>
              <a:rPr lang="en-US" b="1"/>
              <a:t>Transaction records.</a:t>
            </a:r>
          </a:p>
          <a:p>
            <a:pPr lvl="1" algn="just"/>
            <a:r>
              <a:rPr lang="en-US" b="1"/>
              <a:t>Checkpoint records.</a:t>
            </a:r>
          </a:p>
          <a:p>
            <a:pPr algn="just"/>
            <a:r>
              <a:rPr lang="en-US" b="1"/>
              <a:t>Often used for other purposes (for example, auditing).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772400" y="6623050"/>
            <a:ext cx="2895600" cy="234950"/>
          </a:xfrm>
          <a:prstGeom prst="rect">
            <a:avLst/>
          </a:prstGeom>
        </p:spPr>
        <p:txBody>
          <a:bodyPr/>
          <a:lstStyle/>
          <a:p>
            <a:fld id="{C1A68105-9155-4119-B651-BAF5D6845A91}" type="slidenum">
              <a:rPr lang="en-GB"/>
              <a:pPr/>
              <a:t>42</a:t>
            </a:fld>
            <a:endParaRPr lang="en-GB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5635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sz="2900"/>
              <a:t>Log File</a:t>
            </a:r>
            <a:endParaRPr lang="en-US"/>
          </a:p>
        </p:txBody>
      </p:sp>
      <p:sp>
        <p:nvSpPr>
          <p:cNvPr id="326659" name="Rectangle 3"/>
          <p:cNvSpPr>
            <a:spLocks noGrp="1" noChangeArrowheads="1"/>
          </p:cNvSpPr>
          <p:nvPr>
            <p:ph idx="1"/>
          </p:nvPr>
        </p:nvSpPr>
        <p:spPr>
          <a:xfrm>
            <a:off x="2063750" y="1524000"/>
            <a:ext cx="8305800" cy="4495800"/>
          </a:xfrm>
        </p:spPr>
        <p:txBody>
          <a:bodyPr/>
          <a:lstStyle/>
          <a:p>
            <a:r>
              <a:rPr lang="en-US" b="1"/>
              <a:t> Transaction records contain:</a:t>
            </a:r>
          </a:p>
          <a:p>
            <a:pPr lvl="1"/>
            <a:r>
              <a:rPr lang="en-US" b="1"/>
              <a:t>Transaction identifier.</a:t>
            </a:r>
          </a:p>
          <a:p>
            <a:pPr lvl="1"/>
            <a:r>
              <a:rPr lang="en-US" b="1"/>
              <a:t>Type of log record, (transaction start, insert, update, delete, abort, commit).</a:t>
            </a:r>
          </a:p>
          <a:p>
            <a:pPr lvl="1"/>
            <a:r>
              <a:rPr lang="en-US" b="1"/>
              <a:t>Identifier of data item affected by database action (insert, delete, and update operations).</a:t>
            </a:r>
          </a:p>
          <a:p>
            <a:pPr lvl="1"/>
            <a:r>
              <a:rPr lang="en-US" b="1"/>
              <a:t>Before-image of data item.</a:t>
            </a:r>
          </a:p>
          <a:p>
            <a:pPr lvl="1"/>
            <a:r>
              <a:rPr lang="en-US" b="1"/>
              <a:t>After-image of data item.</a:t>
            </a:r>
          </a:p>
          <a:p>
            <a:pPr lvl="1"/>
            <a:r>
              <a:rPr lang="en-US" b="1"/>
              <a:t>Log management information.</a:t>
            </a:r>
            <a:endParaRPr lang="en-US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772400" y="6623050"/>
            <a:ext cx="2895600" cy="234950"/>
          </a:xfrm>
          <a:prstGeom prst="rect">
            <a:avLst/>
          </a:prstGeom>
        </p:spPr>
        <p:txBody>
          <a:bodyPr/>
          <a:lstStyle/>
          <a:p>
            <a:fld id="{471C343C-B534-41E3-8388-FFEFFBFC3B4D}" type="slidenum">
              <a:rPr lang="en-GB"/>
              <a:pPr/>
              <a:t>43</a:t>
            </a:fld>
            <a:endParaRPr lang="en-GB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6659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sz="2900"/>
              <a:t>Sample Log File</a:t>
            </a:r>
            <a:endParaRPr lang="en-US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772400" y="6623050"/>
            <a:ext cx="2895600" cy="234950"/>
          </a:xfrm>
          <a:prstGeom prst="rect">
            <a:avLst/>
          </a:prstGeom>
        </p:spPr>
        <p:txBody>
          <a:bodyPr/>
          <a:lstStyle/>
          <a:p>
            <a:fld id="{28FB2B39-F150-4AC2-85E4-17006DACCBF1}" type="slidenum">
              <a:rPr lang="en-GB"/>
              <a:pPr/>
              <a:t>44</a:t>
            </a:fld>
            <a:endParaRPr lang="en-GB"/>
          </a:p>
        </p:txBody>
      </p:sp>
      <p:pic>
        <p:nvPicPr>
          <p:cNvPr id="327684" name="Picture 4" descr="DS3-Figure 19-2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63750" y="1484313"/>
            <a:ext cx="8064500" cy="4703762"/>
          </a:xfrm>
          <a:prstGeom prst="rect">
            <a:avLst/>
          </a:prstGeom>
          <a:noFill/>
        </p:spPr>
      </p:pic>
    </p:spTree>
  </p:cSld>
  <p:clrMapOvr>
    <a:masterClrMapping/>
  </p:clrMapOvr>
  <p:transition>
    <p:wipe dir="d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sz="2900"/>
              <a:t>Checkpointing</a:t>
            </a:r>
          </a:p>
        </p:txBody>
      </p:sp>
      <p:sp>
        <p:nvSpPr>
          <p:cNvPr id="329731" name="Rectangle 3"/>
          <p:cNvSpPr>
            <a:spLocks noGrp="1" noChangeArrowheads="1"/>
          </p:cNvSpPr>
          <p:nvPr>
            <p:ph idx="1"/>
          </p:nvPr>
        </p:nvSpPr>
        <p:spPr>
          <a:xfrm>
            <a:off x="2063750" y="1557338"/>
            <a:ext cx="8001000" cy="4191000"/>
          </a:xfrm>
        </p:spPr>
        <p:txBody>
          <a:bodyPr/>
          <a:lstStyle/>
          <a:p>
            <a:pPr lvl="1" algn="just">
              <a:lnSpc>
                <a:spcPct val="90000"/>
              </a:lnSpc>
              <a:buFontTx/>
              <a:buNone/>
            </a:pPr>
            <a:r>
              <a:rPr lang="en-US" b="1" u="sng" dirty="0"/>
              <a:t>Checkpoint</a:t>
            </a:r>
            <a:endParaRPr lang="en-US" b="1" dirty="0"/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US" b="1" dirty="0"/>
              <a:t>	Point of synchronization between database and log file. All buffers are force-written to secondary storage.</a:t>
            </a: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endParaRPr lang="en-US" sz="2800" b="1" dirty="0"/>
          </a:p>
          <a:p>
            <a:pPr algn="just">
              <a:lnSpc>
                <a:spcPct val="90000"/>
              </a:lnSpc>
            </a:pPr>
            <a:r>
              <a:rPr lang="en-US" sz="2800" b="1" dirty="0"/>
              <a:t>Checkpoint record is created containing identifiers of all active transactions.</a:t>
            </a:r>
          </a:p>
          <a:p>
            <a:pPr algn="just">
              <a:lnSpc>
                <a:spcPct val="90000"/>
              </a:lnSpc>
            </a:pPr>
            <a:r>
              <a:rPr lang="en-US" sz="2800" b="1" dirty="0"/>
              <a:t>When failure occurs, redo all transactions that committed since the checkpoint and undo all transactions active at time of crash.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772400" y="6623050"/>
            <a:ext cx="2895600" cy="234950"/>
          </a:xfrm>
          <a:prstGeom prst="rect">
            <a:avLst/>
          </a:prstGeom>
        </p:spPr>
        <p:txBody>
          <a:bodyPr/>
          <a:lstStyle/>
          <a:p>
            <a:fld id="{FC140F3C-B50B-4899-AB55-3AB64109C70B}" type="slidenum">
              <a:rPr lang="en-GB"/>
              <a:pPr/>
              <a:t>45</a:t>
            </a:fld>
            <a:endParaRPr lang="en-GB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9731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sz="2900"/>
              <a:t>Checkpointing</a:t>
            </a:r>
            <a:endParaRPr lang="en-US" b="1"/>
          </a:p>
        </p:txBody>
      </p:sp>
      <p:sp>
        <p:nvSpPr>
          <p:cNvPr id="330755" name="Rectangle 3"/>
          <p:cNvSpPr>
            <a:spLocks noGrp="1" noChangeArrowheads="1"/>
          </p:cNvSpPr>
          <p:nvPr>
            <p:ph idx="1"/>
          </p:nvPr>
        </p:nvSpPr>
        <p:spPr>
          <a:xfrm>
            <a:off x="2057400" y="1557338"/>
            <a:ext cx="8077200" cy="4114800"/>
          </a:xfrm>
        </p:spPr>
        <p:txBody>
          <a:bodyPr/>
          <a:lstStyle/>
          <a:p>
            <a:pPr algn="just"/>
            <a:r>
              <a:rPr lang="en-US" b="1"/>
              <a:t>In previous example, with checkpoint at time t</a:t>
            </a:r>
            <a:r>
              <a:rPr lang="en-US" b="1" baseline="-25000"/>
              <a:t>c</a:t>
            </a:r>
            <a:r>
              <a:rPr lang="en-US" b="1"/>
              <a:t>, changes made by T</a:t>
            </a:r>
            <a:r>
              <a:rPr lang="en-US" b="1" baseline="-25000"/>
              <a:t>2</a:t>
            </a:r>
            <a:r>
              <a:rPr lang="en-US" b="1"/>
              <a:t> and T</a:t>
            </a:r>
            <a:r>
              <a:rPr lang="en-US" b="1" baseline="-25000"/>
              <a:t>3</a:t>
            </a:r>
            <a:r>
              <a:rPr lang="en-US" b="1"/>
              <a:t> have been written to secondary storage. </a:t>
            </a:r>
          </a:p>
          <a:p>
            <a:pPr algn="just"/>
            <a:r>
              <a:rPr lang="en-US" b="1"/>
              <a:t>Thus:</a:t>
            </a:r>
          </a:p>
          <a:p>
            <a:pPr lvl="1" algn="just"/>
            <a:r>
              <a:rPr lang="en-US" b="1"/>
              <a:t>only redo T</a:t>
            </a:r>
            <a:r>
              <a:rPr lang="en-US" b="1" baseline="-25000"/>
              <a:t>4</a:t>
            </a:r>
            <a:r>
              <a:rPr lang="en-US" b="1"/>
              <a:t> and T</a:t>
            </a:r>
            <a:r>
              <a:rPr lang="en-US" b="1" baseline="-25000"/>
              <a:t>5</a:t>
            </a:r>
            <a:r>
              <a:rPr lang="en-US" b="1"/>
              <a:t>,</a:t>
            </a:r>
          </a:p>
          <a:p>
            <a:pPr lvl="1" algn="just"/>
            <a:r>
              <a:rPr lang="en-US" b="1"/>
              <a:t>undo transactions T</a:t>
            </a:r>
            <a:r>
              <a:rPr lang="en-US" b="1" baseline="-25000"/>
              <a:t>1</a:t>
            </a:r>
            <a:r>
              <a:rPr lang="en-US" b="1"/>
              <a:t> and T6.</a:t>
            </a:r>
            <a:endParaRPr lang="en-US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772400" y="6623050"/>
            <a:ext cx="2895600" cy="234950"/>
          </a:xfrm>
          <a:prstGeom prst="rect">
            <a:avLst/>
          </a:prstGeom>
        </p:spPr>
        <p:txBody>
          <a:bodyPr/>
          <a:lstStyle/>
          <a:p>
            <a:fld id="{C2240EE5-21A5-42E2-83B0-4B3750674D46}" type="slidenum">
              <a:rPr lang="en-GB"/>
              <a:pPr/>
              <a:t>46</a:t>
            </a:fld>
            <a:endParaRPr lang="en-GB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0755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1363" y="2362200"/>
            <a:ext cx="8229600" cy="3860800"/>
          </a:xfr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>
              <a:buNone/>
            </a:pPr>
            <a:r>
              <a:rPr lang="en-US" sz="9600" dirty="0"/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CTI-Template-foundation-level">
  <a:themeElements>
    <a:clrScheme name="APU-2023">
      <a:dk1>
        <a:srgbClr val="082F50"/>
      </a:dk1>
      <a:lt1>
        <a:srgbClr val="FFFFFF"/>
      </a:lt1>
      <a:dk2>
        <a:srgbClr val="0070C0"/>
      </a:dk2>
      <a:lt2>
        <a:srgbClr val="C0F9FC"/>
      </a:lt2>
      <a:accent1>
        <a:srgbClr val="00B0F0"/>
      </a:accent1>
      <a:accent2>
        <a:srgbClr val="079244"/>
      </a:accent2>
      <a:accent3>
        <a:srgbClr val="E02C32"/>
      </a:accent3>
      <a:accent4>
        <a:srgbClr val="45D7EA"/>
      </a:accent4>
      <a:accent5>
        <a:srgbClr val="FAC41B"/>
      </a:accent5>
      <a:accent6>
        <a:srgbClr val="082F50"/>
      </a:accent6>
      <a:hlink>
        <a:srgbClr val="9AB1D0"/>
      </a:hlink>
      <a:folHlink>
        <a:srgbClr val="0D3358"/>
      </a:folHlink>
    </a:clrScheme>
    <a:fontScheme name="APU-2023">
      <a:majorFont>
        <a:latin typeface="PT Sans"/>
        <a:ea typeface=""/>
        <a:cs typeface=""/>
      </a:majorFont>
      <a:minorFont>
        <a:latin typeface="PT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UCTI-Template-foundation-leve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APU-2023">
      <a:dk1>
        <a:srgbClr val="081929"/>
      </a:dk1>
      <a:lt1>
        <a:srgbClr val="FFFFFF"/>
      </a:lt1>
      <a:dk2>
        <a:srgbClr val="0070C0"/>
      </a:dk2>
      <a:lt2>
        <a:srgbClr val="FFFFFF"/>
      </a:lt2>
      <a:accent1>
        <a:srgbClr val="00B0F0"/>
      </a:accent1>
      <a:accent2>
        <a:srgbClr val="99CC00"/>
      </a:accent2>
      <a:accent3>
        <a:srgbClr val="FF9966"/>
      </a:accent3>
      <a:accent4>
        <a:srgbClr val="45D7EA"/>
      </a:accent4>
      <a:accent5>
        <a:srgbClr val="CC66FF"/>
      </a:accent5>
      <a:accent6>
        <a:srgbClr val="FCE456"/>
      </a:accent6>
      <a:hlink>
        <a:srgbClr val="B7C6FE"/>
      </a:hlink>
      <a:folHlink>
        <a:srgbClr val="00B0F0"/>
      </a:folHlink>
    </a:clrScheme>
    <a:fontScheme name="APU-2023">
      <a:majorFont>
        <a:latin typeface="PT Sans"/>
        <a:ea typeface=""/>
        <a:cs typeface=""/>
      </a:majorFont>
      <a:minorFont>
        <a:latin typeface="PT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C09830CF6CB84B8D12D02B69700FAF" ma:contentTypeVersion="14" ma:contentTypeDescription="Create a new document." ma:contentTypeScope="" ma:versionID="91bb3fc2fda44f6dca498e4986d3c34f">
  <xsd:schema xmlns:xsd="http://www.w3.org/2001/XMLSchema" xmlns:xs="http://www.w3.org/2001/XMLSchema" xmlns:p="http://schemas.microsoft.com/office/2006/metadata/properties" xmlns:ns3="c0f90a4e-2534-4174-991f-0eb794d5b859" xmlns:ns4="d2981e9c-0c44-4237-a41f-50944ddb2e5d" targetNamespace="http://schemas.microsoft.com/office/2006/metadata/properties" ma:root="true" ma:fieldsID="d346f1bbf5bc0d23fe733b73729b7857" ns3:_="" ns4:_="">
    <xsd:import namespace="c0f90a4e-2534-4174-991f-0eb794d5b859"/>
    <xsd:import namespace="d2981e9c-0c44-4237-a41f-50944ddb2e5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CR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90a4e-2534-4174-991f-0eb794d5b8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981e9c-0c44-4237-a41f-50944ddb2e5d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B6039F5-814C-4C5B-A6B0-438D9C48FD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0f90a4e-2534-4174-991f-0eb794d5b859"/>
    <ds:schemaRef ds:uri="d2981e9c-0c44-4237-a41f-50944ddb2e5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374C82B-844E-4C6D-B41E-036AD4E59A6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ED3909F-E191-4C23-B23C-BA46B5ADDDA2}">
  <ds:schemaRefs>
    <ds:schemaRef ds:uri="http://purl.org/dc/terms/"/>
    <ds:schemaRef ds:uri="http://schemas.microsoft.com/office/2006/documentManagement/types"/>
    <ds:schemaRef ds:uri="d2981e9c-0c44-4237-a41f-50944ddb2e5d"/>
    <ds:schemaRef ds:uri="http://schemas.microsoft.com/office/infopath/2007/PartnerControls"/>
    <ds:schemaRef ds:uri="http://purl.org/dc/elements/1.1/"/>
    <ds:schemaRef ds:uri="http://schemas.microsoft.com/office/2006/metadata/properties"/>
    <ds:schemaRef ds:uri="c0f90a4e-2534-4174-991f-0eb794d5b859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1423</TotalTime>
  <Pages>11</Pages>
  <Words>3418</Words>
  <Application>Microsoft Office PowerPoint</Application>
  <PresentationFormat>Widescreen</PresentationFormat>
  <Paragraphs>359</Paragraphs>
  <Slides>47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3" baseType="lpstr">
      <vt:lpstr>Monotype Sorts</vt:lpstr>
      <vt:lpstr>Arial</vt:lpstr>
      <vt:lpstr>Calibri</vt:lpstr>
      <vt:lpstr>Montserrat</vt:lpstr>
      <vt:lpstr>PT Sans</vt:lpstr>
      <vt:lpstr>UCTI-Template-foundation-level</vt:lpstr>
      <vt:lpstr>CT004-3.5-3  Advanced Database Systems</vt:lpstr>
      <vt:lpstr>Learning objectives</vt:lpstr>
      <vt:lpstr>Transaction Support</vt:lpstr>
      <vt:lpstr>Example Transaction</vt:lpstr>
      <vt:lpstr>Transaction Support</vt:lpstr>
      <vt:lpstr>State Transition Diagram for Transaction </vt:lpstr>
      <vt:lpstr>Properties of Transactions </vt:lpstr>
      <vt:lpstr>Concurrency Control  </vt:lpstr>
      <vt:lpstr>Need for Concurrency Control</vt:lpstr>
      <vt:lpstr>Lost update problem</vt:lpstr>
      <vt:lpstr>Lost Update Problem</vt:lpstr>
      <vt:lpstr>Lost Update Problem</vt:lpstr>
      <vt:lpstr>Uncommitted Dependency Problem</vt:lpstr>
      <vt:lpstr>Uncommitted Dependency Problem</vt:lpstr>
      <vt:lpstr>Uncommitted Dependency Problem</vt:lpstr>
      <vt:lpstr>Inconsistent Analysis Problem</vt:lpstr>
      <vt:lpstr>Inconsistent Analysis Problem</vt:lpstr>
      <vt:lpstr>Inconsistent Analysis Problem</vt:lpstr>
      <vt:lpstr>Serializability</vt:lpstr>
      <vt:lpstr>Serializability</vt:lpstr>
      <vt:lpstr>Nonserial Schedule</vt:lpstr>
      <vt:lpstr>Serializability</vt:lpstr>
      <vt:lpstr>Example of Conflict Serializability</vt:lpstr>
      <vt:lpstr>Serializability</vt:lpstr>
      <vt:lpstr>Concurrency Control Techniques</vt:lpstr>
      <vt:lpstr>Locking</vt:lpstr>
      <vt:lpstr>Locking - Basic Rules</vt:lpstr>
      <vt:lpstr>Locking - Basic Rules</vt:lpstr>
      <vt:lpstr>Locking</vt:lpstr>
      <vt:lpstr>Two-Phase Locking (2PL)</vt:lpstr>
      <vt:lpstr>Two-Phase Locking (2PL)</vt:lpstr>
      <vt:lpstr>Preventing Lost Update Problem using 2PL</vt:lpstr>
      <vt:lpstr>Preventing Uncommitted Dependency Problem using 2PL</vt:lpstr>
      <vt:lpstr>Preventing Inconsistent Analysis Problem using 2PL</vt:lpstr>
      <vt:lpstr>Database Recovery </vt:lpstr>
      <vt:lpstr>Types of Failures</vt:lpstr>
      <vt:lpstr>Transactions and Recovery</vt:lpstr>
      <vt:lpstr>Transactions and Recovery</vt:lpstr>
      <vt:lpstr>Example</vt:lpstr>
      <vt:lpstr>Example </vt:lpstr>
      <vt:lpstr>Recovery Facilities</vt:lpstr>
      <vt:lpstr>Log File</vt:lpstr>
      <vt:lpstr>Log File</vt:lpstr>
      <vt:lpstr>Sample Log File</vt:lpstr>
      <vt:lpstr>Checkpointing</vt:lpstr>
      <vt:lpstr>Checkpointing</vt:lpstr>
      <vt:lpstr>PowerPoint Presentation</vt:lpstr>
    </vt:vector>
  </TitlesOfParts>
  <Company>APU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Teaching Slides</dc:subject>
  <dc:creator>DBB</dc:creator>
  <cp:keywords>2023</cp:keywords>
  <cp:lastModifiedBy>Lai Chew Ping</cp:lastModifiedBy>
  <cp:revision>333</cp:revision>
  <cp:lastPrinted>2023-02-03T03:07:34Z</cp:lastPrinted>
  <dcterms:created xsi:type="dcterms:W3CDTF">2005-08-02T10:18:20Z</dcterms:created>
  <dcterms:modified xsi:type="dcterms:W3CDTF">2024-11-27T02:22:23Z</dcterms:modified>
  <cp:category>Teaching Slides</cp:category>
  <cp:contentStatus>2023 Version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0x01010050C09830CF6CB84B8D12D02B69700FAF</vt:lpwstr>
  </property>
</Properties>
</file>