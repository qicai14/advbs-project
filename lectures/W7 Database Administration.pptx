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6.xml" ContentType="application/vnd.openxmlformats-officedocument.presentationml.notesSlide+xml"/>
  <Override PartName="/ppt/tags/tag12.xml" ContentType="application/vnd.openxmlformats-officedocument.presentationml.tags+xml"/>
  <Override PartName="/ppt/notesSlides/notesSlide7.xml" ContentType="application/vnd.openxmlformats-officedocument.presentationml.notesSlide+xml"/>
  <Override PartName="/ppt/tags/tag13.xml" ContentType="application/vnd.openxmlformats-officedocument.presentationml.tags+xml"/>
  <Override PartName="/ppt/notesSlides/notesSlide8.xml" ContentType="application/vnd.openxmlformats-officedocument.presentationml.notesSlide+xml"/>
  <Override PartName="/ppt/tags/tag14.xml" ContentType="application/vnd.openxmlformats-officedocument.presentationml.tags+xml"/>
  <Override PartName="/ppt/notesSlides/notesSlide9.xml" ContentType="application/vnd.openxmlformats-officedocument.presentationml.notesSlide+xml"/>
  <Override PartName="/ppt/tags/tag15.xml" ContentType="application/vnd.openxmlformats-officedocument.presentationml.tags+xml"/>
  <Override PartName="/ppt/notesSlides/notesSlide10.xml" ContentType="application/vnd.openxmlformats-officedocument.presentationml.notesSlide+xml"/>
  <Override PartName="/ppt/tags/tag16.xml" ContentType="application/vnd.openxmlformats-officedocument.presentationml.tags+xml"/>
  <Override PartName="/ppt/notesSlides/notesSlide11.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4"/>
  </p:sldMasterIdLst>
  <p:notesMasterIdLst>
    <p:notesMasterId r:id="rId26"/>
  </p:notesMasterIdLst>
  <p:handoutMasterIdLst>
    <p:handoutMasterId r:id="rId27"/>
  </p:handoutMasterIdLst>
  <p:sldIdLst>
    <p:sldId id="256" r:id="rId5"/>
    <p:sldId id="263" r:id="rId6"/>
    <p:sldId id="264" r:id="rId7"/>
    <p:sldId id="265" r:id="rId8"/>
    <p:sldId id="266" r:id="rId9"/>
    <p:sldId id="267" r:id="rId10"/>
    <p:sldId id="257" r:id="rId11"/>
    <p:sldId id="258" r:id="rId12"/>
    <p:sldId id="270" r:id="rId13"/>
    <p:sldId id="271" r:id="rId14"/>
    <p:sldId id="272" r:id="rId15"/>
    <p:sldId id="297" r:id="rId16"/>
    <p:sldId id="273" r:id="rId17"/>
    <p:sldId id="259" r:id="rId18"/>
    <p:sldId id="260" r:id="rId19"/>
    <p:sldId id="274" r:id="rId20"/>
    <p:sldId id="275" r:id="rId21"/>
    <p:sldId id="277" r:id="rId22"/>
    <p:sldId id="278" r:id="rId23"/>
    <p:sldId id="262" r:id="rId24"/>
    <p:sldId id="298" r:id="rId25"/>
  </p:sldIdLst>
  <p:sldSz cx="12192000" cy="6858000"/>
  <p:notesSz cx="7315200" cy="96012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Weekly Intro - White BG" id="{B4587B1E-BB88-4173-8339-2929187587A5}">
          <p14:sldIdLst>
            <p14:sldId id="256"/>
            <p14:sldId id="263"/>
            <p14:sldId id="264"/>
            <p14:sldId id="265"/>
            <p14:sldId id="266"/>
            <p14:sldId id="267"/>
            <p14:sldId id="257"/>
            <p14:sldId id="258"/>
            <p14:sldId id="270"/>
            <p14:sldId id="271"/>
            <p14:sldId id="272"/>
            <p14:sldId id="297"/>
            <p14:sldId id="273"/>
            <p14:sldId id="259"/>
            <p14:sldId id="260"/>
            <p14:sldId id="274"/>
            <p14:sldId id="275"/>
            <p14:sldId id="277"/>
            <p14:sldId id="278"/>
            <p14:sldId id="262"/>
            <p14:sldId id="2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F1449"/>
    <a:srgbClr val="001B4D"/>
    <a:srgbClr val="FB6B53"/>
    <a:srgbClr val="FF6600"/>
    <a:srgbClr val="A2C1FE"/>
    <a:srgbClr val="A2FFA3"/>
    <a:srgbClr val="FFFF99"/>
    <a:srgbClr val="FFFF66"/>
    <a:srgbClr val="FCFEB9"/>
    <a:srgbClr val="CEC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79" autoAdjust="0"/>
    <p:restoredTop sz="94249" autoAdjust="0"/>
  </p:normalViewPr>
  <p:slideViewPr>
    <p:cSldViewPr snapToGrid="0">
      <p:cViewPr varScale="1">
        <p:scale>
          <a:sx n="81" d="100"/>
          <a:sy n="81" d="100"/>
        </p:scale>
        <p:origin x="739" y="53"/>
      </p:cViewPr>
      <p:guideLst/>
    </p:cSldViewPr>
  </p:slideViewPr>
  <p:outlineViewPr>
    <p:cViewPr>
      <p:scale>
        <a:sx n="33" d="100"/>
        <a:sy n="33" d="100"/>
      </p:scale>
      <p:origin x="0" y="-4056"/>
    </p:cViewPr>
  </p:outlineViewPr>
  <p:notesTextViewPr>
    <p:cViewPr>
      <p:scale>
        <a:sx n="1" d="1"/>
        <a:sy n="1" d="1"/>
      </p:scale>
      <p:origin x="0" y="0"/>
    </p:cViewPr>
  </p:notesTextViewPr>
  <p:sorterViewPr>
    <p:cViewPr varScale="1">
      <p:scale>
        <a:sx n="1" d="1"/>
        <a:sy n="1" d="1"/>
      </p:scale>
      <p:origin x="0" y="-108"/>
    </p:cViewPr>
  </p:sorterViewPr>
  <p:notesViewPr>
    <p:cSldViewPr snapToGrid="0">
      <p:cViewPr varScale="1">
        <p:scale>
          <a:sx n="52" d="100"/>
          <a:sy n="52" d="100"/>
        </p:scale>
        <p:origin x="300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AC38E3-5144-412F-83AC-38A5B9DE52C7}"/>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3075" name="Rectangle 3">
            <a:extLst>
              <a:ext uri="{FF2B5EF4-FFF2-40B4-BE49-F238E27FC236}">
                <a16:creationId xmlns:a16="http://schemas.microsoft.com/office/drawing/2014/main" id="{608D27AB-67B4-4693-A97B-2BDB09DB8D75}"/>
              </a:ext>
            </a:extLst>
          </p:cNvPr>
          <p:cNvSpPr>
            <a:spLocks noChangeArrowheads="1"/>
          </p:cNvSpPr>
          <p:nvPr/>
        </p:nvSpPr>
        <p:spPr bwMode="auto">
          <a:xfrm>
            <a:off x="6853127" y="9192936"/>
            <a:ext cx="394340" cy="305212"/>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defRPr/>
            </a:pPr>
            <a:fld id="{A20BED86-76BB-4410-9008-061BF87713AB}" type="slidenum">
              <a:rPr lang="en-GB" altLang="en-US" sz="1400" smtClean="0">
                <a:latin typeface="Calibri" panose="020F0502020204030204" pitchFamily="34" charset="0"/>
                <a:cs typeface="Calibri" panose="020F0502020204030204" pitchFamily="34" charset="0"/>
              </a:rPr>
              <a:pPr algn="r">
                <a:defRPr/>
              </a:pP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6" name="Rectangle 4">
            <a:extLst>
              <a:ext uri="{FF2B5EF4-FFF2-40B4-BE49-F238E27FC236}">
                <a16:creationId xmlns:a16="http://schemas.microsoft.com/office/drawing/2014/main" id="{71953E81-BBEF-44F9-89AF-8D785172E06E}"/>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9" name="Slide Image Placeholder 8">
            <a:extLst>
              <a:ext uri="{FF2B5EF4-FFF2-40B4-BE49-F238E27FC236}">
                <a16:creationId xmlns:a16="http://schemas.microsoft.com/office/drawing/2014/main" id="{7839FB2E-0CEB-4E99-ABDC-42A6B27BD2DE}"/>
              </a:ext>
            </a:extLst>
          </p:cNvPr>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10" name="Notes Placeholder 9">
            <a:extLst>
              <a:ext uri="{FF2B5EF4-FFF2-40B4-BE49-F238E27FC236}">
                <a16:creationId xmlns:a16="http://schemas.microsoft.com/office/drawing/2014/main" id="{4B6ACB56-54E0-4171-9443-B2E55073FB8A}"/>
              </a:ext>
            </a:extLst>
          </p:cNvPr>
          <p:cNvSpPr>
            <a:spLocks noGrp="1"/>
          </p:cNvSpPr>
          <p:nvPr>
            <p:ph type="body" sz="quarter" idx="3"/>
          </p:nvPr>
        </p:nvSpPr>
        <p:spPr>
          <a:xfrm>
            <a:off x="731520" y="4620549"/>
            <a:ext cx="5852160" cy="378030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C1DBCDF8-B37C-47C2-B6B1-4B2635759598}"/>
              </a:ext>
            </a:extLst>
          </p:cNvPr>
          <p:cNvSpPr>
            <a:spLocks noGrp="1"/>
          </p:cNvSpPr>
          <p:nvPr>
            <p:ph type="sldNum" sz="quarter" idx="5"/>
          </p:nvPr>
        </p:nvSpPr>
        <p:spPr>
          <a:xfrm>
            <a:off x="4143588" y="9119503"/>
            <a:ext cx="3169920" cy="481697"/>
          </a:xfrm>
          <a:prstGeom prst="rect">
            <a:avLst/>
          </a:prstGeom>
        </p:spPr>
        <p:txBody>
          <a:bodyPr vert="horz" lIns="91440" tIns="45720" rIns="91440" bIns="45720" rtlCol="0" anchor="b"/>
          <a:lstStyle>
            <a:lvl1pPr algn="r">
              <a:defRPr sz="1200"/>
            </a:lvl1pPr>
          </a:lstStyle>
          <a:p>
            <a:fld id="{6630D94D-E1CF-4942-9670-7567F4F44871}"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www.businessdictionary.com/definition/organization.html" TargetMode="External"/><Relationship Id="rId13" Type="http://schemas.openxmlformats.org/officeDocument/2006/relationships/hyperlink" Target="http://www.investorwords.com/2656/its.html" TargetMode="External"/><Relationship Id="rId18" Type="http://schemas.openxmlformats.org/officeDocument/2006/relationships/hyperlink" Target="http://www.businessdictionary.com/definition/attitude.html" TargetMode="External"/><Relationship Id="rId26" Type="http://schemas.openxmlformats.org/officeDocument/2006/relationships/hyperlink" Target="http://changingminds.org/explanations/needs/control.htm" TargetMode="External"/><Relationship Id="rId3" Type="http://schemas.openxmlformats.org/officeDocument/2006/relationships/hyperlink" Target="http://www.businessdictionary.com/definition/behavior.html" TargetMode="External"/><Relationship Id="rId21" Type="http://schemas.openxmlformats.org/officeDocument/2006/relationships/hyperlink" Target="http://www.businessdictionary.com/definition/rule.html" TargetMode="External"/><Relationship Id="rId7" Type="http://schemas.openxmlformats.org/officeDocument/2006/relationships/hyperlink" Target="http://www.businessdictionary.com/definition/environment.html" TargetMode="External"/><Relationship Id="rId12" Type="http://schemas.openxmlformats.org/officeDocument/2006/relationships/hyperlink" Target="http://www.businessdictionary.com/definition/experience.html" TargetMode="External"/><Relationship Id="rId17" Type="http://schemas.openxmlformats.org/officeDocument/2006/relationships/hyperlink" Target="http://www.investorwords.com/9809/future.html" TargetMode="External"/><Relationship Id="rId25" Type="http://schemas.openxmlformats.org/officeDocument/2006/relationships/hyperlink" Target="http://changingminds.org/explanations/needs/safety.htm" TargetMode="External"/><Relationship Id="rId2" Type="http://schemas.openxmlformats.org/officeDocument/2006/relationships/slide" Target="../slides/slide6.xml"/><Relationship Id="rId16" Type="http://schemas.openxmlformats.org/officeDocument/2006/relationships/hyperlink" Target="http://www.investorwords.com/11501/world.html" TargetMode="External"/><Relationship Id="rId20" Type="http://schemas.openxmlformats.org/officeDocument/2006/relationships/hyperlink" Target="http://www.investorguide.com/definition/customs.html" TargetMode="External"/><Relationship Id="rId29" Type="http://schemas.openxmlformats.org/officeDocument/2006/relationships/hyperlink" Target="http://changingminds.org/principles/pull.htm" TargetMode="External"/><Relationship Id="rId1" Type="http://schemas.openxmlformats.org/officeDocument/2006/relationships/notesMaster" Target="../notesMasters/notesMaster1.xml"/><Relationship Id="rId6" Type="http://schemas.openxmlformats.org/officeDocument/2006/relationships/hyperlink" Target="http://www.businessdictionary.com/definition/psychological.html" TargetMode="External"/><Relationship Id="rId11" Type="http://schemas.openxmlformats.org/officeDocument/2006/relationships/hyperlink" Target="http://www.businessdictionary.com/definition/expectation.html" TargetMode="External"/><Relationship Id="rId24" Type="http://schemas.openxmlformats.org/officeDocument/2006/relationships/hyperlink" Target="http://www.businessdictionary.com/definition/corporate-culture.html" TargetMode="External"/><Relationship Id="rId5" Type="http://schemas.openxmlformats.org/officeDocument/2006/relationships/hyperlink" Target="http://www.investorguide.com/definition/social.html" TargetMode="External"/><Relationship Id="rId15" Type="http://schemas.openxmlformats.org/officeDocument/2006/relationships/hyperlink" Target="http://www.investorwords.com/10504/outside.html" TargetMode="External"/><Relationship Id="rId23" Type="http://schemas.openxmlformats.org/officeDocument/2006/relationships/hyperlink" Target="http://www.businessdictionary.com/definition/valid.html" TargetMode="External"/><Relationship Id="rId28" Type="http://schemas.openxmlformats.org/officeDocument/2006/relationships/hyperlink" Target="http://changingminds.org/principles/push.htm" TargetMode="External"/><Relationship Id="rId10" Type="http://schemas.openxmlformats.org/officeDocument/2006/relationships/hyperlink" Target="http://www.investorwords.com/3504/organization.html" TargetMode="External"/><Relationship Id="rId19" Type="http://schemas.openxmlformats.org/officeDocument/2006/relationships/hyperlink" Target="http://www.businessdictionary.com/definition/beliefs.html" TargetMode="External"/><Relationship Id="rId4" Type="http://schemas.openxmlformats.org/officeDocument/2006/relationships/hyperlink" Target="http://www.businessdictionary.com/definition/contribute.html" TargetMode="External"/><Relationship Id="rId9" Type="http://schemas.openxmlformats.org/officeDocument/2006/relationships/hyperlink" Target="http://www.investorguide.com/definition/include.html" TargetMode="External"/><Relationship Id="rId14" Type="http://schemas.openxmlformats.org/officeDocument/2006/relationships/hyperlink" Target="http://www.businessdictionary.com/definition/working.html" TargetMode="External"/><Relationship Id="rId22" Type="http://schemas.openxmlformats.org/officeDocument/2006/relationships/hyperlink" Target="http://www.businessdictionary.com/definition/developed.html" TargetMode="External"/><Relationship Id="rId27" Type="http://schemas.openxmlformats.org/officeDocument/2006/relationships/hyperlink" Target="http://changingminds.org/explanations/needs/identity.htm"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This is very important aspect</a:t>
            </a:r>
            <a:r>
              <a:rPr lang="en-US" baseline="0" dirty="0"/>
              <a:t> since it will effect the organization from financial point of view</a:t>
            </a:r>
          </a:p>
          <a:p>
            <a:pPr>
              <a:buFontTx/>
              <a:buChar char="-"/>
            </a:pPr>
            <a:r>
              <a:rPr lang="en-US" baseline="0" dirty="0"/>
              <a:t> which type of database to be used (planning a head for 5 years at least)</a:t>
            </a:r>
          </a:p>
          <a:p>
            <a:pPr>
              <a:buFontTx/>
              <a:buChar char="-"/>
            </a:pPr>
            <a:r>
              <a:rPr lang="en-US" baseline="0" dirty="0"/>
              <a:t> database administrators must be having many </a:t>
            </a:r>
            <a:r>
              <a:rPr lang="en-US" baseline="0" dirty="0" err="1"/>
              <a:t>skiils</a:t>
            </a:r>
            <a:endParaRPr lang="en-US" baseline="0" dirty="0"/>
          </a:p>
          <a:p>
            <a:pPr>
              <a:buFontTx/>
              <a:buChar char="-"/>
            </a:pPr>
            <a:r>
              <a:rPr lang="en-US" baseline="0" dirty="0"/>
              <a:t>How to provide support</a:t>
            </a:r>
          </a:p>
          <a:p>
            <a:pPr>
              <a:buFontTx/>
              <a:buChar char="-"/>
            </a:pPr>
            <a:endParaRPr lang="en-US" baseline="0" dirty="0"/>
          </a:p>
          <a:p>
            <a:pPr>
              <a:buFontTx/>
              <a:buChar char="-"/>
            </a:pPr>
            <a:endParaRPr lang="en-US" dirty="0"/>
          </a:p>
        </p:txBody>
      </p:sp>
    </p:spTree>
    <p:extLst>
      <p:ext uri="{BB962C8B-B14F-4D97-AF65-F5344CB8AC3E}">
        <p14:creationId xmlns:p14="http://schemas.microsoft.com/office/powerpoint/2010/main" val="2554992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Understand</a:t>
            </a:r>
            <a:r>
              <a:rPr lang="en-US" baseline="0" dirty="0"/>
              <a:t> the process is the most important factor</a:t>
            </a:r>
          </a:p>
          <a:p>
            <a:pPr>
              <a:buFontTx/>
              <a:buChar char="-"/>
            </a:pPr>
            <a:r>
              <a:rPr lang="en-US" baseline="0" dirty="0"/>
              <a:t>Proper planning</a:t>
            </a:r>
          </a:p>
          <a:p>
            <a:pPr>
              <a:buFontTx/>
              <a:buChar char="-"/>
            </a:pPr>
            <a:r>
              <a:rPr lang="en-US" baseline="0" dirty="0"/>
              <a:t> communication skills</a:t>
            </a:r>
          </a:p>
          <a:p>
            <a:pPr>
              <a:buFontTx/>
              <a:buChar char="-"/>
            </a:pPr>
            <a:r>
              <a:rPr lang="en-US" baseline="0" dirty="0"/>
              <a:t> top management support (Case scenario)</a:t>
            </a:r>
          </a:p>
          <a:p>
            <a:pPr>
              <a:buFontTx/>
              <a:buChar char="-"/>
            </a:pPr>
            <a:endParaRPr lang="en-US" baseline="0" dirty="0"/>
          </a:p>
        </p:txBody>
      </p:sp>
    </p:spTree>
    <p:extLst>
      <p:ext uri="{BB962C8B-B14F-4D97-AF65-F5344CB8AC3E}">
        <p14:creationId xmlns:p14="http://schemas.microsoft.com/office/powerpoint/2010/main" val="3476658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b="0" i="0" kern="1200" dirty="0">
                <a:solidFill>
                  <a:schemeClr val="tx1"/>
                </a:solidFill>
                <a:latin typeface="Book Antiqua" pitchFamily="18" charset="0"/>
                <a:ea typeface="+mn-ea"/>
                <a:cs typeface="+mn-cs"/>
              </a:rPr>
              <a:t>Organizational culture</a:t>
            </a:r>
          </a:p>
          <a:p>
            <a:endParaRPr lang="en-US" sz="1200" b="0" i="0" kern="1200" dirty="0">
              <a:solidFill>
                <a:schemeClr val="tx1"/>
              </a:solidFill>
              <a:latin typeface="Book Antiqua" pitchFamily="18" charset="0"/>
              <a:ea typeface="+mn-ea"/>
              <a:cs typeface="+mn-cs"/>
            </a:endParaRPr>
          </a:p>
          <a:p>
            <a:r>
              <a:rPr lang="en-US" sz="1200" b="0" i="0" kern="1200" dirty="0">
                <a:solidFill>
                  <a:schemeClr val="tx1"/>
                </a:solidFill>
                <a:latin typeface="Book Antiqua" pitchFamily="18" charset="0"/>
                <a:ea typeface="+mn-ea"/>
                <a:cs typeface="+mn-cs"/>
              </a:rPr>
              <a:t>The values and </a:t>
            </a:r>
            <a:r>
              <a:rPr lang="en-US" sz="1200" b="0" i="0" kern="1200" dirty="0">
                <a:solidFill>
                  <a:schemeClr val="tx1"/>
                </a:solidFill>
                <a:latin typeface="Book Antiqua" pitchFamily="18" charset="0"/>
                <a:ea typeface="+mn-ea"/>
                <a:cs typeface="+mn-cs"/>
                <a:hlinkClick r:id="rId3"/>
              </a:rPr>
              <a:t>behaviors</a:t>
            </a:r>
            <a:r>
              <a:rPr lang="en-US" sz="1200" b="0" i="0" kern="1200" dirty="0">
                <a:solidFill>
                  <a:schemeClr val="tx1"/>
                </a:solidFill>
                <a:latin typeface="Book Antiqua" pitchFamily="18" charset="0"/>
                <a:ea typeface="+mn-ea"/>
                <a:cs typeface="+mn-cs"/>
              </a:rPr>
              <a:t> that </a:t>
            </a:r>
            <a:r>
              <a:rPr lang="en-US" sz="1200" b="0" i="0" kern="1200" dirty="0">
                <a:solidFill>
                  <a:schemeClr val="tx1"/>
                </a:solidFill>
                <a:latin typeface="Book Antiqua" pitchFamily="18" charset="0"/>
                <a:ea typeface="+mn-ea"/>
                <a:cs typeface="+mn-cs"/>
                <a:hlinkClick r:id="rId4"/>
              </a:rPr>
              <a:t>contribute</a:t>
            </a:r>
            <a:r>
              <a:rPr lang="en-US" sz="1200" b="0" i="0" kern="1200" dirty="0">
                <a:solidFill>
                  <a:schemeClr val="tx1"/>
                </a:solidFill>
                <a:latin typeface="Book Antiqua" pitchFamily="18" charset="0"/>
                <a:ea typeface="+mn-ea"/>
                <a:cs typeface="+mn-cs"/>
              </a:rPr>
              <a:t> to the unique </a:t>
            </a:r>
            <a:r>
              <a:rPr lang="en-US" sz="1200" b="0" i="0" kern="1200" dirty="0">
                <a:solidFill>
                  <a:schemeClr val="tx1"/>
                </a:solidFill>
                <a:latin typeface="Book Antiqua" pitchFamily="18" charset="0"/>
                <a:ea typeface="+mn-ea"/>
                <a:cs typeface="+mn-cs"/>
                <a:hlinkClick r:id="rId5"/>
              </a:rPr>
              <a:t>social</a:t>
            </a:r>
            <a:r>
              <a:rPr lang="en-US" sz="1200" b="0" i="0" kern="1200" dirty="0">
                <a:solidFill>
                  <a:schemeClr val="tx1"/>
                </a:solidFill>
                <a:latin typeface="Book Antiqua" pitchFamily="18" charset="0"/>
                <a:ea typeface="+mn-ea"/>
                <a:cs typeface="+mn-cs"/>
              </a:rPr>
              <a:t> and </a:t>
            </a:r>
            <a:r>
              <a:rPr lang="en-US" sz="1200" b="0" i="0" kern="1200" dirty="0">
                <a:solidFill>
                  <a:schemeClr val="tx1"/>
                </a:solidFill>
                <a:latin typeface="Book Antiqua" pitchFamily="18" charset="0"/>
                <a:ea typeface="+mn-ea"/>
                <a:cs typeface="+mn-cs"/>
                <a:hlinkClick r:id="rId6"/>
              </a:rPr>
              <a:t>psychological</a:t>
            </a:r>
            <a:r>
              <a:rPr lang="en-US" sz="1200" b="0" i="0" kern="1200" dirty="0">
                <a:solidFill>
                  <a:schemeClr val="tx1"/>
                </a:solidFill>
                <a:latin typeface="Book Antiqua" pitchFamily="18" charset="0"/>
                <a:ea typeface="+mn-ea"/>
                <a:cs typeface="+mn-cs"/>
              </a:rPr>
              <a:t> </a:t>
            </a:r>
            <a:r>
              <a:rPr lang="en-US" sz="1200" b="0" i="0" kern="1200" dirty="0">
                <a:solidFill>
                  <a:schemeClr val="tx1"/>
                </a:solidFill>
                <a:latin typeface="Book Antiqua" pitchFamily="18" charset="0"/>
                <a:ea typeface="+mn-ea"/>
                <a:cs typeface="+mn-cs"/>
                <a:hlinkClick r:id="rId7"/>
              </a:rPr>
              <a:t>environment</a:t>
            </a:r>
            <a:r>
              <a:rPr lang="en-US" sz="1200" b="0" i="0" kern="1200" dirty="0">
                <a:solidFill>
                  <a:schemeClr val="tx1"/>
                </a:solidFill>
                <a:latin typeface="Book Antiqua" pitchFamily="18" charset="0"/>
                <a:ea typeface="+mn-ea"/>
                <a:cs typeface="+mn-cs"/>
              </a:rPr>
              <a:t> of an </a:t>
            </a:r>
            <a:r>
              <a:rPr lang="en-US" sz="1200" b="0" i="0" kern="1200" dirty="0">
                <a:solidFill>
                  <a:schemeClr val="tx1"/>
                </a:solidFill>
                <a:latin typeface="Book Antiqua" pitchFamily="18" charset="0"/>
                <a:ea typeface="+mn-ea"/>
                <a:cs typeface="+mn-cs"/>
                <a:hlinkClick r:id="rId8"/>
              </a:rPr>
              <a:t>organization</a:t>
            </a:r>
            <a:r>
              <a:rPr lang="en-US" sz="1200" b="0" i="0" kern="1200" dirty="0">
                <a:solidFill>
                  <a:schemeClr val="tx1"/>
                </a:solidFill>
                <a:latin typeface="Book Antiqua" pitchFamily="18" charset="0"/>
                <a:ea typeface="+mn-ea"/>
                <a:cs typeface="+mn-cs"/>
              </a:rPr>
              <a:t>.</a:t>
            </a:r>
          </a:p>
          <a:p>
            <a:r>
              <a:rPr lang="en-US" sz="1200" b="0" i="0" kern="1200" dirty="0">
                <a:solidFill>
                  <a:schemeClr val="tx1"/>
                </a:solidFill>
                <a:latin typeface="Book Antiqua" pitchFamily="18" charset="0"/>
                <a:ea typeface="+mn-ea"/>
                <a:cs typeface="+mn-cs"/>
              </a:rPr>
              <a:t>Organizational culture </a:t>
            </a:r>
            <a:r>
              <a:rPr lang="en-US" sz="1200" b="0" i="0" kern="1200" dirty="0">
                <a:solidFill>
                  <a:schemeClr val="tx1"/>
                </a:solidFill>
                <a:latin typeface="Book Antiqua" pitchFamily="18" charset="0"/>
                <a:ea typeface="+mn-ea"/>
                <a:cs typeface="+mn-cs"/>
                <a:hlinkClick r:id="rId9"/>
              </a:rPr>
              <a:t>includes</a:t>
            </a:r>
            <a:r>
              <a:rPr lang="en-US" sz="1200" b="0" i="0" kern="1200" dirty="0">
                <a:solidFill>
                  <a:schemeClr val="tx1"/>
                </a:solidFill>
                <a:latin typeface="Book Antiqua" pitchFamily="18" charset="0"/>
                <a:ea typeface="+mn-ea"/>
                <a:cs typeface="+mn-cs"/>
              </a:rPr>
              <a:t> an </a:t>
            </a:r>
            <a:r>
              <a:rPr lang="en-US" sz="1200" b="0" i="0" kern="1200" dirty="0">
                <a:solidFill>
                  <a:schemeClr val="tx1"/>
                </a:solidFill>
                <a:latin typeface="Book Antiqua" pitchFamily="18" charset="0"/>
                <a:ea typeface="+mn-ea"/>
                <a:cs typeface="+mn-cs"/>
                <a:hlinkClick r:id="rId10"/>
              </a:rPr>
              <a:t>organization's</a:t>
            </a:r>
            <a:r>
              <a:rPr lang="en-US" sz="1200" b="0" i="0" kern="1200" dirty="0">
                <a:solidFill>
                  <a:schemeClr val="tx1"/>
                </a:solidFill>
                <a:latin typeface="Book Antiqua" pitchFamily="18" charset="0"/>
                <a:ea typeface="+mn-ea"/>
                <a:cs typeface="+mn-cs"/>
              </a:rPr>
              <a:t> </a:t>
            </a:r>
            <a:r>
              <a:rPr lang="en-US" sz="1200" b="0" i="0" kern="1200" dirty="0">
                <a:solidFill>
                  <a:schemeClr val="tx1"/>
                </a:solidFill>
                <a:latin typeface="Book Antiqua" pitchFamily="18" charset="0"/>
                <a:ea typeface="+mn-ea"/>
                <a:cs typeface="+mn-cs"/>
                <a:hlinkClick r:id="rId11"/>
              </a:rPr>
              <a:t>expectations</a:t>
            </a:r>
            <a:r>
              <a:rPr lang="en-US" sz="1200" b="0" i="0" kern="1200" dirty="0">
                <a:solidFill>
                  <a:schemeClr val="tx1"/>
                </a:solidFill>
                <a:latin typeface="Book Antiqua" pitchFamily="18" charset="0"/>
                <a:ea typeface="+mn-ea"/>
                <a:cs typeface="+mn-cs"/>
              </a:rPr>
              <a:t>, </a:t>
            </a:r>
            <a:r>
              <a:rPr lang="en-US" sz="1200" b="0" i="0" kern="1200" dirty="0">
                <a:solidFill>
                  <a:schemeClr val="tx1"/>
                </a:solidFill>
                <a:latin typeface="Book Antiqua" pitchFamily="18" charset="0"/>
                <a:ea typeface="+mn-ea"/>
                <a:cs typeface="+mn-cs"/>
                <a:hlinkClick r:id="rId12"/>
              </a:rPr>
              <a:t>experiences</a:t>
            </a:r>
            <a:r>
              <a:rPr lang="en-US" sz="1200" b="0" i="0" kern="1200" dirty="0">
                <a:solidFill>
                  <a:schemeClr val="tx1"/>
                </a:solidFill>
                <a:latin typeface="Book Antiqua" pitchFamily="18" charset="0"/>
                <a:ea typeface="+mn-ea"/>
                <a:cs typeface="+mn-cs"/>
              </a:rPr>
              <a:t>, philosophy, and values that hold it together, and is expressed in </a:t>
            </a:r>
            <a:r>
              <a:rPr lang="en-US" sz="1200" b="0" i="0" kern="1200" dirty="0">
                <a:solidFill>
                  <a:schemeClr val="tx1"/>
                </a:solidFill>
                <a:latin typeface="Book Antiqua" pitchFamily="18" charset="0"/>
                <a:ea typeface="+mn-ea"/>
                <a:cs typeface="+mn-cs"/>
                <a:hlinkClick r:id="rId13"/>
              </a:rPr>
              <a:t>its</a:t>
            </a:r>
            <a:r>
              <a:rPr lang="en-US" sz="1200" b="0" i="0" kern="1200" dirty="0">
                <a:solidFill>
                  <a:schemeClr val="tx1"/>
                </a:solidFill>
                <a:latin typeface="Book Antiqua" pitchFamily="18" charset="0"/>
                <a:ea typeface="+mn-ea"/>
                <a:cs typeface="+mn-cs"/>
              </a:rPr>
              <a:t> self-image, inner </a:t>
            </a:r>
            <a:r>
              <a:rPr lang="en-US" sz="1200" b="0" i="0" kern="1200" dirty="0">
                <a:solidFill>
                  <a:schemeClr val="tx1"/>
                </a:solidFill>
                <a:latin typeface="Book Antiqua" pitchFamily="18" charset="0"/>
                <a:ea typeface="+mn-ea"/>
                <a:cs typeface="+mn-cs"/>
                <a:hlinkClick r:id="rId14"/>
              </a:rPr>
              <a:t>workings</a:t>
            </a:r>
            <a:r>
              <a:rPr lang="en-US" sz="1200" b="0" i="0" kern="1200" dirty="0">
                <a:solidFill>
                  <a:schemeClr val="tx1"/>
                </a:solidFill>
                <a:latin typeface="Book Antiqua" pitchFamily="18" charset="0"/>
                <a:ea typeface="+mn-ea"/>
                <a:cs typeface="+mn-cs"/>
              </a:rPr>
              <a:t>, interactions with the </a:t>
            </a:r>
            <a:r>
              <a:rPr lang="en-US" sz="1200" b="0" i="0" kern="1200" dirty="0">
                <a:solidFill>
                  <a:schemeClr val="tx1"/>
                </a:solidFill>
                <a:latin typeface="Book Antiqua" pitchFamily="18" charset="0"/>
                <a:ea typeface="+mn-ea"/>
                <a:cs typeface="+mn-cs"/>
                <a:hlinkClick r:id="rId15"/>
              </a:rPr>
              <a:t>outside</a:t>
            </a:r>
            <a:r>
              <a:rPr lang="en-US" sz="1200" b="0" i="0" kern="1200" dirty="0">
                <a:solidFill>
                  <a:schemeClr val="tx1"/>
                </a:solidFill>
                <a:latin typeface="Book Antiqua" pitchFamily="18" charset="0"/>
                <a:ea typeface="+mn-ea"/>
                <a:cs typeface="+mn-cs"/>
              </a:rPr>
              <a:t> </a:t>
            </a:r>
            <a:r>
              <a:rPr lang="en-US" sz="1200" b="0" i="0" kern="1200" dirty="0">
                <a:solidFill>
                  <a:schemeClr val="tx1"/>
                </a:solidFill>
                <a:latin typeface="Book Antiqua" pitchFamily="18" charset="0"/>
                <a:ea typeface="+mn-ea"/>
                <a:cs typeface="+mn-cs"/>
                <a:hlinkClick r:id="rId16"/>
              </a:rPr>
              <a:t>world</a:t>
            </a:r>
            <a:r>
              <a:rPr lang="en-US" sz="1200" b="0" i="0" kern="1200" dirty="0">
                <a:solidFill>
                  <a:schemeClr val="tx1"/>
                </a:solidFill>
                <a:latin typeface="Book Antiqua" pitchFamily="18" charset="0"/>
                <a:ea typeface="+mn-ea"/>
                <a:cs typeface="+mn-cs"/>
              </a:rPr>
              <a:t>, and </a:t>
            </a:r>
            <a:r>
              <a:rPr lang="en-US" sz="1200" b="0" i="0" kern="1200" dirty="0">
                <a:solidFill>
                  <a:schemeClr val="tx1"/>
                </a:solidFill>
                <a:latin typeface="Book Antiqua" pitchFamily="18" charset="0"/>
                <a:ea typeface="+mn-ea"/>
                <a:cs typeface="+mn-cs"/>
                <a:hlinkClick r:id="rId17"/>
              </a:rPr>
              <a:t>future</a:t>
            </a:r>
            <a:r>
              <a:rPr lang="en-US" sz="1200" b="0" i="0" kern="1200" dirty="0">
                <a:solidFill>
                  <a:schemeClr val="tx1"/>
                </a:solidFill>
                <a:latin typeface="Book Antiqua" pitchFamily="18" charset="0"/>
                <a:ea typeface="+mn-ea"/>
                <a:cs typeface="+mn-cs"/>
              </a:rPr>
              <a:t> expectations. It is based on shared </a:t>
            </a:r>
            <a:r>
              <a:rPr lang="en-US" sz="1200" b="0" i="0" kern="1200" dirty="0">
                <a:solidFill>
                  <a:schemeClr val="tx1"/>
                </a:solidFill>
                <a:latin typeface="Book Antiqua" pitchFamily="18" charset="0"/>
                <a:ea typeface="+mn-ea"/>
                <a:cs typeface="+mn-cs"/>
                <a:hlinkClick r:id="rId18"/>
              </a:rPr>
              <a:t>attitudes</a:t>
            </a:r>
            <a:r>
              <a:rPr lang="en-US" sz="1200" b="0" i="0" kern="1200" dirty="0">
                <a:solidFill>
                  <a:schemeClr val="tx1"/>
                </a:solidFill>
                <a:latin typeface="Book Antiqua" pitchFamily="18" charset="0"/>
                <a:ea typeface="+mn-ea"/>
                <a:cs typeface="+mn-cs"/>
              </a:rPr>
              <a:t>, </a:t>
            </a:r>
            <a:r>
              <a:rPr lang="en-US" sz="1200" b="0" i="0" kern="1200" dirty="0">
                <a:solidFill>
                  <a:schemeClr val="tx1"/>
                </a:solidFill>
                <a:latin typeface="Book Antiqua" pitchFamily="18" charset="0"/>
                <a:ea typeface="+mn-ea"/>
                <a:cs typeface="+mn-cs"/>
                <a:hlinkClick r:id="rId19"/>
              </a:rPr>
              <a:t>beliefs</a:t>
            </a:r>
            <a:r>
              <a:rPr lang="en-US" sz="1200" b="0" i="0" kern="1200" dirty="0">
                <a:solidFill>
                  <a:schemeClr val="tx1"/>
                </a:solidFill>
                <a:latin typeface="Book Antiqua" pitchFamily="18" charset="0"/>
                <a:ea typeface="+mn-ea"/>
                <a:cs typeface="+mn-cs"/>
              </a:rPr>
              <a:t>, </a:t>
            </a:r>
            <a:r>
              <a:rPr lang="en-US" sz="1200" b="0" i="0" kern="1200" dirty="0">
                <a:solidFill>
                  <a:schemeClr val="tx1"/>
                </a:solidFill>
                <a:latin typeface="Book Antiqua" pitchFamily="18" charset="0"/>
                <a:ea typeface="+mn-ea"/>
                <a:cs typeface="+mn-cs"/>
                <a:hlinkClick r:id="rId20"/>
              </a:rPr>
              <a:t>customs</a:t>
            </a:r>
            <a:r>
              <a:rPr lang="en-US" sz="1200" b="0" i="0" kern="1200" dirty="0">
                <a:solidFill>
                  <a:schemeClr val="tx1"/>
                </a:solidFill>
                <a:latin typeface="Book Antiqua" pitchFamily="18" charset="0"/>
                <a:ea typeface="+mn-ea"/>
                <a:cs typeface="+mn-cs"/>
              </a:rPr>
              <a:t>, and written and unwritten </a:t>
            </a:r>
            <a:r>
              <a:rPr lang="en-US" sz="1200" b="0" i="0" kern="1200" dirty="0">
                <a:solidFill>
                  <a:schemeClr val="tx1"/>
                </a:solidFill>
                <a:latin typeface="Book Antiqua" pitchFamily="18" charset="0"/>
                <a:ea typeface="+mn-ea"/>
                <a:cs typeface="+mn-cs"/>
                <a:hlinkClick r:id="rId21"/>
              </a:rPr>
              <a:t>rules</a:t>
            </a:r>
            <a:r>
              <a:rPr lang="en-US" sz="1200" b="0" i="0" kern="1200" dirty="0">
                <a:solidFill>
                  <a:schemeClr val="tx1"/>
                </a:solidFill>
                <a:latin typeface="Book Antiqua" pitchFamily="18" charset="0"/>
                <a:ea typeface="+mn-ea"/>
                <a:cs typeface="+mn-cs"/>
              </a:rPr>
              <a:t> that have been </a:t>
            </a:r>
            <a:r>
              <a:rPr lang="en-US" sz="1200" b="0" i="0" kern="1200" dirty="0">
                <a:solidFill>
                  <a:schemeClr val="tx1"/>
                </a:solidFill>
                <a:latin typeface="Book Antiqua" pitchFamily="18" charset="0"/>
                <a:ea typeface="+mn-ea"/>
                <a:cs typeface="+mn-cs"/>
                <a:hlinkClick r:id="rId22"/>
              </a:rPr>
              <a:t>developed</a:t>
            </a:r>
            <a:r>
              <a:rPr lang="en-US" sz="1200" b="0" i="0" kern="1200" dirty="0">
                <a:solidFill>
                  <a:schemeClr val="tx1"/>
                </a:solidFill>
                <a:latin typeface="Book Antiqua" pitchFamily="18" charset="0"/>
                <a:ea typeface="+mn-ea"/>
                <a:cs typeface="+mn-cs"/>
              </a:rPr>
              <a:t> over time and are considered </a:t>
            </a:r>
            <a:r>
              <a:rPr lang="en-US" sz="1200" b="0" i="0" kern="1200" dirty="0">
                <a:solidFill>
                  <a:schemeClr val="tx1"/>
                </a:solidFill>
                <a:latin typeface="Book Antiqua" pitchFamily="18" charset="0"/>
                <a:ea typeface="+mn-ea"/>
                <a:cs typeface="+mn-cs"/>
                <a:hlinkClick r:id="rId23"/>
              </a:rPr>
              <a:t>valid</a:t>
            </a:r>
            <a:r>
              <a:rPr lang="en-US" sz="1200" b="0" i="0" kern="1200" dirty="0">
                <a:solidFill>
                  <a:schemeClr val="tx1"/>
                </a:solidFill>
                <a:latin typeface="Book Antiqua" pitchFamily="18" charset="0"/>
                <a:ea typeface="+mn-ea"/>
                <a:cs typeface="+mn-cs"/>
              </a:rPr>
              <a:t>. Also called </a:t>
            </a:r>
            <a:r>
              <a:rPr lang="en-US" sz="1200" b="0" i="0" kern="1200" dirty="0">
                <a:solidFill>
                  <a:schemeClr val="tx1"/>
                </a:solidFill>
                <a:latin typeface="Book Antiqua" pitchFamily="18" charset="0"/>
                <a:ea typeface="+mn-ea"/>
                <a:cs typeface="+mn-cs"/>
                <a:hlinkClick r:id="rId24"/>
              </a:rPr>
              <a:t>corporate culture</a:t>
            </a:r>
            <a:endParaRPr lang="en-US" sz="1200" b="0" i="0" kern="1200" dirty="0">
              <a:solidFill>
                <a:schemeClr val="tx1"/>
              </a:solidFill>
              <a:latin typeface="Book Antiqua" pitchFamily="18" charset="0"/>
              <a:ea typeface="+mn-ea"/>
              <a:cs typeface="+mn-cs"/>
            </a:endParaRPr>
          </a:p>
          <a:p>
            <a:endParaRPr lang="en-US" sz="1200" b="0" i="0" kern="1200" dirty="0">
              <a:solidFill>
                <a:schemeClr val="tx1"/>
              </a:solidFill>
              <a:latin typeface="Book Antiqua" pitchFamily="18" charset="0"/>
              <a:ea typeface="+mn-ea"/>
              <a:cs typeface="+mn-cs"/>
            </a:endParaRPr>
          </a:p>
          <a:p>
            <a:r>
              <a:rPr lang="en-US" sz="1200" b="1" i="0" kern="1200" dirty="0">
                <a:solidFill>
                  <a:schemeClr val="tx1"/>
                </a:solidFill>
                <a:latin typeface="Book Antiqua" pitchFamily="18" charset="0"/>
                <a:ea typeface="+mn-ea"/>
                <a:cs typeface="+mn-cs"/>
              </a:rPr>
              <a:t>Change</a:t>
            </a:r>
            <a:r>
              <a:rPr lang="en-US" sz="1200" b="1" i="0" kern="1200" baseline="0" dirty="0">
                <a:solidFill>
                  <a:schemeClr val="tx1"/>
                </a:solidFill>
                <a:latin typeface="Book Antiqua" pitchFamily="18" charset="0"/>
                <a:ea typeface="+mn-ea"/>
                <a:cs typeface="+mn-cs"/>
              </a:rPr>
              <a:t> process</a:t>
            </a:r>
            <a:endParaRPr lang="en-US" sz="1200" b="1" i="0" kern="1200" dirty="0">
              <a:solidFill>
                <a:schemeClr val="tx1"/>
              </a:solidFill>
              <a:latin typeface="Book Antiqua" pitchFamily="18" charset="0"/>
              <a:ea typeface="+mn-ea"/>
              <a:cs typeface="+mn-cs"/>
            </a:endParaRPr>
          </a:p>
          <a:p>
            <a:endParaRPr lang="en-US" sz="1200" b="1" i="0" kern="1200" dirty="0">
              <a:solidFill>
                <a:schemeClr val="tx1"/>
              </a:solidFill>
              <a:latin typeface="Book Antiqua" pitchFamily="18" charset="0"/>
              <a:ea typeface="+mn-ea"/>
              <a:cs typeface="+mn-cs"/>
            </a:endParaRPr>
          </a:p>
          <a:p>
            <a:r>
              <a:rPr lang="en-US" sz="1200" b="1" i="0" kern="1200" dirty="0">
                <a:solidFill>
                  <a:schemeClr val="tx1"/>
                </a:solidFill>
                <a:latin typeface="Book Antiqua" pitchFamily="18" charset="0"/>
                <a:ea typeface="+mn-ea"/>
                <a:cs typeface="+mn-cs"/>
              </a:rPr>
              <a:t>Unfreeze</a:t>
            </a:r>
          </a:p>
          <a:p>
            <a:r>
              <a:rPr lang="en-US" sz="1200" b="0" i="0" kern="1200" dirty="0">
                <a:solidFill>
                  <a:schemeClr val="tx1"/>
                </a:solidFill>
                <a:latin typeface="Book Antiqua" pitchFamily="18" charset="0"/>
                <a:ea typeface="+mn-ea"/>
                <a:cs typeface="+mn-cs"/>
              </a:rPr>
              <a:t>A basic tendency of people is to seek a context in which they have relative </a:t>
            </a:r>
            <a:r>
              <a:rPr lang="en-US" sz="1200" b="0" i="0" kern="1200" dirty="0">
                <a:solidFill>
                  <a:schemeClr val="tx1"/>
                </a:solidFill>
                <a:latin typeface="Book Antiqua" pitchFamily="18" charset="0"/>
                <a:ea typeface="+mn-ea"/>
                <a:cs typeface="+mn-cs"/>
                <a:hlinkClick r:id="rId25"/>
              </a:rPr>
              <a:t>safety</a:t>
            </a:r>
            <a:r>
              <a:rPr lang="en-US" sz="1200" b="0" i="0" kern="1200" dirty="0">
                <a:solidFill>
                  <a:schemeClr val="tx1"/>
                </a:solidFill>
                <a:latin typeface="Book Antiqua" pitchFamily="18" charset="0"/>
                <a:ea typeface="+mn-ea"/>
                <a:cs typeface="+mn-cs"/>
              </a:rPr>
              <a:t> and feel a </a:t>
            </a:r>
            <a:r>
              <a:rPr lang="en-US" sz="1200" b="0" i="0" kern="1200" dirty="0">
                <a:solidFill>
                  <a:schemeClr val="tx1"/>
                </a:solidFill>
                <a:latin typeface="Book Antiqua" pitchFamily="18" charset="0"/>
                <a:ea typeface="+mn-ea"/>
                <a:cs typeface="+mn-cs"/>
                <a:hlinkClick r:id="rId26"/>
              </a:rPr>
              <a:t>sense of control</a:t>
            </a:r>
            <a:r>
              <a:rPr lang="en-US" sz="1200" b="0" i="0" kern="1200" dirty="0">
                <a:solidFill>
                  <a:schemeClr val="tx1"/>
                </a:solidFill>
                <a:latin typeface="Book Antiqua" pitchFamily="18" charset="0"/>
                <a:ea typeface="+mn-ea"/>
                <a:cs typeface="+mn-cs"/>
              </a:rPr>
              <a:t>. In establishing themselves, they attach their </a:t>
            </a:r>
            <a:r>
              <a:rPr lang="en-US" sz="1200" b="0" i="0" kern="1200" dirty="0">
                <a:solidFill>
                  <a:schemeClr val="tx1"/>
                </a:solidFill>
                <a:latin typeface="Book Antiqua" pitchFamily="18" charset="0"/>
                <a:ea typeface="+mn-ea"/>
                <a:cs typeface="+mn-cs"/>
                <a:hlinkClick r:id="rId27"/>
              </a:rPr>
              <a:t>sense of identity</a:t>
            </a:r>
            <a:r>
              <a:rPr lang="en-US" sz="1200" b="0" i="0" kern="1200" dirty="0">
                <a:solidFill>
                  <a:schemeClr val="tx1"/>
                </a:solidFill>
                <a:latin typeface="Book Antiqua" pitchFamily="18" charset="0"/>
                <a:ea typeface="+mn-ea"/>
                <a:cs typeface="+mn-cs"/>
              </a:rPr>
              <a:t> to their environment. This creates a comfortable stasis from which any alternatives, even those which may offer significant benefit, will cause discomfort.</a:t>
            </a:r>
          </a:p>
          <a:p>
            <a:r>
              <a:rPr lang="en-US" sz="1200" b="0" i="0" kern="1200" dirty="0">
                <a:solidFill>
                  <a:schemeClr val="tx1"/>
                </a:solidFill>
                <a:latin typeface="Book Antiqua" pitchFamily="18" charset="0"/>
                <a:ea typeface="+mn-ea"/>
                <a:cs typeface="+mn-cs"/>
              </a:rPr>
              <a:t>Talking about the future thus is seldom enough to move them from this 'frozen' state and significant effort may be required to 'unfreeze' them and get them moving. This usually requires </a:t>
            </a:r>
            <a:r>
              <a:rPr lang="en-US" sz="1200" b="0" i="0" kern="1200" dirty="0">
                <a:solidFill>
                  <a:schemeClr val="tx1"/>
                </a:solidFill>
                <a:latin typeface="Book Antiqua" pitchFamily="18" charset="0"/>
                <a:ea typeface="+mn-ea"/>
                <a:cs typeface="+mn-cs"/>
                <a:hlinkClick r:id="rId28"/>
              </a:rPr>
              <a:t>Push</a:t>
            </a:r>
            <a:r>
              <a:rPr lang="en-US" sz="1200" b="0" i="0" kern="1200" dirty="0">
                <a:solidFill>
                  <a:schemeClr val="tx1"/>
                </a:solidFill>
                <a:latin typeface="Book Antiqua" pitchFamily="18" charset="0"/>
                <a:ea typeface="+mn-ea"/>
                <a:cs typeface="+mn-cs"/>
              </a:rPr>
              <a:t> methods to get them moving, after which </a:t>
            </a:r>
            <a:r>
              <a:rPr lang="en-US" sz="1200" b="0" i="0" kern="1200" dirty="0">
                <a:solidFill>
                  <a:schemeClr val="tx1"/>
                </a:solidFill>
                <a:latin typeface="Book Antiqua" pitchFamily="18" charset="0"/>
                <a:ea typeface="+mn-ea"/>
                <a:cs typeface="+mn-cs"/>
                <a:hlinkClick r:id="rId29"/>
              </a:rPr>
              <a:t>Pull</a:t>
            </a:r>
            <a:r>
              <a:rPr lang="en-US" sz="1200" b="0" i="0" kern="1200" dirty="0">
                <a:solidFill>
                  <a:schemeClr val="tx1"/>
                </a:solidFill>
                <a:latin typeface="Book Antiqua" pitchFamily="18" charset="0"/>
                <a:ea typeface="+mn-ea"/>
                <a:cs typeface="+mn-cs"/>
              </a:rPr>
              <a:t> methods can be used to keep them going.</a:t>
            </a:r>
          </a:p>
          <a:p>
            <a:r>
              <a:rPr lang="en-US" sz="1200" b="0" i="0" kern="1200" dirty="0">
                <a:solidFill>
                  <a:schemeClr val="tx1"/>
                </a:solidFill>
                <a:latin typeface="Book Antiqua" pitchFamily="18" charset="0"/>
                <a:ea typeface="+mn-ea"/>
                <a:cs typeface="+mn-cs"/>
              </a:rPr>
              <a:t>The term 'change ready' is often used to describe people who are unfrozen and ready to take the next step. Some people come ready for change whilst others take a long time to let go of their comfortable current realities.</a:t>
            </a:r>
          </a:p>
          <a:p>
            <a:endParaRPr lang="en-US" sz="1200" b="1" i="0" kern="1200" dirty="0">
              <a:solidFill>
                <a:schemeClr val="tx1"/>
              </a:solidFill>
              <a:latin typeface="Book Antiqua" pitchFamily="18" charset="0"/>
              <a:ea typeface="+mn-ea"/>
              <a:cs typeface="+mn-cs"/>
            </a:endParaRPr>
          </a:p>
          <a:p>
            <a:r>
              <a:rPr lang="en-US" sz="1200" b="1" i="0" kern="1200" dirty="0">
                <a:solidFill>
                  <a:schemeClr val="tx1"/>
                </a:solidFill>
                <a:latin typeface="Book Antiqua" pitchFamily="18" charset="0"/>
                <a:ea typeface="+mn-ea"/>
                <a:cs typeface="+mn-cs"/>
              </a:rPr>
              <a:t>Transition</a:t>
            </a:r>
          </a:p>
          <a:p>
            <a:r>
              <a:rPr lang="en-US" sz="1200" b="0" i="0" kern="1200" dirty="0">
                <a:solidFill>
                  <a:schemeClr val="tx1"/>
                </a:solidFill>
                <a:latin typeface="Book Antiqua" pitchFamily="18" charset="0"/>
                <a:ea typeface="+mn-ea"/>
                <a:cs typeface="+mn-cs"/>
              </a:rPr>
              <a:t>A key part of </a:t>
            </a:r>
            <a:r>
              <a:rPr lang="en-US" sz="1200" b="0" i="0" kern="1200" dirty="0" err="1">
                <a:solidFill>
                  <a:schemeClr val="tx1"/>
                </a:solidFill>
                <a:latin typeface="Book Antiqua" pitchFamily="18" charset="0"/>
                <a:ea typeface="+mn-ea"/>
                <a:cs typeface="+mn-cs"/>
              </a:rPr>
              <a:t>Lewin's</a:t>
            </a:r>
            <a:r>
              <a:rPr lang="en-US" sz="1200" b="0" i="0" kern="1200" dirty="0">
                <a:solidFill>
                  <a:schemeClr val="tx1"/>
                </a:solidFill>
                <a:latin typeface="Book Antiqua" pitchFamily="18" charset="0"/>
                <a:ea typeface="+mn-ea"/>
                <a:cs typeface="+mn-cs"/>
              </a:rPr>
              <a:t> model is the notion that change, even at the psychological level, is a journey rather than a simple step. This journey may not be that simple and the person may need to go through several stages of misunderstanding before they get to the other side.</a:t>
            </a:r>
          </a:p>
          <a:p>
            <a:r>
              <a:rPr lang="en-US" sz="1200" b="0" i="0" kern="1200" dirty="0">
                <a:solidFill>
                  <a:schemeClr val="tx1"/>
                </a:solidFill>
                <a:latin typeface="Book Antiqua" pitchFamily="18" charset="0"/>
                <a:ea typeface="+mn-ea"/>
                <a:cs typeface="+mn-cs"/>
              </a:rPr>
              <a:t>A classic trap in change is for the leaders to spend months on their own personal journeys and then expect everyone else to cross the chasm in a single bound.</a:t>
            </a:r>
          </a:p>
          <a:p>
            <a:r>
              <a:rPr lang="en-US" sz="1200" b="0" i="0" kern="1200" dirty="0">
                <a:solidFill>
                  <a:schemeClr val="tx1"/>
                </a:solidFill>
                <a:latin typeface="Book Antiqua" pitchFamily="18" charset="0"/>
                <a:ea typeface="+mn-ea"/>
                <a:cs typeface="+mn-cs"/>
              </a:rPr>
              <a:t>Transitioning thus requires time. Leadership is often important and when whole organizations change, the one-eyed person may be king. Some form of coaching, counseling or other psychological support will often be very helpful also.</a:t>
            </a:r>
          </a:p>
          <a:p>
            <a:r>
              <a:rPr lang="en-US" sz="1200" b="0" i="0" kern="1200" dirty="0">
                <a:solidFill>
                  <a:schemeClr val="tx1"/>
                </a:solidFill>
                <a:latin typeface="Book Antiqua" pitchFamily="18" charset="0"/>
                <a:ea typeface="+mn-ea"/>
                <a:cs typeface="+mn-cs"/>
              </a:rPr>
              <a:t>Although transition may be hard for the individual, often the hardest part is to start. Even when a person is unfrozen and ready for change, that first step can be very scary.</a:t>
            </a:r>
          </a:p>
          <a:p>
            <a:r>
              <a:rPr lang="en-US" sz="1200" b="0" i="0" kern="1200" dirty="0">
                <a:solidFill>
                  <a:schemeClr val="tx1"/>
                </a:solidFill>
                <a:latin typeface="Book Antiqua" pitchFamily="18" charset="0"/>
                <a:ea typeface="+mn-ea"/>
                <a:cs typeface="+mn-cs"/>
              </a:rPr>
              <a:t>Transition can also be a pleasant trap and, as Robert Louis Stephenson said, 'It is better to travel hopefully than arrive.' People become comfortable in temporary situations where they are not accountable for the hazards of normal work and where talking about change may be substituted for real action.</a:t>
            </a:r>
          </a:p>
          <a:p>
            <a:endParaRPr lang="en-US" sz="1200" b="1" i="0" kern="1200" dirty="0">
              <a:solidFill>
                <a:schemeClr val="tx1"/>
              </a:solidFill>
              <a:latin typeface="Book Antiqua" pitchFamily="18" charset="0"/>
              <a:ea typeface="+mn-ea"/>
              <a:cs typeface="+mn-cs"/>
            </a:endParaRPr>
          </a:p>
          <a:p>
            <a:r>
              <a:rPr lang="en-US" sz="1200" b="1" i="0" kern="1200" dirty="0">
                <a:solidFill>
                  <a:schemeClr val="tx1"/>
                </a:solidFill>
                <a:latin typeface="Book Antiqua" pitchFamily="18" charset="0"/>
                <a:ea typeface="+mn-ea"/>
                <a:cs typeface="+mn-cs"/>
              </a:rPr>
              <a:t>Refreeze</a:t>
            </a:r>
          </a:p>
          <a:p>
            <a:r>
              <a:rPr lang="en-US" sz="1200" b="0" i="0" kern="1200" dirty="0">
                <a:solidFill>
                  <a:schemeClr val="tx1"/>
                </a:solidFill>
                <a:latin typeface="Book Antiqua" pitchFamily="18" charset="0"/>
                <a:ea typeface="+mn-ea"/>
                <a:cs typeface="+mn-cs"/>
              </a:rPr>
              <a:t>At the other end of the journey, the final goal is to 'refreeze', putting down roots again and establishing the new place of stability.</a:t>
            </a:r>
          </a:p>
          <a:p>
            <a:r>
              <a:rPr lang="en-US" sz="1200" b="0" i="0" kern="1200" dirty="0">
                <a:solidFill>
                  <a:schemeClr val="tx1"/>
                </a:solidFill>
                <a:latin typeface="Book Antiqua" pitchFamily="18" charset="0"/>
                <a:ea typeface="+mn-ea"/>
                <a:cs typeface="+mn-cs"/>
              </a:rPr>
              <a:t>In practice, refreezing may be a slow process as transitions seldom stop cleanly, but go more in fits and starts with a long tail of bits and pieces. There are good and bad things about this.</a:t>
            </a:r>
          </a:p>
          <a:p>
            <a:r>
              <a:rPr lang="en-US" sz="1200" b="0" i="0" kern="1200" dirty="0">
                <a:solidFill>
                  <a:schemeClr val="tx1"/>
                </a:solidFill>
                <a:latin typeface="Book Antiqua" pitchFamily="18" charset="0"/>
                <a:ea typeface="+mn-ea"/>
                <a:cs typeface="+mn-cs"/>
              </a:rPr>
              <a:t>In modern organizations, this stage is often rather tentative as the next change may well be around the next corner. What is often encouraged, then, is more of a state of 'slushiness' where freezing is never really achieved (theoretically making the next unfreezing easier). The danger with this that many organizations have found is that people fall into a state of change shock, where they work at a low level of efficiency and effectiveness as they await the next change. 'It's not worth it' is a common phrase when asked to improve what they do.</a:t>
            </a:r>
          </a:p>
          <a:p>
            <a:endParaRPr lang="en-US" sz="1200" b="0" i="0" kern="1200" dirty="0">
              <a:solidFill>
                <a:schemeClr val="tx1"/>
              </a:solidFill>
              <a:latin typeface="Book Antiqua" pitchFamily="18" charset="0"/>
              <a:ea typeface="+mn-ea"/>
              <a:cs typeface="+mn-cs"/>
            </a:endParaRPr>
          </a:p>
          <a:p>
            <a:r>
              <a:rPr lang="en-US" sz="1200" b="0" i="0" kern="1200" dirty="0">
                <a:solidFill>
                  <a:schemeClr val="tx1"/>
                </a:solidFill>
                <a:latin typeface="Book Antiqua" pitchFamily="18" charset="0"/>
                <a:ea typeface="+mn-ea"/>
                <a:cs typeface="+mn-cs"/>
              </a:rPr>
              <a:t>- Share</a:t>
            </a:r>
            <a:r>
              <a:rPr lang="en-US" sz="1200" b="0" i="0" kern="1200" baseline="0" dirty="0">
                <a:solidFill>
                  <a:schemeClr val="tx1"/>
                </a:solidFill>
                <a:latin typeface="Book Antiqua" pitchFamily="18" charset="0"/>
                <a:ea typeface="+mn-ea"/>
                <a:cs typeface="+mn-cs"/>
              </a:rPr>
              <a:t> Data (position power) (case scenario)</a:t>
            </a:r>
            <a:endParaRPr lang="en-US" sz="1200" b="0" i="0" kern="1200" dirty="0">
              <a:solidFill>
                <a:schemeClr val="tx1"/>
              </a:solidFill>
              <a:latin typeface="Book Antiqua" pitchFamily="18" charset="0"/>
              <a:ea typeface="+mn-ea"/>
              <a:cs typeface="+mn-cs"/>
            </a:endParaRPr>
          </a:p>
          <a:p>
            <a:endParaRPr lang="en-US" dirty="0"/>
          </a:p>
        </p:txBody>
      </p:sp>
    </p:spTree>
    <p:extLst>
      <p:ext uri="{BB962C8B-B14F-4D97-AF65-F5344CB8AC3E}">
        <p14:creationId xmlns:p14="http://schemas.microsoft.com/office/powerpoint/2010/main" val="1970245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dirty="0"/>
              <a:t>Departmental data </a:t>
            </a:r>
            <a:r>
              <a:rPr lang="en-GB" sz="1200" dirty="0">
                <a:sym typeface="Wingdings" pitchFamily="2" charset="2"/>
              </a:rPr>
              <a:t> </a:t>
            </a:r>
            <a:r>
              <a:rPr lang="en-GB" sz="1200" dirty="0"/>
              <a:t>centralised electronic </a:t>
            </a:r>
            <a:r>
              <a:rPr lang="en-GB" sz="1200" dirty="0">
                <a:sym typeface="Wingdings" pitchFamily="2" charset="2"/>
              </a:rPr>
              <a:t> </a:t>
            </a:r>
            <a:r>
              <a:rPr lang="en-GB" sz="1200" dirty="0"/>
              <a:t>formal information systems </a:t>
            </a:r>
          </a:p>
          <a:p>
            <a:endParaRPr lang="en-GB" sz="1200" dirty="0"/>
          </a:p>
          <a:p>
            <a:r>
              <a:rPr lang="en-GB" sz="1200" dirty="0" err="1"/>
              <a:t>Filebased</a:t>
            </a:r>
            <a:r>
              <a:rPr lang="en-GB" sz="1200" baseline="0" dirty="0"/>
              <a:t> System </a:t>
            </a:r>
            <a:r>
              <a:rPr lang="en-GB" sz="1200" baseline="0" dirty="0">
                <a:sym typeface="Wingdings" pitchFamily="2" charset="2"/>
              </a:rPr>
              <a:t> introduction of databases</a:t>
            </a:r>
          </a:p>
          <a:p>
            <a:endParaRPr lang="en-GB" sz="1200" baseline="0" dirty="0">
              <a:sym typeface="Wingdings" pitchFamily="2" charset="2"/>
            </a:endParaRPr>
          </a:p>
          <a:p>
            <a:r>
              <a:rPr lang="en-GB" sz="1200" dirty="0"/>
              <a:t>database administration function required</a:t>
            </a:r>
          </a:p>
          <a:p>
            <a:endParaRPr lang="en-GB" sz="1200" dirty="0"/>
          </a:p>
          <a:p>
            <a:endParaRPr lang="en-GB" sz="1200" dirty="0"/>
          </a:p>
          <a:p>
            <a:endParaRPr lang="en-US" dirty="0"/>
          </a:p>
        </p:txBody>
      </p:sp>
    </p:spTree>
    <p:extLst>
      <p:ext uri="{BB962C8B-B14F-4D97-AF65-F5344CB8AC3E}">
        <p14:creationId xmlns:p14="http://schemas.microsoft.com/office/powerpoint/2010/main" val="3614914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Char char="-"/>
              <a:tabLst/>
              <a:defRPr/>
            </a:pPr>
            <a:r>
              <a:rPr lang="en-US" sz="1200" dirty="0"/>
              <a:t> Why</a:t>
            </a:r>
            <a:r>
              <a:rPr lang="en-US" sz="1200" baseline="0" dirty="0"/>
              <a:t> DA </a:t>
            </a:r>
            <a:r>
              <a:rPr lang="en-US" sz="1200" dirty="0"/>
              <a:t>Will be involved in the conceptual and logical design of a database system?</a:t>
            </a:r>
          </a:p>
          <a:p>
            <a:pPr marL="0" marR="0" indent="0" algn="l" defTabSz="914400" rtl="0" eaLnBrk="0" fontAlgn="base" latinLnBrk="0" hangingPunct="0">
              <a:lnSpc>
                <a:spcPct val="100000"/>
              </a:lnSpc>
              <a:spcBef>
                <a:spcPct val="30000"/>
              </a:spcBef>
              <a:spcAft>
                <a:spcPct val="0"/>
              </a:spcAft>
              <a:buClrTx/>
              <a:buSzTx/>
              <a:buFontTx/>
              <a:buChar char="-"/>
              <a:tabLst/>
              <a:defRPr/>
            </a:pPr>
            <a:endParaRPr lang="en-US" sz="1200" dirty="0"/>
          </a:p>
          <a:p>
            <a:pPr marL="0" marR="0" indent="0" algn="l" defTabSz="914400" rtl="0" eaLnBrk="0" fontAlgn="base" latinLnBrk="0" hangingPunct="0">
              <a:lnSpc>
                <a:spcPct val="100000"/>
              </a:lnSpc>
              <a:spcBef>
                <a:spcPct val="30000"/>
              </a:spcBef>
              <a:spcAft>
                <a:spcPct val="0"/>
              </a:spcAft>
              <a:buClrTx/>
              <a:buSzTx/>
              <a:buFontTx/>
              <a:buChar char="-"/>
              <a:tabLst/>
              <a:defRPr/>
            </a:pPr>
            <a:r>
              <a:rPr lang="en-US" sz="1200" baseline="0" dirty="0"/>
              <a:t>Database security</a:t>
            </a:r>
          </a:p>
          <a:p>
            <a:pPr marL="0" marR="0" indent="0" algn="l" defTabSz="914400" rtl="0" eaLnBrk="0" fontAlgn="base" latinLnBrk="0" hangingPunct="0">
              <a:lnSpc>
                <a:spcPct val="100000"/>
              </a:lnSpc>
              <a:spcBef>
                <a:spcPct val="30000"/>
              </a:spcBef>
              <a:spcAft>
                <a:spcPct val="0"/>
              </a:spcAft>
              <a:buClrTx/>
              <a:buSzTx/>
              <a:buFontTx/>
              <a:buChar char="-"/>
              <a:tabLst/>
              <a:defRPr/>
            </a:pPr>
            <a:endParaRPr lang="en-US" sz="1200" dirty="0"/>
          </a:p>
          <a:p>
            <a:endParaRPr lang="en-US" dirty="0"/>
          </a:p>
        </p:txBody>
      </p:sp>
    </p:spTree>
    <p:extLst>
      <p:ext uri="{BB962C8B-B14F-4D97-AF65-F5344CB8AC3E}">
        <p14:creationId xmlns:p14="http://schemas.microsoft.com/office/powerpoint/2010/main" val="3234447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0" fontAlgn="base" latinLnBrk="0" hangingPunct="0">
              <a:lnSpc>
                <a:spcPct val="100000"/>
              </a:lnSpc>
              <a:spcBef>
                <a:spcPct val="30000"/>
              </a:spcBef>
              <a:spcAft>
                <a:spcPct val="0"/>
              </a:spcAft>
              <a:buClrTx/>
              <a:buSzTx/>
              <a:buFontTx/>
              <a:buChar char="-"/>
              <a:tabLst/>
              <a:defRPr/>
            </a:pPr>
            <a:r>
              <a:rPr lang="en-GB" sz="1700" dirty="0"/>
              <a:t> Application development support (PHP,</a:t>
            </a:r>
            <a:r>
              <a:rPr lang="en-GB" sz="1700" baseline="0" dirty="0"/>
              <a:t> MYSQL</a:t>
            </a:r>
            <a:r>
              <a:rPr lang="en-GB" sz="1700" dirty="0"/>
              <a:t>)</a:t>
            </a:r>
          </a:p>
          <a:p>
            <a:pPr marL="0" marR="0" lvl="1" indent="0" algn="l" defTabSz="914400" rtl="0" eaLnBrk="0" fontAlgn="base" latinLnBrk="0" hangingPunct="0">
              <a:lnSpc>
                <a:spcPct val="100000"/>
              </a:lnSpc>
              <a:spcBef>
                <a:spcPct val="30000"/>
              </a:spcBef>
              <a:spcAft>
                <a:spcPct val="0"/>
              </a:spcAft>
              <a:buClrTx/>
              <a:buSzTx/>
              <a:buFontTx/>
              <a:buChar char="-"/>
              <a:tabLst/>
              <a:defRPr/>
            </a:pPr>
            <a:r>
              <a:rPr lang="en-GB" sz="1700" dirty="0"/>
              <a:t> Performance (access and SQL server)</a:t>
            </a:r>
          </a:p>
          <a:p>
            <a:pPr marL="0" marR="0" lvl="1" indent="0" algn="l" defTabSz="914400" rtl="0" eaLnBrk="0" fontAlgn="base" latinLnBrk="0" hangingPunct="0">
              <a:lnSpc>
                <a:spcPct val="100000"/>
              </a:lnSpc>
              <a:spcBef>
                <a:spcPct val="30000"/>
              </a:spcBef>
              <a:spcAft>
                <a:spcPct val="0"/>
              </a:spcAft>
              <a:buClrTx/>
              <a:buSzTx/>
              <a:buFontTx/>
              <a:buChar char="-"/>
              <a:tabLst/>
              <a:defRPr/>
            </a:pPr>
            <a:r>
              <a:rPr lang="en-GB" sz="1700" dirty="0"/>
              <a:t> Hardware (Server, terminals,</a:t>
            </a:r>
            <a:r>
              <a:rPr lang="en-GB" sz="1700" baseline="0" dirty="0"/>
              <a:t> network tools</a:t>
            </a:r>
            <a:r>
              <a:rPr lang="en-GB" sz="1700" dirty="0"/>
              <a:t>)</a:t>
            </a:r>
          </a:p>
          <a:p>
            <a:pPr marL="0" marR="0" lvl="1" indent="0" algn="l" defTabSz="914400" rtl="0" eaLnBrk="0" fontAlgn="base" latinLnBrk="0" hangingPunct="0">
              <a:lnSpc>
                <a:spcPct val="100000"/>
              </a:lnSpc>
              <a:spcBef>
                <a:spcPct val="30000"/>
              </a:spcBef>
              <a:spcAft>
                <a:spcPct val="0"/>
              </a:spcAft>
              <a:buClrTx/>
              <a:buSzTx/>
              <a:buFontTx/>
              <a:buChar char="-"/>
              <a:tabLst/>
              <a:defRPr/>
            </a:pPr>
            <a:endParaRPr lang="en-GB" sz="1700" dirty="0"/>
          </a:p>
          <a:p>
            <a:endParaRPr lang="en-US" dirty="0"/>
          </a:p>
        </p:txBody>
      </p:sp>
    </p:spTree>
    <p:extLst>
      <p:ext uri="{BB962C8B-B14F-4D97-AF65-F5344CB8AC3E}">
        <p14:creationId xmlns:p14="http://schemas.microsoft.com/office/powerpoint/2010/main" val="449821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GB" dirty="0"/>
              <a:t>requirements gathering (conflicts</a:t>
            </a:r>
            <a:r>
              <a:rPr lang="en-GB" baseline="0" dirty="0"/>
              <a:t> inside the organization</a:t>
            </a:r>
            <a:r>
              <a:rPr lang="en-GB" dirty="0"/>
              <a:t>)</a:t>
            </a:r>
          </a:p>
          <a:p>
            <a:pPr marL="0" marR="0" indent="0" algn="l" defTabSz="914400" rtl="0" eaLnBrk="0" fontAlgn="base" latinLnBrk="0" hangingPunct="0">
              <a:lnSpc>
                <a:spcPct val="100000"/>
              </a:lnSpc>
              <a:spcBef>
                <a:spcPct val="30000"/>
              </a:spcBef>
              <a:spcAft>
                <a:spcPct val="0"/>
              </a:spcAft>
              <a:buClrTx/>
              <a:buSzTx/>
              <a:buFontTx/>
              <a:buChar char="-"/>
              <a:tabLst/>
              <a:defRPr/>
            </a:pPr>
            <a:endParaRPr lang="en-GB" dirty="0"/>
          </a:p>
          <a:p>
            <a:pPr marL="0" marR="0" indent="0" algn="l" defTabSz="914400" rtl="0" eaLnBrk="0" fontAlgn="base" latinLnBrk="0" hangingPunct="0">
              <a:lnSpc>
                <a:spcPct val="100000"/>
              </a:lnSpc>
              <a:spcBef>
                <a:spcPct val="30000"/>
              </a:spcBef>
              <a:spcAft>
                <a:spcPct val="0"/>
              </a:spcAft>
              <a:buClrTx/>
              <a:buSzTx/>
              <a:buFontTx/>
              <a:buChar char="-"/>
              <a:tabLst/>
              <a:defRPr/>
            </a:pPr>
            <a:r>
              <a:rPr lang="en-GB" dirty="0"/>
              <a:t>Finding solutions to information needs (reports)</a:t>
            </a:r>
          </a:p>
          <a:p>
            <a:pPr marL="0" marR="0" indent="0" algn="l" defTabSz="914400" rtl="0" eaLnBrk="0" fontAlgn="base" latinLnBrk="0" hangingPunct="0">
              <a:lnSpc>
                <a:spcPct val="100000"/>
              </a:lnSpc>
              <a:spcBef>
                <a:spcPct val="30000"/>
              </a:spcBef>
              <a:spcAft>
                <a:spcPct val="0"/>
              </a:spcAft>
              <a:buClrTx/>
              <a:buSzTx/>
              <a:buFontTx/>
              <a:buChar char="-"/>
              <a:tabLst/>
              <a:defRPr/>
            </a:pPr>
            <a:endParaRPr lang="en-GB" dirty="0"/>
          </a:p>
          <a:p>
            <a:pPr marL="0" marR="0" indent="0" algn="l" defTabSz="914400" rtl="0" eaLnBrk="0" fontAlgn="base" latinLnBrk="0" hangingPunct="0">
              <a:lnSpc>
                <a:spcPct val="100000"/>
              </a:lnSpc>
              <a:spcBef>
                <a:spcPct val="30000"/>
              </a:spcBef>
              <a:spcAft>
                <a:spcPct val="0"/>
              </a:spcAft>
              <a:buClrTx/>
              <a:buSzTx/>
              <a:buFontTx/>
              <a:buChar char="-"/>
              <a:tabLst/>
              <a:defRPr/>
            </a:pPr>
            <a:r>
              <a:rPr lang="en-GB" dirty="0"/>
              <a:t>Ensuring quality and integrity of applications and data (application developers</a:t>
            </a:r>
            <a:r>
              <a:rPr lang="en-GB" baseline="0" dirty="0"/>
              <a:t> should be involve</a:t>
            </a:r>
            <a:r>
              <a:rPr lang="en-GB" dirty="0"/>
              <a:t>)</a:t>
            </a:r>
          </a:p>
          <a:p>
            <a:pPr marL="0" marR="0" indent="0" algn="l" defTabSz="914400" rtl="0" eaLnBrk="0" fontAlgn="base" latinLnBrk="0" hangingPunct="0">
              <a:lnSpc>
                <a:spcPct val="100000"/>
              </a:lnSpc>
              <a:spcBef>
                <a:spcPct val="30000"/>
              </a:spcBef>
              <a:spcAft>
                <a:spcPct val="0"/>
              </a:spcAft>
              <a:buClrTx/>
              <a:buSzTx/>
              <a:buFontTx/>
              <a:buNone/>
              <a:tabLst/>
              <a:defRPr/>
            </a:pPr>
            <a:r>
              <a:rPr lang="en-GB" baseline="0" dirty="0"/>
              <a:t>    - imbedded SQL statements in applications</a:t>
            </a:r>
          </a:p>
          <a:p>
            <a:pPr marL="0" marR="0" indent="0" algn="l" defTabSz="914400" rtl="0" eaLnBrk="0" fontAlgn="base" latinLnBrk="0" hangingPunct="0">
              <a:lnSpc>
                <a:spcPct val="100000"/>
              </a:lnSpc>
              <a:spcBef>
                <a:spcPct val="30000"/>
              </a:spcBef>
              <a:spcAft>
                <a:spcPct val="0"/>
              </a:spcAft>
              <a:buClrTx/>
              <a:buSzTx/>
              <a:buFontTx/>
              <a:buNone/>
              <a:tabLst/>
              <a:defRPr/>
            </a:pPr>
            <a:r>
              <a:rPr lang="en-GB" baseline="0" dirty="0"/>
              <a:t>    - Applications build by different languages (Java, VB, C)</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GB" baseline="0" dirty="0"/>
              <a:t>- Integrity by enforcing the integrity rules example the use of (triggers)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GB" dirty="0"/>
          </a:p>
          <a:p>
            <a:pPr>
              <a:buFontTx/>
              <a:buChar char="-"/>
            </a:pPr>
            <a:endParaRPr lang="en-GB" dirty="0"/>
          </a:p>
          <a:p>
            <a:pPr>
              <a:buFontTx/>
              <a:buChar char="-"/>
            </a:pPr>
            <a:endParaRPr lang="en-US" dirty="0"/>
          </a:p>
        </p:txBody>
      </p:sp>
    </p:spTree>
    <p:extLst>
      <p:ext uri="{BB962C8B-B14F-4D97-AF65-F5344CB8AC3E}">
        <p14:creationId xmlns:p14="http://schemas.microsoft.com/office/powerpoint/2010/main" val="1398636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DA will</a:t>
            </a:r>
            <a:r>
              <a:rPr lang="en-US" baseline="0" dirty="0"/>
              <a:t> set </a:t>
            </a:r>
            <a:r>
              <a:rPr lang="en-GB" sz="1200" dirty="0"/>
              <a:t>Policies, Procedures and Standards</a:t>
            </a:r>
          </a:p>
          <a:p>
            <a:r>
              <a:rPr lang="en-GB" sz="1200" dirty="0"/>
              <a:t>DBA will enforce Policies, Procedures and Standards</a:t>
            </a:r>
            <a:endParaRPr lang="en-US" dirty="0"/>
          </a:p>
        </p:txBody>
      </p:sp>
    </p:spTree>
    <p:extLst>
      <p:ext uri="{BB962C8B-B14F-4D97-AF65-F5344CB8AC3E}">
        <p14:creationId xmlns:p14="http://schemas.microsoft.com/office/powerpoint/2010/main" val="1151343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dirty="0"/>
              <a:t>- One</a:t>
            </a:r>
            <a:r>
              <a:rPr lang="en-GB" sz="1200" baseline="0" dirty="0"/>
              <a:t> of the most important aspects in organizations </a:t>
            </a:r>
            <a:endParaRPr lang="en-GB" sz="1200" dirty="0"/>
          </a:p>
          <a:p>
            <a:r>
              <a:rPr lang="en-GB" sz="1200" dirty="0"/>
              <a:t>- Security, Privacy using</a:t>
            </a:r>
            <a:r>
              <a:rPr lang="en-GB" sz="1200" baseline="0" dirty="0"/>
              <a:t> authorization and authentication </a:t>
            </a:r>
          </a:p>
          <a:p>
            <a:endParaRPr lang="en-US" dirty="0"/>
          </a:p>
        </p:txBody>
      </p:sp>
    </p:spTree>
    <p:extLst>
      <p:ext uri="{BB962C8B-B14F-4D97-AF65-F5344CB8AC3E}">
        <p14:creationId xmlns:p14="http://schemas.microsoft.com/office/powerpoint/2010/main" val="2785967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Data</a:t>
            </a:r>
            <a:r>
              <a:rPr lang="en-US" baseline="0" dirty="0"/>
              <a:t> backup (Server burn case scenario)</a:t>
            </a:r>
          </a:p>
          <a:p>
            <a:pPr>
              <a:buFontTx/>
              <a:buChar char="-"/>
            </a:pPr>
            <a:endParaRPr lang="en-US" baseline="0" dirty="0"/>
          </a:p>
          <a:p>
            <a:pPr>
              <a:buFontTx/>
              <a:buChar char="-"/>
            </a:pPr>
            <a:r>
              <a:rPr lang="en-US" baseline="0" dirty="0"/>
              <a:t>Database security can involve</a:t>
            </a:r>
          </a:p>
          <a:p>
            <a:pPr lvl="1" eaLnBrk="1" hangingPunct="1">
              <a:lnSpc>
                <a:spcPct val="80000"/>
              </a:lnSpc>
            </a:pPr>
            <a:r>
              <a:rPr lang="en-GB" sz="2300" dirty="0"/>
              <a:t>- Physical protection of both hardware and software </a:t>
            </a:r>
            <a:r>
              <a:rPr lang="en-GB" sz="2200" dirty="0"/>
              <a:t>Restricted access, fire protection, air conditioning</a:t>
            </a:r>
          </a:p>
          <a:p>
            <a:pPr lvl="1" eaLnBrk="1" hangingPunct="1">
              <a:lnSpc>
                <a:spcPct val="80000"/>
              </a:lnSpc>
            </a:pPr>
            <a:r>
              <a:rPr lang="en-GB" sz="2300" dirty="0"/>
              <a:t>- Personal access control to the database software </a:t>
            </a:r>
            <a:r>
              <a:rPr lang="en-GB" sz="2200" dirty="0"/>
              <a:t>Multilevel passwords and privileges</a:t>
            </a:r>
          </a:p>
          <a:p>
            <a:pPr>
              <a:buFontTx/>
              <a:buChar char="-"/>
            </a:pPr>
            <a:endParaRPr lang="en-US" baseline="0" dirty="0"/>
          </a:p>
          <a:p>
            <a:pPr>
              <a:buFontTx/>
              <a:buChar char="-"/>
            </a:pPr>
            <a:r>
              <a:rPr lang="en-US" baseline="0" dirty="0"/>
              <a:t> </a:t>
            </a:r>
          </a:p>
          <a:p>
            <a:endParaRPr lang="en-US" baseline="0" dirty="0"/>
          </a:p>
          <a:p>
            <a:endParaRPr lang="en-US" dirty="0"/>
          </a:p>
        </p:txBody>
      </p:sp>
    </p:spTree>
    <p:extLst>
      <p:ext uri="{BB962C8B-B14F-4D97-AF65-F5344CB8AC3E}">
        <p14:creationId xmlns:p14="http://schemas.microsoft.com/office/powerpoint/2010/main" val="993390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aseline="0" dirty="0"/>
              <a:t>authorization and authentication </a:t>
            </a:r>
            <a:endParaRPr lang="en-US" dirty="0"/>
          </a:p>
        </p:txBody>
      </p:sp>
    </p:spTree>
    <p:extLst>
      <p:ext uri="{BB962C8B-B14F-4D97-AF65-F5344CB8AC3E}">
        <p14:creationId xmlns:p14="http://schemas.microsoft.com/office/powerpoint/2010/main" val="256722745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87042" name="Rectangle 2"/>
          <p:cNvSpPr>
            <a:spLocks noGrp="1" noChangeArrowheads="1"/>
          </p:cNvSpPr>
          <p:nvPr>
            <p:ph type="ctrTitle"/>
          </p:nvPr>
        </p:nvSpPr>
        <p:spPr>
          <a:xfrm>
            <a:off x="2896608" y="2200276"/>
            <a:ext cx="9006416" cy="1470025"/>
          </a:xfrm>
        </p:spPr>
        <p:txBody>
          <a:bodyPr/>
          <a:lstStyle>
            <a:lvl1pPr algn="r">
              <a:defRPr>
                <a:solidFill>
                  <a:schemeClr val="accent5"/>
                </a:solidFill>
                <a:latin typeface="Montserrat" panose="00000500000000000000" pitchFamily="2" charset="0"/>
              </a:defRPr>
            </a:lvl1pPr>
          </a:lstStyle>
          <a:p>
            <a:r>
              <a:rPr lang="en-GB" dirty="0"/>
              <a:t>Click to edit Master title style</a:t>
            </a:r>
          </a:p>
        </p:txBody>
      </p:sp>
      <p:sp>
        <p:nvSpPr>
          <p:cNvPr id="87043" name="Rectangle 3"/>
          <p:cNvSpPr>
            <a:spLocks noGrp="1" noChangeArrowheads="1"/>
          </p:cNvSpPr>
          <p:nvPr>
            <p:ph type="subTitle" idx="1"/>
          </p:nvPr>
        </p:nvSpPr>
        <p:spPr>
          <a:xfrm>
            <a:off x="4970206" y="3879851"/>
            <a:ext cx="6913767" cy="1752600"/>
          </a:xfrm>
        </p:spPr>
        <p:txBody>
          <a:bodyPr/>
          <a:lstStyle>
            <a:lvl1pPr marL="0" indent="0" algn="r">
              <a:buFontTx/>
              <a:buNone/>
              <a:defRPr b="0">
                <a:solidFill>
                  <a:schemeClr val="bg1"/>
                </a:solidFill>
                <a:latin typeface="+mj-lt"/>
              </a:defRPr>
            </a:lvl1pPr>
          </a:lstStyle>
          <a:p>
            <a:r>
              <a:rPr lang="en-GB" dirty="0"/>
              <a:t>Click to edit Master subtitle style</a:t>
            </a:r>
          </a:p>
        </p:txBody>
      </p:sp>
      <p:pic>
        <p:nvPicPr>
          <p:cNvPr id="7" name="Picture 6" descr="Logo, company name&#10;&#10;Description automatically generated">
            <a:extLst>
              <a:ext uri="{FF2B5EF4-FFF2-40B4-BE49-F238E27FC236}">
                <a16:creationId xmlns:a16="http://schemas.microsoft.com/office/drawing/2014/main" id="{A01C7C8E-F6F3-0FA5-D100-E4D22106013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89109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2" name="Title 1"/>
          <p:cNvSpPr>
            <a:spLocks noGrp="1"/>
          </p:cNvSpPr>
          <p:nvPr>
            <p:ph type="title"/>
          </p:nvPr>
        </p:nvSpPr>
        <p:spPr>
          <a:xfrm>
            <a:off x="963084" y="4406901"/>
            <a:ext cx="10363200" cy="1362075"/>
          </a:xfrm>
        </p:spPr>
        <p:txBody>
          <a:bodyPr anchor="t"/>
          <a:lstStyle>
            <a:lvl1pPr algn="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613987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12192000" cy="6618514"/>
          </a:xfrm>
          <a:prstGeom prst="rect">
            <a:avLst/>
          </a:prstGeom>
        </p:spPr>
      </p:pic>
      <p:sp>
        <p:nvSpPr>
          <p:cNvPr id="2" name="Title 1"/>
          <p:cNvSpPr>
            <a:spLocks noGrp="1"/>
          </p:cNvSpPr>
          <p:nvPr>
            <p:ph type="title"/>
          </p:nvPr>
        </p:nvSpPr>
        <p:spPr>
          <a:xfrm>
            <a:off x="556684" y="127002"/>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1589575"/>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092959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
        <p:nvSpPr>
          <p:cNvPr id="2" name="Title 1"/>
          <p:cNvSpPr>
            <a:spLocks noGrp="1"/>
          </p:cNvSpPr>
          <p:nvPr>
            <p:ph type="title"/>
          </p:nvPr>
        </p:nvSpPr>
        <p:spPr>
          <a:xfrm>
            <a:off x="556684" y="3685880"/>
            <a:ext cx="9821030"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160113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6684" y="3685880"/>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Tree>
    <p:extLst>
      <p:ext uri="{BB962C8B-B14F-4D97-AF65-F5344CB8AC3E}">
        <p14:creationId xmlns:p14="http://schemas.microsoft.com/office/powerpoint/2010/main" val="413220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lvl1pPr>
          </a:lstStyle>
          <a:p>
            <a:endParaRPr lang="en-US"/>
          </a:p>
        </p:txBody>
      </p:sp>
      <p:sp>
        <p:nvSpPr>
          <p:cNvPr id="2" name="Title 1"/>
          <p:cNvSpPr>
            <a:spLocks noGrp="1"/>
          </p:cNvSpPr>
          <p:nvPr>
            <p:ph type="title"/>
          </p:nvPr>
        </p:nvSpPr>
        <p:spPr>
          <a:xfrm>
            <a:off x="963084" y="4406901"/>
            <a:ext cx="10363200" cy="1362075"/>
          </a:xfrm>
        </p:spPr>
        <p:txBody>
          <a:bodyPr anchor="t"/>
          <a:lstStyle>
            <a:lvl1pPr algn="ct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ct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68821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solidFill>
                  <a:schemeClr val="bg1"/>
                </a:solidFill>
              </a:defRPr>
            </a:lvl1pPr>
          </a:lstStyle>
          <a:p>
            <a:endParaRPr lang="en-US"/>
          </a:p>
        </p:txBody>
      </p:sp>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556684" y="127002"/>
            <a:ext cx="9349316"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556684" y="1589575"/>
            <a:ext cx="9349316" cy="1500187"/>
          </a:xfrm>
        </p:spPr>
        <p:txBody>
          <a:bodyPr anchor="t"/>
          <a:lstStyle>
            <a:lvl1pPr marL="0" indent="0" algn="l">
              <a:buNone/>
              <a:defRPr sz="2000">
                <a:solidFill>
                  <a:schemeClr val="accent6"/>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7" name="Picture 6" descr="Logo, company name&#10;&#10;Description automatically generated">
            <a:extLst>
              <a:ext uri="{FF2B5EF4-FFF2-40B4-BE49-F238E27FC236}">
                <a16:creationId xmlns:a16="http://schemas.microsoft.com/office/drawing/2014/main" id="{FCDEFE03-E507-9264-8C2B-2E78DD2EA1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22461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0" descr="APU Logo Final-medium.jpg">
            <a:extLst>
              <a:ext uri="{FF2B5EF4-FFF2-40B4-BE49-F238E27FC236}">
                <a16:creationId xmlns:a16="http://schemas.microsoft.com/office/drawing/2014/main" id="{383451EB-63F4-DFF6-8522-1522FB643F03}"/>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84441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5" name="Picture 4" descr="Logo, company name&#10;&#10;Description automatically generated">
            <a:extLst>
              <a:ext uri="{FF2B5EF4-FFF2-40B4-BE49-F238E27FC236}">
                <a16:creationId xmlns:a16="http://schemas.microsoft.com/office/drawing/2014/main" id="{8F68BB6B-7571-DB8A-80FB-F7C3AD2610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829978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Picture 10" descr="APU Logo Final-medium.jpg">
            <a:extLst>
              <a:ext uri="{FF2B5EF4-FFF2-40B4-BE49-F238E27FC236}">
                <a16:creationId xmlns:a16="http://schemas.microsoft.com/office/drawing/2014/main" id="{D43B7469-696D-D5B3-7497-03AB7CFB3F90}"/>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411535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163C07D3-0112-1601-B752-FDBF091DDE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279838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Picture 10" descr="APU Logo Final-medium.jpg">
            <a:extLst>
              <a:ext uri="{FF2B5EF4-FFF2-40B4-BE49-F238E27FC236}">
                <a16:creationId xmlns:a16="http://schemas.microsoft.com/office/drawing/2014/main" id="{0802BECB-EBD7-EAF2-F449-AA70E280397A}"/>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176311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9CBCAFAD-0874-A920-E7D5-68A99F5090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213207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59460E12-C28F-6F47-C8AD-1B01DC7DB1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7172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C7C10021-D30B-49A3-9775-E4B018058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729598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067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5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0" descr="APU Logo Final-medium.jpg">
            <a:extLst>
              <a:ext uri="{FF2B5EF4-FFF2-40B4-BE49-F238E27FC236}">
                <a16:creationId xmlns:a16="http://schemas.microsoft.com/office/drawing/2014/main" id="{131C5456-E521-C7D4-FB88-68A63787FD4F}"/>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2999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04DC0352-F5ED-1918-1F8A-8B80BB6E8C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815954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tx2"/>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2" name="Picture 10" descr="APU Logo Final-medium.jpg">
            <a:extLst>
              <a:ext uri="{FF2B5EF4-FFF2-40B4-BE49-F238E27FC236}">
                <a16:creationId xmlns:a16="http://schemas.microsoft.com/office/drawing/2014/main" id="{AA1C13FB-D1A7-194E-A332-391C492A0CF5}"/>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2689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pic>
        <p:nvPicPr>
          <p:cNvPr id="2" name="Picture 1" descr="Logo, company name&#10;&#10;Description automatically generated">
            <a:extLst>
              <a:ext uri="{FF2B5EF4-FFF2-40B4-BE49-F238E27FC236}">
                <a16:creationId xmlns:a16="http://schemas.microsoft.com/office/drawing/2014/main" id="{C3D40C30-8297-E054-688C-7A1636F331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814924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10" descr="APU Logo Final-medium.jpg">
            <a:extLst>
              <a:ext uri="{FF2B5EF4-FFF2-40B4-BE49-F238E27FC236}">
                <a16:creationId xmlns:a16="http://schemas.microsoft.com/office/drawing/2014/main" id="{53C3B966-D4E4-30D5-4A13-103486C2EBAD}"/>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462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solidFill>
                  <a:schemeClr val="accent5"/>
                </a:solidFill>
              </a:defRPr>
            </a:lvl1pPr>
          </a:lstStyle>
          <a:p>
            <a:r>
              <a:rPr lang="en-US" dirty="0"/>
              <a:t>Click to edit Master title style</a:t>
            </a:r>
            <a:endParaRPr lang="en-GB" dirty="0"/>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4" descr="Logo, company name&#10;&#10;Description automatically generated">
            <a:extLst>
              <a:ext uri="{FF2B5EF4-FFF2-40B4-BE49-F238E27FC236}">
                <a16:creationId xmlns:a16="http://schemas.microsoft.com/office/drawing/2014/main" id="{88157A30-7FA7-829E-6D9C-4DCC0CDCA7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52644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4213781"/>
            <a:ext cx="11623250" cy="195841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10" descr="APU Logo Final-medium.jpg">
            <a:extLst>
              <a:ext uri="{FF2B5EF4-FFF2-40B4-BE49-F238E27FC236}">
                <a16:creationId xmlns:a16="http://schemas.microsoft.com/office/drawing/2014/main" id="{82C331B9-CEE5-20AD-DD62-DCC7F9E243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9979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73377" y="4213781"/>
            <a:ext cx="11623250" cy="195841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2" descr="Logo, company name&#10;&#10;Description automatically generated">
            <a:extLst>
              <a:ext uri="{FF2B5EF4-FFF2-40B4-BE49-F238E27FC236}">
                <a16:creationId xmlns:a16="http://schemas.microsoft.com/office/drawing/2014/main" id="{ED178921-E6EB-89FB-1721-8D340F832C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554818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8" name="Picture 10" descr="APU Logo Final-medium.jpg">
            <a:extLst>
              <a:ext uri="{FF2B5EF4-FFF2-40B4-BE49-F238E27FC236}">
                <a16:creationId xmlns:a16="http://schemas.microsoft.com/office/drawing/2014/main" id="{9186F32B-2E23-EAE7-28F5-E2FCF5E3DFC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4194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10178BF3-0C44-7F6F-9A93-FAD4F3ED2C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3065249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0" descr="APU Logo Final-medium.jpg">
            <a:extLst>
              <a:ext uri="{FF2B5EF4-FFF2-40B4-BE49-F238E27FC236}">
                <a16:creationId xmlns:a16="http://schemas.microsoft.com/office/drawing/2014/main" id="{60D7C342-4D59-30CD-6ECC-0731D5E44748}"/>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spTree>
    <p:extLst>
      <p:ext uri="{BB962C8B-B14F-4D97-AF65-F5344CB8AC3E}">
        <p14:creationId xmlns:p14="http://schemas.microsoft.com/office/powerpoint/2010/main" val="1067577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 descr="Logo, company name&#10;&#10;Description automatically generated">
            <a:extLst>
              <a:ext uri="{FF2B5EF4-FFF2-40B4-BE49-F238E27FC236}">
                <a16:creationId xmlns:a16="http://schemas.microsoft.com/office/drawing/2014/main" id="{6E97445D-AA3E-4FF1-5C3D-A2CF07C45D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spTree>
    <p:extLst>
      <p:ext uri="{BB962C8B-B14F-4D97-AF65-F5344CB8AC3E}">
        <p14:creationId xmlns:p14="http://schemas.microsoft.com/office/powerpoint/2010/main" val="3800996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bg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spTree>
    <p:extLst>
      <p:ext uri="{BB962C8B-B14F-4D97-AF65-F5344CB8AC3E}">
        <p14:creationId xmlns:p14="http://schemas.microsoft.com/office/powerpoint/2010/main" val="6531451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tx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894E1089-2642-1F16-6D34-0AA470DAB4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054814904"/>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pic>
        <p:nvPicPr>
          <p:cNvPr id="4" name="Picture 10" descr="APU Logo Final-medium.jpg">
            <a:extLst>
              <a:ext uri="{FF2B5EF4-FFF2-40B4-BE49-F238E27FC236}">
                <a16:creationId xmlns:a16="http://schemas.microsoft.com/office/drawing/2014/main" id="{C97ADB29-0190-8E6A-A68B-AEBB217C0E8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254001" y="1697038"/>
            <a:ext cx="47752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507173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254001" y="1697038"/>
            <a:ext cx="47752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8" descr="Logo, company name&#10;&#10;Description automatically generated">
            <a:extLst>
              <a:ext uri="{FF2B5EF4-FFF2-40B4-BE49-F238E27FC236}">
                <a16:creationId xmlns:a16="http://schemas.microsoft.com/office/drawing/2014/main" id="{890E9656-A63D-02CF-0218-527AB2D41C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74805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482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Picture with Caption">
    <p:bg>
      <p:bgPr>
        <a:solidFill>
          <a:srgbClr val="001B4D"/>
        </a:solidFill>
        <a:effectLst/>
      </p:bgPr>
    </p:bg>
    <p:spTree>
      <p:nvGrpSpPr>
        <p:cNvPr id="1" name=""/>
        <p:cNvGrpSpPr/>
        <p:nvPr/>
      </p:nvGrpSpPr>
      <p:grpSpPr>
        <a:xfrm>
          <a:off x="0" y="0"/>
          <a:ext cx="0" cy="0"/>
          <a:chOff x="0" y="0"/>
          <a:chExt cx="0" cy="0"/>
        </a:xfrm>
      </p:grpSpPr>
      <p:pic>
        <p:nvPicPr>
          <p:cNvPr id="2" name="Picture 1" descr="Logo, company name&#10;&#10;Description automatically generated">
            <a:extLst>
              <a:ext uri="{FF2B5EF4-FFF2-40B4-BE49-F238E27FC236}">
                <a16:creationId xmlns:a16="http://schemas.microsoft.com/office/drawing/2014/main" id="{6F99F1D5-796D-B18C-4706-ECD5827DB6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95118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E3F9F65D-AB78-8571-A238-B3743684A64B}"/>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41693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EDC140F1-7C93-36F2-49E9-260DAC6B7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18631622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5071533" y="273051"/>
            <a:ext cx="6815667" cy="5853113"/>
          </a:xfrm>
        </p:spPr>
        <p:txBody>
          <a:bodyPr/>
          <a:lstStyle>
            <a:lvl1pPr>
              <a:defRPr sz="3200">
                <a:solidFill>
                  <a:schemeClr val="tx2"/>
                </a:solidFill>
              </a:defRPr>
            </a:lvl1pPr>
            <a:lvl2pPr>
              <a:defRPr sz="2800">
                <a:solidFill>
                  <a:schemeClr val="accent6"/>
                </a:solidFill>
              </a:defRPr>
            </a:lvl2pPr>
            <a:lvl3pPr>
              <a:defRPr sz="2400">
                <a:solidFill>
                  <a:schemeClr val="accent6"/>
                </a:solidFill>
              </a:defRPr>
            </a:lvl3pPr>
            <a:lvl4pPr>
              <a:defRPr sz="2000">
                <a:solidFill>
                  <a:schemeClr val="accent6"/>
                </a:solidFill>
              </a:defRPr>
            </a:lvl4pPr>
            <a:lvl5pPr>
              <a:defRPr sz="2000">
                <a:solidFill>
                  <a:schemeClr val="accent6"/>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240362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50715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05613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tx2"/>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Picture 10" descr="APU Logo Final-medium.jpg">
            <a:extLst>
              <a:ext uri="{FF2B5EF4-FFF2-40B4-BE49-F238E27FC236}">
                <a16:creationId xmlns:a16="http://schemas.microsoft.com/office/drawing/2014/main" id="{C388C33F-8C44-39F0-8C2F-7CF690D3C16C}"/>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27490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accent5"/>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Picture 3" descr="Logo, company name&#10;&#10;Description automatically generated">
            <a:extLst>
              <a:ext uri="{FF2B5EF4-FFF2-40B4-BE49-F238E27FC236}">
                <a16:creationId xmlns:a16="http://schemas.microsoft.com/office/drawing/2014/main" id="{13D2297B-429D-D242-496A-D8036CC69E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692951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47700" y="274638"/>
            <a:ext cx="9389533" cy="1143000"/>
          </a:xfrm>
        </p:spPr>
        <p:txBody>
          <a:bodyPr/>
          <a:lstStyle/>
          <a:p>
            <a:r>
              <a:rPr lang="en-US"/>
              <a:t>Click to edit Master title style</a:t>
            </a:r>
          </a:p>
        </p:txBody>
      </p:sp>
      <p:sp>
        <p:nvSpPr>
          <p:cNvPr id="3" name="Table Placeholder 2"/>
          <p:cNvSpPr>
            <a:spLocks noGrp="1"/>
          </p:cNvSpPr>
          <p:nvPr>
            <p:ph type="tbl" idx="1"/>
          </p:nvPr>
        </p:nvSpPr>
        <p:spPr>
          <a:xfrm>
            <a:off x="649817" y="1697038"/>
            <a:ext cx="10972800" cy="4525962"/>
          </a:xfrm>
        </p:spPr>
        <p:txBody>
          <a:bodyPr/>
          <a:lstStyle/>
          <a:p>
            <a:pPr lvl="0"/>
            <a:endParaRPr lang="en-US" noProof="0"/>
          </a:p>
        </p:txBody>
      </p:sp>
      <p:sp>
        <p:nvSpPr>
          <p:cNvPr id="4" name="Rectangle 8"/>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50929205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microsoft.com/office/2007/relationships/hdphoto" Target="../media/hdphoto1.wdp"/><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userDrawn="1"/>
        </p:nvPicPr>
        <p:blipFill rotWithShape="1">
          <a:blip r:embed="rId44">
            <a:extLst>
              <a:ext uri="{BEBA8EAE-BF5A-486C-A8C5-ECC9F3942E4B}">
                <a14:imgProps xmlns:a14="http://schemas.microsoft.com/office/drawing/2010/main">
                  <a14:imgLayer r:embed="rId45">
                    <a14:imgEffect>
                      <a14:saturation sat="66000"/>
                    </a14:imgEffect>
                  </a14:imgLayer>
                </a14:imgProps>
              </a:ext>
              <a:ext uri="{28A0092B-C50C-407E-A947-70E740481C1C}">
                <a14:useLocalDpi xmlns:a14="http://schemas.microsoft.com/office/drawing/2010/main" val="0"/>
              </a:ext>
            </a:extLst>
          </a:blip>
          <a:srcRect t="94815"/>
          <a:stretch/>
        </p:blipFill>
        <p:spPr>
          <a:xfrm>
            <a:off x="0" y="6502398"/>
            <a:ext cx="12192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254000" y="1697038"/>
            <a:ext cx="117475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
        <p:nvSpPr>
          <p:cNvPr id="2" name="TextBox 1">
            <a:extLst>
              <a:ext uri="{FF2B5EF4-FFF2-40B4-BE49-F238E27FC236}">
                <a16:creationId xmlns:a16="http://schemas.microsoft.com/office/drawing/2014/main" id="{A748569D-7387-4D30-B100-DC94E7D1863E}"/>
              </a:ext>
            </a:extLst>
          </p:cNvPr>
          <p:cNvSpPr txBox="1"/>
          <p:nvPr userDrawn="1"/>
        </p:nvSpPr>
        <p:spPr>
          <a:xfrm>
            <a:off x="10859590" y="6588371"/>
            <a:ext cx="1550125"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a:t>
            </a:r>
            <a:fld id="{7E7DF8DA-2BBC-4974-99EF-62657F72EFE3}" type="slidenum">
              <a:rPr lang="en-US" sz="800" smtClean="0">
                <a:solidFill>
                  <a:schemeClr val="bg2"/>
                </a:solidFill>
                <a:latin typeface="Montserrat" panose="00000500000000000000" pitchFamily="2" charset="0"/>
              </a:rPr>
              <a:pPr algn="ctr"/>
              <a:t>‹#›</a:t>
            </a:fld>
            <a:endParaRPr lang="en-US" sz="8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userDrawn="1"/>
        </p:nvSpPr>
        <p:spPr>
          <a:xfrm>
            <a:off x="39175" y="6588371"/>
            <a:ext cx="2377454" cy="215444"/>
          </a:xfrm>
          <a:prstGeom prst="rect">
            <a:avLst/>
          </a:prstGeom>
          <a:noFill/>
        </p:spPr>
        <p:txBody>
          <a:bodyPr wrap="square" rtlCol="0">
            <a:spAutoFit/>
          </a:bodyPr>
          <a:lstStyle/>
          <a:p>
            <a:pPr algn="l"/>
            <a:r>
              <a:rPr lang="en-US" sz="800" dirty="0">
                <a:solidFill>
                  <a:schemeClr val="bg2"/>
                </a:solidFill>
                <a:latin typeface="Montserrat" panose="00000500000000000000" pitchFamily="2" charset="0"/>
              </a:rPr>
              <a:t>Module Code &amp; Module Title</a:t>
            </a:r>
          </a:p>
        </p:txBody>
      </p:sp>
      <p:sp>
        <p:nvSpPr>
          <p:cNvPr id="8" name="TextBox 7">
            <a:extLst>
              <a:ext uri="{FF2B5EF4-FFF2-40B4-BE49-F238E27FC236}">
                <a16:creationId xmlns:a16="http://schemas.microsoft.com/office/drawing/2014/main" id="{9EBD054F-4D2B-C683-DC2F-88927DD0A10B}"/>
              </a:ext>
            </a:extLst>
          </p:cNvPr>
          <p:cNvSpPr txBox="1"/>
          <p:nvPr userDrawn="1"/>
        </p:nvSpPr>
        <p:spPr>
          <a:xfrm>
            <a:off x="4480560" y="6572476"/>
            <a:ext cx="3396343"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Title</a:t>
            </a:r>
          </a:p>
        </p:txBody>
      </p:sp>
    </p:spTree>
  </p:cSld>
  <p:clrMap bg1="lt1" tx1="dk1" bg2="lt2" tx2="dk2" accent1="accent1" accent2="accent2" accent3="accent3" accent4="accent4" accent5="accent5" accent6="accent6" hlink="hlink" folHlink="folHlink"/>
  <p:sldLayoutIdLst>
    <p:sldLayoutId id="2147483718" r:id="rId1"/>
    <p:sldLayoutId id="2147483753" r:id="rId2"/>
    <p:sldLayoutId id="2147483729" r:id="rId3"/>
    <p:sldLayoutId id="2147483757" r:id="rId4"/>
    <p:sldLayoutId id="2147483758" r:id="rId5"/>
    <p:sldLayoutId id="2147483720" r:id="rId6"/>
    <p:sldLayoutId id="2147483756" r:id="rId7"/>
    <p:sldLayoutId id="2147483719" r:id="rId8"/>
    <p:sldLayoutId id="2147483737" r:id="rId9"/>
    <p:sldLayoutId id="2147483723" r:id="rId10"/>
    <p:sldLayoutId id="2147483739" r:id="rId11"/>
    <p:sldLayoutId id="2147483721" r:id="rId12"/>
    <p:sldLayoutId id="2147483744" r:id="rId13"/>
    <p:sldLayoutId id="2147483722" r:id="rId14"/>
    <p:sldLayoutId id="2147483745" r:id="rId15"/>
    <p:sldLayoutId id="2147483731" r:id="rId16"/>
    <p:sldLayoutId id="2147483724" r:id="rId17"/>
    <p:sldLayoutId id="2147483730" r:id="rId18"/>
    <p:sldLayoutId id="2147483735" r:id="rId19"/>
    <p:sldLayoutId id="2147483725" r:id="rId20"/>
    <p:sldLayoutId id="2147483743" r:id="rId21"/>
    <p:sldLayoutId id="2147483726" r:id="rId22"/>
    <p:sldLayoutId id="2147483740" r:id="rId23"/>
    <p:sldLayoutId id="2147483732" r:id="rId24"/>
    <p:sldLayoutId id="2147483742" r:id="rId25"/>
    <p:sldLayoutId id="2147483749" r:id="rId26"/>
    <p:sldLayoutId id="2147483750" r:id="rId27"/>
    <p:sldLayoutId id="2147483741" r:id="rId28"/>
    <p:sldLayoutId id="2147483734" r:id="rId29"/>
    <p:sldLayoutId id="2147483733" r:id="rId30"/>
    <p:sldLayoutId id="2147483752" r:id="rId31"/>
    <p:sldLayoutId id="2147483727" r:id="rId32"/>
    <p:sldLayoutId id="2147483738" r:id="rId33"/>
    <p:sldLayoutId id="2147483751" r:id="rId34"/>
    <p:sldLayoutId id="2147483747" r:id="rId35"/>
    <p:sldLayoutId id="2147483736" r:id="rId36"/>
    <p:sldLayoutId id="2147483748" r:id="rId37"/>
    <p:sldLayoutId id="2147483728" r:id="rId38"/>
    <p:sldLayoutId id="2147483746" r:id="rId39"/>
    <p:sldLayoutId id="2147483754" r:id="rId40"/>
    <p:sldLayoutId id="2147483755" r:id="rId41"/>
    <p:sldLayoutId id="2147483759" r:id="rId42"/>
  </p:sldLayoutIdLst>
  <p:hf hdr="0" ftr="0" dt="0"/>
  <p:txStyles>
    <p:titleStyle>
      <a:lvl1pPr algn="l" rtl="0" eaLnBrk="0" fontAlgn="base" hangingPunct="0">
        <a:spcBef>
          <a:spcPct val="0"/>
        </a:spcBef>
        <a:spcAft>
          <a:spcPct val="0"/>
        </a:spcAft>
        <a:defRPr sz="3000" b="1">
          <a:solidFill>
            <a:schemeClr val="tx2"/>
          </a:solidFill>
          <a:latin typeface="Montserrat" panose="00000500000000000000" pitchFamily="2" charset="0"/>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2500">
          <a:solidFill>
            <a:schemeClr val="tx1"/>
          </a:solidFill>
          <a:latin typeface="+mj-lt"/>
          <a:ea typeface="+mn-ea"/>
          <a:cs typeface="Calibri" panose="020F0502020204030204" pitchFamily="34" charset="0"/>
        </a:defRPr>
      </a:lvl1pPr>
      <a:lvl2pPr marL="742950" indent="-285750" algn="l" rtl="0" eaLnBrk="0" fontAlgn="base" hangingPunct="0">
        <a:spcBef>
          <a:spcPct val="20000"/>
        </a:spcBef>
        <a:spcAft>
          <a:spcPct val="0"/>
        </a:spcAft>
        <a:buChar char="–"/>
        <a:defRPr sz="2000">
          <a:solidFill>
            <a:schemeClr val="tx1"/>
          </a:solidFill>
          <a:latin typeface="+mj-lt"/>
          <a:cs typeface="Calibri" panose="020F0502020204030204" pitchFamily="34" charset="0"/>
        </a:defRPr>
      </a:lvl2pPr>
      <a:lvl3pPr marL="1143000" indent="-228600" algn="l" rtl="0" eaLnBrk="0" fontAlgn="base" hangingPunct="0">
        <a:spcBef>
          <a:spcPct val="20000"/>
        </a:spcBef>
        <a:spcAft>
          <a:spcPct val="0"/>
        </a:spcAft>
        <a:buChar char="•"/>
        <a:defRPr sz="1800">
          <a:solidFill>
            <a:schemeClr val="tx1"/>
          </a:solidFill>
          <a:latin typeface="+mj-lt"/>
          <a:cs typeface="Calibri" panose="020F0502020204030204" pitchFamily="34" charset="0"/>
        </a:defRPr>
      </a:lvl3pPr>
      <a:lvl4pPr marL="1600200" indent="-228600" algn="l" rtl="0" eaLnBrk="0" fontAlgn="base" hangingPunct="0">
        <a:spcBef>
          <a:spcPct val="20000"/>
        </a:spcBef>
        <a:spcAft>
          <a:spcPct val="0"/>
        </a:spcAft>
        <a:buChar char="–"/>
        <a:defRPr sz="1500">
          <a:solidFill>
            <a:schemeClr val="tx1"/>
          </a:solidFill>
          <a:latin typeface="+mj-lt"/>
          <a:cs typeface="Calibri" panose="020F0502020204030204" pitchFamily="34" charset="0"/>
        </a:defRPr>
      </a:lvl4pPr>
      <a:lvl5pPr marL="2057400" indent="-228600" algn="l" rtl="0" eaLnBrk="0" fontAlgn="base" hangingPunct="0">
        <a:spcBef>
          <a:spcPct val="20000"/>
        </a:spcBef>
        <a:spcAft>
          <a:spcPct val="0"/>
        </a:spcAft>
        <a:buChar char="»"/>
        <a:defRPr sz="1200">
          <a:solidFill>
            <a:schemeClr val="tx1"/>
          </a:solidFill>
          <a:latin typeface="+mj-lt"/>
          <a:cs typeface="Calibri" panose="020F0502020204030204"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lstStyle/>
          <a:p>
            <a:pPr eaLnBrk="1" hangingPunct="1"/>
            <a:r>
              <a:rPr lang="en-US" dirty="0"/>
              <a:t>Database Administration</a:t>
            </a:r>
          </a:p>
        </p:txBody>
      </p:sp>
      <p:sp>
        <p:nvSpPr>
          <p:cNvPr id="4" name="Title 1"/>
          <p:cNvSpPr txBox="1">
            <a:spLocks/>
          </p:cNvSpPr>
          <p:nvPr/>
        </p:nvSpPr>
        <p:spPr bwMode="auto">
          <a:xfrm>
            <a:off x="3726375" y="1824807"/>
            <a:ext cx="6754812"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gn="ctr" eaLnBrk="1" hangingPunct="1">
              <a:defRPr/>
            </a:pPr>
            <a:r>
              <a:rPr lang="en-US" sz="3600" kern="0" dirty="0">
                <a:solidFill>
                  <a:schemeClr val="bg1"/>
                </a:solidFill>
                <a:latin typeface="+mj-lt"/>
                <a:ea typeface="+mj-ea"/>
                <a:cs typeface="+mj-cs"/>
              </a:rPr>
              <a:t>CT004-3.5-3 </a:t>
            </a:r>
            <a:br>
              <a:rPr lang="en-US" sz="3600" kern="0" dirty="0">
                <a:solidFill>
                  <a:schemeClr val="bg1"/>
                </a:solidFill>
                <a:latin typeface="+mj-lt"/>
                <a:ea typeface="+mj-ea"/>
                <a:cs typeface="+mj-cs"/>
              </a:rPr>
            </a:br>
            <a:r>
              <a:rPr lang="en-US" sz="3600" kern="0" dirty="0">
                <a:solidFill>
                  <a:schemeClr val="bg1"/>
                </a:solidFill>
                <a:latin typeface="+mj-lt"/>
                <a:ea typeface="+mj-ea"/>
                <a:cs typeface="+mj-cs"/>
              </a:rPr>
              <a:t>Advanced Database Systems</a:t>
            </a:r>
            <a:endParaRPr lang="en-MY" sz="3600" kern="0" dirty="0">
              <a:solidFill>
                <a:schemeClr val="bg1"/>
              </a:solidFill>
              <a:latin typeface="+mj-lt"/>
              <a:ea typeface="+mj-ea"/>
              <a:cs typeface="+mj-cs"/>
            </a:endParaRPr>
          </a:p>
        </p:txBody>
      </p:sp>
    </p:spTree>
  </p:cSld>
  <p:clrMapOvr>
    <a:masterClrMapping/>
  </p:clrMapOvr>
  <p:transition advTm="1871"/>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GB"/>
              <a:t>Database Administration</a:t>
            </a:r>
            <a:endParaRPr lang="en-US"/>
          </a:p>
        </p:txBody>
      </p:sp>
      <p:sp>
        <p:nvSpPr>
          <p:cNvPr id="117763" name="Rectangle 3"/>
          <p:cNvSpPr>
            <a:spLocks noGrp="1" noChangeArrowheads="1"/>
          </p:cNvSpPr>
          <p:nvPr>
            <p:ph idx="1"/>
          </p:nvPr>
        </p:nvSpPr>
        <p:spPr>
          <a:xfrm>
            <a:off x="1731964" y="1697038"/>
            <a:ext cx="8726487" cy="4525962"/>
          </a:xfrm>
        </p:spPr>
        <p:txBody>
          <a:bodyPr/>
          <a:lstStyle/>
          <a:p>
            <a:pPr eaLnBrk="1" hangingPunct="1">
              <a:buFontTx/>
              <a:buNone/>
            </a:pPr>
            <a:r>
              <a:rPr lang="en-GB" sz="2800" dirty="0"/>
              <a:t>At the end of this chapter, you will be able to: </a:t>
            </a:r>
          </a:p>
          <a:p>
            <a:pPr eaLnBrk="1" hangingPunct="1"/>
            <a:endParaRPr lang="en-GB" sz="2800" dirty="0"/>
          </a:p>
          <a:p>
            <a:pPr eaLnBrk="1" hangingPunct="1">
              <a:buClr>
                <a:schemeClr val="tx1"/>
              </a:buClr>
            </a:pPr>
            <a:r>
              <a:rPr lang="en-GB" sz="2800" dirty="0"/>
              <a:t>Explain the evolution of Database administration</a:t>
            </a:r>
          </a:p>
          <a:p>
            <a:pPr eaLnBrk="1" hangingPunct="1">
              <a:buClr>
                <a:schemeClr val="tx1"/>
              </a:buClr>
            </a:pPr>
            <a:r>
              <a:rPr lang="en-GB" sz="2800" dirty="0"/>
              <a:t>Discuss the role of the Data Administrator </a:t>
            </a:r>
          </a:p>
          <a:p>
            <a:pPr eaLnBrk="1" hangingPunct="1">
              <a:buClr>
                <a:schemeClr val="tx1"/>
              </a:buClr>
            </a:pPr>
            <a:r>
              <a:rPr lang="en-GB" sz="2800" dirty="0"/>
              <a:t>Discuss the role of the Database Administrator</a:t>
            </a:r>
          </a:p>
          <a:p>
            <a:pPr eaLnBrk="1" hangingPunct="1">
              <a:buFontTx/>
              <a:buNone/>
            </a:pPr>
            <a:endParaRPr lang="en-US" sz="2800" dirty="0"/>
          </a:p>
        </p:txBody>
      </p:sp>
    </p:spTree>
    <p:custDataLst>
      <p:tags r:id="rId1"/>
    </p:custDataLst>
  </p:cSld>
  <p:clrMapOvr>
    <a:masterClrMapping/>
  </p:clrMapOvr>
  <p:transition advTm="825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7763">
                                            <p:txEl>
                                              <p:pRg st="0" end="0"/>
                                            </p:txEl>
                                          </p:spTgt>
                                        </p:tgtEl>
                                        <p:attrNameLst>
                                          <p:attrName>style.visibility</p:attrName>
                                        </p:attrNameLst>
                                      </p:cBhvr>
                                      <p:to>
                                        <p:strVal val="visible"/>
                                      </p:to>
                                    </p:set>
                                    <p:animEffect transition="in" filter="blinds(horizontal)">
                                      <p:cBhvr>
                                        <p:cTn id="7" dur="500"/>
                                        <p:tgtEl>
                                          <p:spTgt spid="1177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7763">
                                            <p:txEl>
                                              <p:pRg st="2" end="2"/>
                                            </p:txEl>
                                          </p:spTgt>
                                        </p:tgtEl>
                                        <p:attrNameLst>
                                          <p:attrName>style.visibility</p:attrName>
                                        </p:attrNameLst>
                                      </p:cBhvr>
                                      <p:to>
                                        <p:strVal val="visible"/>
                                      </p:to>
                                    </p:set>
                                    <p:animEffect transition="in" filter="blinds(horizontal)">
                                      <p:cBhvr>
                                        <p:cTn id="12" dur="500"/>
                                        <p:tgtEl>
                                          <p:spTgt spid="1177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7763">
                                            <p:txEl>
                                              <p:pRg st="3" end="3"/>
                                            </p:txEl>
                                          </p:spTgt>
                                        </p:tgtEl>
                                        <p:attrNameLst>
                                          <p:attrName>style.visibility</p:attrName>
                                        </p:attrNameLst>
                                      </p:cBhvr>
                                      <p:to>
                                        <p:strVal val="visible"/>
                                      </p:to>
                                    </p:set>
                                    <p:animEffect transition="in" filter="blinds(horizontal)">
                                      <p:cBhvr>
                                        <p:cTn id="17" dur="500"/>
                                        <p:tgtEl>
                                          <p:spTgt spid="11776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7763">
                                            <p:txEl>
                                              <p:pRg st="4" end="4"/>
                                            </p:txEl>
                                          </p:spTgt>
                                        </p:tgtEl>
                                        <p:attrNameLst>
                                          <p:attrName>style.visibility</p:attrName>
                                        </p:attrNameLst>
                                      </p:cBhvr>
                                      <p:to>
                                        <p:strVal val="visible"/>
                                      </p:to>
                                    </p:set>
                                    <p:animEffect transition="in" filter="blinds(horizontal)">
                                      <p:cBhvr>
                                        <p:cTn id="22" dur="500"/>
                                        <p:tgtEl>
                                          <p:spTgt spid="1177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GB"/>
              <a:t>Database Administration</a:t>
            </a:r>
            <a:endParaRPr lang="en-US"/>
          </a:p>
        </p:txBody>
      </p:sp>
      <p:sp>
        <p:nvSpPr>
          <p:cNvPr id="118787" name="Rectangle 3"/>
          <p:cNvSpPr>
            <a:spLocks noGrp="1" noChangeArrowheads="1"/>
          </p:cNvSpPr>
          <p:nvPr>
            <p:ph idx="1"/>
          </p:nvPr>
        </p:nvSpPr>
        <p:spPr/>
        <p:txBody>
          <a:bodyPr/>
          <a:lstStyle/>
          <a:p>
            <a:pPr eaLnBrk="1" hangingPunct="1">
              <a:lnSpc>
                <a:spcPct val="90000"/>
              </a:lnSpc>
            </a:pPr>
            <a:r>
              <a:rPr lang="en-GB" sz="2400" dirty="0"/>
              <a:t>DBMS is just a tool for managing data and must be used effectively to produce the desired results</a:t>
            </a:r>
          </a:p>
          <a:p>
            <a:pPr eaLnBrk="1" hangingPunct="1">
              <a:lnSpc>
                <a:spcPct val="90000"/>
              </a:lnSpc>
            </a:pPr>
            <a:r>
              <a:rPr lang="en-GB" sz="2400" dirty="0"/>
              <a:t>Introduction of a DBMS represents a big change and can have a big impact</a:t>
            </a:r>
          </a:p>
          <a:p>
            <a:pPr lvl="1" eaLnBrk="1" hangingPunct="1">
              <a:lnSpc>
                <a:spcPct val="90000"/>
              </a:lnSpc>
            </a:pPr>
            <a:r>
              <a:rPr lang="en-GB" sz="2400" dirty="0"/>
              <a:t>Positive or negative depending on how its administered</a:t>
            </a:r>
          </a:p>
          <a:p>
            <a:pPr eaLnBrk="1" hangingPunct="1">
              <a:lnSpc>
                <a:spcPct val="90000"/>
              </a:lnSpc>
            </a:pPr>
            <a:r>
              <a:rPr lang="en-GB" sz="2400" dirty="0"/>
              <a:t>Process includes 3 important aspects</a:t>
            </a:r>
          </a:p>
          <a:p>
            <a:pPr lvl="1" eaLnBrk="1" hangingPunct="1">
              <a:lnSpc>
                <a:spcPct val="90000"/>
              </a:lnSpc>
            </a:pPr>
            <a:r>
              <a:rPr lang="en-GB" sz="2400" dirty="0"/>
              <a:t>Technological : DBMS software and hardware</a:t>
            </a:r>
          </a:p>
          <a:p>
            <a:pPr lvl="1" eaLnBrk="1" hangingPunct="1">
              <a:lnSpc>
                <a:spcPct val="90000"/>
              </a:lnSpc>
            </a:pPr>
            <a:r>
              <a:rPr lang="en-GB" sz="2400" dirty="0"/>
              <a:t>Managerial: administrative functions</a:t>
            </a:r>
          </a:p>
          <a:p>
            <a:pPr lvl="1" eaLnBrk="1" hangingPunct="1">
              <a:lnSpc>
                <a:spcPct val="90000"/>
              </a:lnSpc>
            </a:pPr>
            <a:r>
              <a:rPr lang="en-GB" sz="2400" dirty="0"/>
              <a:t>Cultural: Corporate resistance to change</a:t>
            </a:r>
            <a:endParaRPr lang="en-US" sz="2400" dirty="0"/>
          </a:p>
        </p:txBody>
      </p:sp>
    </p:spTree>
    <p:custDataLst>
      <p:tags r:id="rId1"/>
    </p:custDataLst>
  </p:cSld>
  <p:clrMapOvr>
    <a:masterClrMapping/>
  </p:clrMapOvr>
  <p:transition advTm="307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blinds(horizontal)">
                                      <p:cBhvr>
                                        <p:cTn id="7" dur="500"/>
                                        <p:tgtEl>
                                          <p:spTgt spid="118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8787">
                                            <p:txEl>
                                              <p:pRg st="1" end="1"/>
                                            </p:txEl>
                                          </p:spTgt>
                                        </p:tgtEl>
                                        <p:attrNameLst>
                                          <p:attrName>style.visibility</p:attrName>
                                        </p:attrNameLst>
                                      </p:cBhvr>
                                      <p:to>
                                        <p:strVal val="visible"/>
                                      </p:to>
                                    </p:set>
                                    <p:animEffect transition="in" filter="blinds(horizontal)">
                                      <p:cBhvr>
                                        <p:cTn id="12" dur="500"/>
                                        <p:tgtEl>
                                          <p:spTgt spid="118787">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18787">
                                            <p:txEl>
                                              <p:pRg st="2" end="2"/>
                                            </p:txEl>
                                          </p:spTgt>
                                        </p:tgtEl>
                                        <p:attrNameLst>
                                          <p:attrName>style.visibility</p:attrName>
                                        </p:attrNameLst>
                                      </p:cBhvr>
                                      <p:to>
                                        <p:strVal val="visible"/>
                                      </p:to>
                                    </p:set>
                                    <p:animEffect transition="in" filter="blinds(horizontal)">
                                      <p:cBhvr>
                                        <p:cTn id="15" dur="500"/>
                                        <p:tgtEl>
                                          <p:spTgt spid="11878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18787">
                                            <p:txEl>
                                              <p:pRg st="3" end="3"/>
                                            </p:txEl>
                                          </p:spTgt>
                                        </p:tgtEl>
                                        <p:attrNameLst>
                                          <p:attrName>style.visibility</p:attrName>
                                        </p:attrNameLst>
                                      </p:cBhvr>
                                      <p:to>
                                        <p:strVal val="visible"/>
                                      </p:to>
                                    </p:set>
                                    <p:animEffect transition="in" filter="blinds(horizontal)">
                                      <p:cBhvr>
                                        <p:cTn id="20" dur="500"/>
                                        <p:tgtEl>
                                          <p:spTgt spid="118787">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18787">
                                            <p:txEl>
                                              <p:pRg st="4" end="4"/>
                                            </p:txEl>
                                          </p:spTgt>
                                        </p:tgtEl>
                                        <p:attrNameLst>
                                          <p:attrName>style.visibility</p:attrName>
                                        </p:attrNameLst>
                                      </p:cBhvr>
                                      <p:to>
                                        <p:strVal val="visible"/>
                                      </p:to>
                                    </p:set>
                                    <p:animEffect transition="in" filter="blinds(horizontal)">
                                      <p:cBhvr>
                                        <p:cTn id="23" dur="500"/>
                                        <p:tgtEl>
                                          <p:spTgt spid="118787">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18787">
                                            <p:txEl>
                                              <p:pRg st="5" end="5"/>
                                            </p:txEl>
                                          </p:spTgt>
                                        </p:tgtEl>
                                        <p:attrNameLst>
                                          <p:attrName>style.visibility</p:attrName>
                                        </p:attrNameLst>
                                      </p:cBhvr>
                                      <p:to>
                                        <p:strVal val="visible"/>
                                      </p:to>
                                    </p:set>
                                    <p:animEffect transition="in" filter="blinds(horizontal)">
                                      <p:cBhvr>
                                        <p:cTn id="26" dur="500"/>
                                        <p:tgtEl>
                                          <p:spTgt spid="118787">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18787">
                                            <p:txEl>
                                              <p:pRg st="6" end="6"/>
                                            </p:txEl>
                                          </p:spTgt>
                                        </p:tgtEl>
                                        <p:attrNameLst>
                                          <p:attrName>style.visibility</p:attrName>
                                        </p:attrNameLst>
                                      </p:cBhvr>
                                      <p:to>
                                        <p:strVal val="visible"/>
                                      </p:to>
                                    </p:set>
                                    <p:animEffect transition="in" filter="blinds(horizontal)">
                                      <p:cBhvr>
                                        <p:cTn id="29" dur="500"/>
                                        <p:tgtEl>
                                          <p:spTgt spid="1187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GB"/>
              <a:t>Technological aspect</a:t>
            </a:r>
            <a:endParaRPr lang="en-US"/>
          </a:p>
        </p:txBody>
      </p:sp>
      <p:sp>
        <p:nvSpPr>
          <p:cNvPr id="119811" name="Rectangle 3"/>
          <p:cNvSpPr>
            <a:spLocks noGrp="1" noChangeArrowheads="1"/>
          </p:cNvSpPr>
          <p:nvPr>
            <p:ph idx="1"/>
          </p:nvPr>
        </p:nvSpPr>
        <p:spPr>
          <a:xfrm>
            <a:off x="2011363" y="1600200"/>
            <a:ext cx="8229600" cy="4768850"/>
          </a:xfrm>
        </p:spPr>
        <p:txBody>
          <a:bodyPr/>
          <a:lstStyle/>
          <a:p>
            <a:pPr eaLnBrk="1" hangingPunct="1"/>
            <a:r>
              <a:rPr lang="en-GB" sz="2800"/>
              <a:t>Selecting, installing, configuring and monitoring the DBMS</a:t>
            </a:r>
          </a:p>
          <a:p>
            <a:pPr lvl="1" eaLnBrk="1" hangingPunct="1"/>
            <a:r>
              <a:rPr lang="en-GB" sz="2400"/>
              <a:t>To make sure it handles data storage, access and security efficiently</a:t>
            </a:r>
          </a:p>
          <a:p>
            <a:pPr lvl="1" eaLnBrk="1" hangingPunct="1"/>
            <a:r>
              <a:rPr lang="en-GB" sz="2400"/>
              <a:t>Managed by people with technical skills necessary to provide adequate support for all users</a:t>
            </a:r>
          </a:p>
          <a:p>
            <a:pPr lvl="2" eaLnBrk="1" hangingPunct="1"/>
            <a:r>
              <a:rPr lang="en-GB" sz="2200"/>
              <a:t>Programmers, managers and end-users</a:t>
            </a:r>
          </a:p>
          <a:p>
            <a:pPr lvl="1" eaLnBrk="1" hangingPunct="1"/>
            <a:r>
              <a:rPr lang="en-GB" sz="2400"/>
              <a:t>Database administration staffing is a key consideration</a:t>
            </a:r>
          </a:p>
          <a:p>
            <a:pPr lvl="2" eaLnBrk="1" hangingPunct="1"/>
            <a:r>
              <a:rPr lang="en-GB" sz="2200"/>
              <a:t>Personnel must have mix of technical and managerial skills</a:t>
            </a:r>
          </a:p>
          <a:p>
            <a:pPr eaLnBrk="1" hangingPunct="1"/>
            <a:endParaRPr lang="en-US" sz="2800"/>
          </a:p>
        </p:txBody>
      </p:sp>
    </p:spTree>
    <p:custDataLst>
      <p:tags r:id="rId1"/>
    </p:custDataLst>
  </p:cSld>
  <p:clrMapOvr>
    <a:masterClrMapping/>
  </p:clrMapOvr>
  <p:transition advTm="208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animEffect transition="in" filter="blinds(horizontal)">
                                      <p:cBhvr>
                                        <p:cTn id="7" dur="500"/>
                                        <p:tgtEl>
                                          <p:spTgt spid="11981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9811">
                                            <p:txEl>
                                              <p:pRg st="1" end="1"/>
                                            </p:txEl>
                                          </p:spTgt>
                                        </p:tgtEl>
                                        <p:attrNameLst>
                                          <p:attrName>style.visibility</p:attrName>
                                        </p:attrNameLst>
                                      </p:cBhvr>
                                      <p:to>
                                        <p:strVal val="visible"/>
                                      </p:to>
                                    </p:set>
                                    <p:animEffect transition="in" filter="blinds(horizontal)">
                                      <p:cBhvr>
                                        <p:cTn id="10" dur="500"/>
                                        <p:tgtEl>
                                          <p:spTgt spid="119811">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19811">
                                            <p:txEl>
                                              <p:pRg st="2" end="2"/>
                                            </p:txEl>
                                          </p:spTgt>
                                        </p:tgtEl>
                                        <p:attrNameLst>
                                          <p:attrName>style.visibility</p:attrName>
                                        </p:attrNameLst>
                                      </p:cBhvr>
                                      <p:to>
                                        <p:strVal val="visible"/>
                                      </p:to>
                                    </p:set>
                                    <p:animEffect transition="in" filter="blinds(horizontal)">
                                      <p:cBhvr>
                                        <p:cTn id="13" dur="500"/>
                                        <p:tgtEl>
                                          <p:spTgt spid="119811">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19811">
                                            <p:txEl>
                                              <p:pRg st="3" end="3"/>
                                            </p:txEl>
                                          </p:spTgt>
                                        </p:tgtEl>
                                        <p:attrNameLst>
                                          <p:attrName>style.visibility</p:attrName>
                                        </p:attrNameLst>
                                      </p:cBhvr>
                                      <p:to>
                                        <p:strVal val="visible"/>
                                      </p:to>
                                    </p:set>
                                    <p:animEffect transition="in" filter="blinds(horizontal)">
                                      <p:cBhvr>
                                        <p:cTn id="16" dur="500"/>
                                        <p:tgtEl>
                                          <p:spTgt spid="119811">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19811">
                                            <p:txEl>
                                              <p:pRg st="4" end="4"/>
                                            </p:txEl>
                                          </p:spTgt>
                                        </p:tgtEl>
                                        <p:attrNameLst>
                                          <p:attrName>style.visibility</p:attrName>
                                        </p:attrNameLst>
                                      </p:cBhvr>
                                      <p:to>
                                        <p:strVal val="visible"/>
                                      </p:to>
                                    </p:set>
                                    <p:animEffect transition="in" filter="blinds(horizontal)">
                                      <p:cBhvr>
                                        <p:cTn id="19" dur="500"/>
                                        <p:tgtEl>
                                          <p:spTgt spid="119811">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19811">
                                            <p:txEl>
                                              <p:pRg st="5" end="5"/>
                                            </p:txEl>
                                          </p:spTgt>
                                        </p:tgtEl>
                                        <p:attrNameLst>
                                          <p:attrName>style.visibility</p:attrName>
                                        </p:attrNameLst>
                                      </p:cBhvr>
                                      <p:to>
                                        <p:strVal val="visible"/>
                                      </p:to>
                                    </p:set>
                                    <p:animEffect transition="in" filter="blinds(horizontal)">
                                      <p:cBhvr>
                                        <p:cTn id="22" dur="500"/>
                                        <p:tgtEl>
                                          <p:spTgt spid="1198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GB"/>
              <a:t>Managerial Aspect</a:t>
            </a:r>
            <a:endParaRPr lang="en-US"/>
          </a:p>
        </p:txBody>
      </p:sp>
      <p:sp>
        <p:nvSpPr>
          <p:cNvPr id="120835" name="Rectangle 3"/>
          <p:cNvSpPr>
            <a:spLocks noGrp="1" noChangeArrowheads="1"/>
          </p:cNvSpPr>
          <p:nvPr>
            <p:ph idx="1"/>
          </p:nvPr>
        </p:nvSpPr>
        <p:spPr/>
        <p:txBody>
          <a:bodyPr/>
          <a:lstStyle/>
          <a:p>
            <a:pPr eaLnBrk="1" hangingPunct="1">
              <a:lnSpc>
                <a:spcPct val="90000"/>
              </a:lnSpc>
            </a:pPr>
            <a:r>
              <a:rPr lang="en-GB" sz="2800" dirty="0"/>
              <a:t>High quality DBMS does not guarantee a high quality information system</a:t>
            </a:r>
          </a:p>
          <a:p>
            <a:pPr eaLnBrk="1" hangingPunct="1">
              <a:lnSpc>
                <a:spcPct val="90000"/>
              </a:lnSpc>
            </a:pPr>
            <a:r>
              <a:rPr lang="en-GB" sz="2800" dirty="0"/>
              <a:t>Requires careful planning to create appropriate organisational structure</a:t>
            </a:r>
          </a:p>
          <a:p>
            <a:pPr eaLnBrk="1" hangingPunct="1">
              <a:lnSpc>
                <a:spcPct val="90000"/>
              </a:lnSpc>
            </a:pPr>
            <a:r>
              <a:rPr lang="en-GB" sz="2800" dirty="0"/>
              <a:t>Personnel must have excellent interpersonal and communication skills combined with broad organisational and business understanding</a:t>
            </a:r>
          </a:p>
          <a:p>
            <a:pPr eaLnBrk="1" hangingPunct="1">
              <a:lnSpc>
                <a:spcPct val="90000"/>
              </a:lnSpc>
            </a:pPr>
            <a:r>
              <a:rPr lang="en-GB" sz="2800" dirty="0"/>
              <a:t>Top management must be committed to the new system and support the database administration functions goals and roles</a:t>
            </a:r>
          </a:p>
          <a:p>
            <a:pPr eaLnBrk="1" hangingPunct="1">
              <a:lnSpc>
                <a:spcPct val="90000"/>
              </a:lnSpc>
            </a:pPr>
            <a:endParaRPr lang="en-US" sz="2800" dirty="0"/>
          </a:p>
        </p:txBody>
      </p:sp>
    </p:spTree>
    <p:custDataLst>
      <p:tags r:id="rId1"/>
    </p:custDataLst>
  </p:cSld>
  <p:clrMapOvr>
    <a:masterClrMapping/>
  </p:clrMapOvr>
  <p:transition advTm="387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animEffect transition="in" filter="blinds(horizontal)">
                                      <p:cBhvr>
                                        <p:cTn id="7" dur="500"/>
                                        <p:tgtEl>
                                          <p:spTgt spid="120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0835">
                                            <p:txEl>
                                              <p:pRg st="1" end="1"/>
                                            </p:txEl>
                                          </p:spTgt>
                                        </p:tgtEl>
                                        <p:attrNameLst>
                                          <p:attrName>style.visibility</p:attrName>
                                        </p:attrNameLst>
                                      </p:cBhvr>
                                      <p:to>
                                        <p:strVal val="visible"/>
                                      </p:to>
                                    </p:set>
                                    <p:animEffect transition="in" filter="blinds(horizontal)">
                                      <p:cBhvr>
                                        <p:cTn id="12" dur="500"/>
                                        <p:tgtEl>
                                          <p:spTgt spid="1208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0835">
                                            <p:txEl>
                                              <p:pRg st="2" end="2"/>
                                            </p:txEl>
                                          </p:spTgt>
                                        </p:tgtEl>
                                        <p:attrNameLst>
                                          <p:attrName>style.visibility</p:attrName>
                                        </p:attrNameLst>
                                      </p:cBhvr>
                                      <p:to>
                                        <p:strVal val="visible"/>
                                      </p:to>
                                    </p:set>
                                    <p:animEffect transition="in" filter="blinds(horizontal)">
                                      <p:cBhvr>
                                        <p:cTn id="17" dur="500"/>
                                        <p:tgtEl>
                                          <p:spTgt spid="1208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0835">
                                            <p:txEl>
                                              <p:pRg st="3" end="3"/>
                                            </p:txEl>
                                          </p:spTgt>
                                        </p:tgtEl>
                                        <p:attrNameLst>
                                          <p:attrName>style.visibility</p:attrName>
                                        </p:attrNameLst>
                                      </p:cBhvr>
                                      <p:to>
                                        <p:strVal val="visible"/>
                                      </p:to>
                                    </p:set>
                                    <p:animEffect transition="in" filter="blinds(horizontal)">
                                      <p:cBhvr>
                                        <p:cTn id="22" dur="500"/>
                                        <p:tgtEl>
                                          <p:spTgt spid="1208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GB"/>
              <a:t>Cultural Impact</a:t>
            </a:r>
            <a:endParaRPr lang="en-US"/>
          </a:p>
        </p:txBody>
      </p:sp>
      <p:sp>
        <p:nvSpPr>
          <p:cNvPr id="121859" name="Rectangle 3"/>
          <p:cNvSpPr>
            <a:spLocks noGrp="1" noChangeArrowheads="1"/>
          </p:cNvSpPr>
          <p:nvPr>
            <p:ph idx="1"/>
          </p:nvPr>
        </p:nvSpPr>
        <p:spPr/>
        <p:txBody>
          <a:bodyPr/>
          <a:lstStyle/>
          <a:p>
            <a:pPr eaLnBrk="1" hangingPunct="1">
              <a:lnSpc>
                <a:spcPct val="90000"/>
              </a:lnSpc>
            </a:pPr>
            <a:r>
              <a:rPr lang="en-GB" sz="2300" dirty="0"/>
              <a:t>DBMS is likely to have an effect on people, functions and interactions</a:t>
            </a:r>
          </a:p>
          <a:p>
            <a:pPr lvl="1" eaLnBrk="1" hangingPunct="1">
              <a:lnSpc>
                <a:spcPct val="90000"/>
              </a:lnSpc>
            </a:pPr>
            <a:r>
              <a:rPr lang="en-GB" sz="2200" dirty="0"/>
              <a:t>Additional personnel may be required</a:t>
            </a:r>
          </a:p>
          <a:p>
            <a:pPr lvl="1" eaLnBrk="1" hangingPunct="1">
              <a:lnSpc>
                <a:spcPct val="90000"/>
              </a:lnSpc>
            </a:pPr>
            <a:r>
              <a:rPr lang="en-GB" sz="2200" dirty="0"/>
              <a:t>New roles allocated</a:t>
            </a:r>
          </a:p>
          <a:p>
            <a:pPr lvl="1" eaLnBrk="1" hangingPunct="1">
              <a:lnSpc>
                <a:spcPct val="90000"/>
              </a:lnSpc>
            </a:pPr>
            <a:r>
              <a:rPr lang="en-GB" sz="2200" dirty="0"/>
              <a:t>Employee performance might be evaluated</a:t>
            </a:r>
          </a:p>
          <a:p>
            <a:pPr eaLnBrk="1" hangingPunct="1">
              <a:lnSpc>
                <a:spcPct val="90000"/>
              </a:lnSpc>
            </a:pPr>
            <a:r>
              <a:rPr lang="en-GB" sz="2300" dirty="0"/>
              <a:t>Individual department managers surrender ownership to data administration function and share data with the rest of the company</a:t>
            </a:r>
          </a:p>
          <a:p>
            <a:pPr eaLnBrk="1" hangingPunct="1">
              <a:lnSpc>
                <a:spcPct val="90000"/>
              </a:lnSpc>
            </a:pPr>
            <a:r>
              <a:rPr lang="en-GB" sz="2300" dirty="0"/>
              <a:t>People might be unwilling to use the information provided and question its accuracy</a:t>
            </a:r>
          </a:p>
          <a:p>
            <a:pPr eaLnBrk="1" hangingPunct="1">
              <a:lnSpc>
                <a:spcPct val="90000"/>
              </a:lnSpc>
            </a:pPr>
            <a:r>
              <a:rPr lang="en-GB" sz="2300" dirty="0"/>
              <a:t>Database administration department will need to listen to end users concerns and act by educating about benefits</a:t>
            </a:r>
          </a:p>
          <a:p>
            <a:pPr eaLnBrk="1" hangingPunct="1">
              <a:lnSpc>
                <a:spcPct val="90000"/>
              </a:lnSpc>
            </a:pPr>
            <a:endParaRPr lang="en-US" sz="2400" dirty="0"/>
          </a:p>
        </p:txBody>
      </p:sp>
    </p:spTree>
    <p:custDataLst>
      <p:tags r:id="rId1"/>
    </p:custDataLst>
  </p:cSld>
  <p:clrMapOvr>
    <a:masterClrMapping/>
  </p:clrMapOvr>
  <p:transition advTm="474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animEffect transition="in" filter="blinds(horizontal)">
                                      <p:cBhvr>
                                        <p:cTn id="7" dur="500"/>
                                        <p:tgtEl>
                                          <p:spTgt spid="12185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1859">
                                            <p:txEl>
                                              <p:pRg st="1" end="1"/>
                                            </p:txEl>
                                          </p:spTgt>
                                        </p:tgtEl>
                                        <p:attrNameLst>
                                          <p:attrName>style.visibility</p:attrName>
                                        </p:attrNameLst>
                                      </p:cBhvr>
                                      <p:to>
                                        <p:strVal val="visible"/>
                                      </p:to>
                                    </p:set>
                                    <p:animEffect transition="in" filter="blinds(horizontal)">
                                      <p:cBhvr>
                                        <p:cTn id="10" dur="500"/>
                                        <p:tgtEl>
                                          <p:spTgt spid="12185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1859">
                                            <p:txEl>
                                              <p:pRg st="2" end="2"/>
                                            </p:txEl>
                                          </p:spTgt>
                                        </p:tgtEl>
                                        <p:attrNameLst>
                                          <p:attrName>style.visibility</p:attrName>
                                        </p:attrNameLst>
                                      </p:cBhvr>
                                      <p:to>
                                        <p:strVal val="visible"/>
                                      </p:to>
                                    </p:set>
                                    <p:animEffect transition="in" filter="blinds(horizontal)">
                                      <p:cBhvr>
                                        <p:cTn id="13" dur="500"/>
                                        <p:tgtEl>
                                          <p:spTgt spid="12185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21859">
                                            <p:txEl>
                                              <p:pRg st="3" end="3"/>
                                            </p:txEl>
                                          </p:spTgt>
                                        </p:tgtEl>
                                        <p:attrNameLst>
                                          <p:attrName>style.visibility</p:attrName>
                                        </p:attrNameLst>
                                      </p:cBhvr>
                                      <p:to>
                                        <p:strVal val="visible"/>
                                      </p:to>
                                    </p:set>
                                    <p:animEffect transition="in" filter="blinds(horizontal)">
                                      <p:cBhvr>
                                        <p:cTn id="16" dur="500"/>
                                        <p:tgtEl>
                                          <p:spTgt spid="12185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21859">
                                            <p:txEl>
                                              <p:pRg st="4" end="4"/>
                                            </p:txEl>
                                          </p:spTgt>
                                        </p:tgtEl>
                                        <p:attrNameLst>
                                          <p:attrName>style.visibility</p:attrName>
                                        </p:attrNameLst>
                                      </p:cBhvr>
                                      <p:to>
                                        <p:strVal val="visible"/>
                                      </p:to>
                                    </p:set>
                                    <p:animEffect transition="in" filter="blinds(horizontal)">
                                      <p:cBhvr>
                                        <p:cTn id="21" dur="500"/>
                                        <p:tgtEl>
                                          <p:spTgt spid="121859">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21859">
                                            <p:txEl>
                                              <p:pRg st="5" end="5"/>
                                            </p:txEl>
                                          </p:spTgt>
                                        </p:tgtEl>
                                        <p:attrNameLst>
                                          <p:attrName>style.visibility</p:attrName>
                                        </p:attrNameLst>
                                      </p:cBhvr>
                                      <p:to>
                                        <p:strVal val="visible"/>
                                      </p:to>
                                    </p:set>
                                    <p:animEffect transition="in" filter="blinds(horizontal)">
                                      <p:cBhvr>
                                        <p:cTn id="26" dur="500"/>
                                        <p:tgtEl>
                                          <p:spTgt spid="121859">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1859">
                                            <p:txEl>
                                              <p:pRg st="6" end="6"/>
                                            </p:txEl>
                                          </p:spTgt>
                                        </p:tgtEl>
                                        <p:attrNameLst>
                                          <p:attrName>style.visibility</p:attrName>
                                        </p:attrNameLst>
                                      </p:cBhvr>
                                      <p:to>
                                        <p:strVal val="visible"/>
                                      </p:to>
                                    </p:set>
                                    <p:animEffect transition="in" filter="blinds(horizontal)">
                                      <p:cBhvr>
                                        <p:cTn id="31" dur="500"/>
                                        <p:tgtEl>
                                          <p:spTgt spid="1218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GB" sz="3200"/>
              <a:t>Evolution of the Database Administration Function</a:t>
            </a:r>
            <a:endParaRPr lang="en-US" sz="3200"/>
          </a:p>
        </p:txBody>
      </p:sp>
      <p:sp>
        <p:nvSpPr>
          <p:cNvPr id="111619" name="Rectangle 3"/>
          <p:cNvSpPr>
            <a:spLocks noGrp="1" noChangeArrowheads="1"/>
          </p:cNvSpPr>
          <p:nvPr>
            <p:ph idx="1"/>
          </p:nvPr>
        </p:nvSpPr>
        <p:spPr/>
        <p:txBody>
          <a:bodyPr/>
          <a:lstStyle/>
          <a:p>
            <a:pPr eaLnBrk="1" hangingPunct="1">
              <a:lnSpc>
                <a:spcPct val="80000"/>
              </a:lnSpc>
            </a:pPr>
            <a:r>
              <a:rPr lang="en-GB" sz="2700" dirty="0"/>
              <a:t>Data administration function developed based on the evolution </a:t>
            </a:r>
          </a:p>
          <a:p>
            <a:pPr lvl="1" eaLnBrk="1" hangingPunct="1">
              <a:lnSpc>
                <a:spcPct val="80000"/>
              </a:lnSpc>
            </a:pPr>
            <a:r>
              <a:rPr lang="en-GB" sz="2200" dirty="0"/>
              <a:t>from departmental data processing</a:t>
            </a:r>
          </a:p>
          <a:p>
            <a:pPr lvl="1" eaLnBrk="1" hangingPunct="1">
              <a:lnSpc>
                <a:spcPct val="80000"/>
              </a:lnSpc>
            </a:pPr>
            <a:r>
              <a:rPr lang="en-GB" sz="2200" dirty="0"/>
              <a:t>to the more centralised electronic data processing</a:t>
            </a:r>
          </a:p>
          <a:p>
            <a:pPr lvl="1" eaLnBrk="1" hangingPunct="1">
              <a:lnSpc>
                <a:spcPct val="80000"/>
              </a:lnSpc>
            </a:pPr>
            <a:r>
              <a:rPr lang="en-GB" sz="2200" dirty="0"/>
              <a:t>to the more formal information systems department</a:t>
            </a:r>
          </a:p>
          <a:p>
            <a:pPr eaLnBrk="1" hangingPunct="1">
              <a:lnSpc>
                <a:spcPct val="80000"/>
              </a:lnSpc>
            </a:pPr>
            <a:r>
              <a:rPr lang="en-GB" sz="2700" dirty="0"/>
              <a:t>Typical file systems behaved as distinct ‘islands of information’</a:t>
            </a:r>
          </a:p>
          <a:p>
            <a:pPr eaLnBrk="1" hangingPunct="1">
              <a:lnSpc>
                <a:spcPct val="80000"/>
              </a:lnSpc>
            </a:pPr>
            <a:r>
              <a:rPr lang="en-GB" sz="2700" dirty="0"/>
              <a:t>As applications began to share a common data repository </a:t>
            </a:r>
          </a:p>
          <a:p>
            <a:pPr lvl="1" eaLnBrk="1" hangingPunct="1">
              <a:lnSpc>
                <a:spcPct val="80000"/>
              </a:lnSpc>
            </a:pPr>
            <a:r>
              <a:rPr lang="en-GB" sz="2600" dirty="0"/>
              <a:t>the need for centralised data management became clear</a:t>
            </a:r>
          </a:p>
          <a:p>
            <a:pPr lvl="2" eaLnBrk="1" hangingPunct="1">
              <a:lnSpc>
                <a:spcPct val="80000"/>
              </a:lnSpc>
            </a:pPr>
            <a:r>
              <a:rPr lang="en-GB" sz="2100" dirty="0"/>
              <a:t>introduction of the database administration function</a:t>
            </a:r>
          </a:p>
          <a:p>
            <a:pPr eaLnBrk="1" hangingPunct="1">
              <a:lnSpc>
                <a:spcPct val="80000"/>
              </a:lnSpc>
            </a:pPr>
            <a:endParaRPr lang="en-US" sz="2800" dirty="0"/>
          </a:p>
        </p:txBody>
      </p:sp>
    </p:spTree>
    <p:custDataLst>
      <p:tags r:id="rId1"/>
    </p:custDataLst>
  </p:cSld>
  <p:clrMapOvr>
    <a:masterClrMapping/>
  </p:clrMapOvr>
  <p:transition advTm="532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animEffect transition="in" filter="blinds(horizontal)">
                                      <p:cBhvr>
                                        <p:cTn id="7" dur="500"/>
                                        <p:tgtEl>
                                          <p:spTgt spid="11161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1619">
                                            <p:txEl>
                                              <p:pRg st="1" end="1"/>
                                            </p:txEl>
                                          </p:spTgt>
                                        </p:tgtEl>
                                        <p:attrNameLst>
                                          <p:attrName>style.visibility</p:attrName>
                                        </p:attrNameLst>
                                      </p:cBhvr>
                                      <p:to>
                                        <p:strVal val="visible"/>
                                      </p:to>
                                    </p:set>
                                    <p:animEffect transition="in" filter="blinds(horizontal)">
                                      <p:cBhvr>
                                        <p:cTn id="10" dur="500"/>
                                        <p:tgtEl>
                                          <p:spTgt spid="11161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11619">
                                            <p:txEl>
                                              <p:pRg st="2" end="2"/>
                                            </p:txEl>
                                          </p:spTgt>
                                        </p:tgtEl>
                                        <p:attrNameLst>
                                          <p:attrName>style.visibility</p:attrName>
                                        </p:attrNameLst>
                                      </p:cBhvr>
                                      <p:to>
                                        <p:strVal val="visible"/>
                                      </p:to>
                                    </p:set>
                                    <p:animEffect transition="in" filter="blinds(horizontal)">
                                      <p:cBhvr>
                                        <p:cTn id="13" dur="500"/>
                                        <p:tgtEl>
                                          <p:spTgt spid="11161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11619">
                                            <p:txEl>
                                              <p:pRg st="3" end="3"/>
                                            </p:txEl>
                                          </p:spTgt>
                                        </p:tgtEl>
                                        <p:attrNameLst>
                                          <p:attrName>style.visibility</p:attrName>
                                        </p:attrNameLst>
                                      </p:cBhvr>
                                      <p:to>
                                        <p:strVal val="visible"/>
                                      </p:to>
                                    </p:set>
                                    <p:animEffect transition="in" filter="blinds(horizontal)">
                                      <p:cBhvr>
                                        <p:cTn id="16" dur="500"/>
                                        <p:tgtEl>
                                          <p:spTgt spid="11161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11619">
                                            <p:txEl>
                                              <p:pRg st="4" end="4"/>
                                            </p:txEl>
                                          </p:spTgt>
                                        </p:tgtEl>
                                        <p:attrNameLst>
                                          <p:attrName>style.visibility</p:attrName>
                                        </p:attrNameLst>
                                      </p:cBhvr>
                                      <p:to>
                                        <p:strVal val="visible"/>
                                      </p:to>
                                    </p:set>
                                    <p:animEffect transition="in" filter="blinds(horizontal)">
                                      <p:cBhvr>
                                        <p:cTn id="21" dur="500"/>
                                        <p:tgtEl>
                                          <p:spTgt spid="111619">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1619">
                                            <p:txEl>
                                              <p:pRg st="5" end="5"/>
                                            </p:txEl>
                                          </p:spTgt>
                                        </p:tgtEl>
                                        <p:attrNameLst>
                                          <p:attrName>style.visibility</p:attrName>
                                        </p:attrNameLst>
                                      </p:cBhvr>
                                      <p:to>
                                        <p:strVal val="visible"/>
                                      </p:to>
                                    </p:set>
                                    <p:animEffect transition="in" filter="blinds(horizontal)">
                                      <p:cBhvr>
                                        <p:cTn id="26" dur="500"/>
                                        <p:tgtEl>
                                          <p:spTgt spid="111619">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11619">
                                            <p:txEl>
                                              <p:pRg st="6" end="6"/>
                                            </p:txEl>
                                          </p:spTgt>
                                        </p:tgtEl>
                                        <p:attrNameLst>
                                          <p:attrName>style.visibility</p:attrName>
                                        </p:attrNameLst>
                                      </p:cBhvr>
                                      <p:to>
                                        <p:strVal val="visible"/>
                                      </p:to>
                                    </p:set>
                                    <p:animEffect transition="in" filter="blinds(horizontal)">
                                      <p:cBhvr>
                                        <p:cTn id="29" dur="500"/>
                                        <p:tgtEl>
                                          <p:spTgt spid="111619">
                                            <p:txEl>
                                              <p:pRg st="6" end="6"/>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11619">
                                            <p:txEl>
                                              <p:pRg st="7" end="7"/>
                                            </p:txEl>
                                          </p:spTgt>
                                        </p:tgtEl>
                                        <p:attrNameLst>
                                          <p:attrName>style.visibility</p:attrName>
                                        </p:attrNameLst>
                                      </p:cBhvr>
                                      <p:to>
                                        <p:strVal val="visible"/>
                                      </p:to>
                                    </p:set>
                                    <p:animEffect transition="in" filter="blinds(horizontal)">
                                      <p:cBhvr>
                                        <p:cTn id="32" dur="500"/>
                                        <p:tgtEl>
                                          <p:spTgt spid="1116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GB" sz="3200"/>
              <a:t>Data and Database Administration</a:t>
            </a:r>
            <a:endParaRPr lang="en-US" sz="3200"/>
          </a:p>
        </p:txBody>
      </p:sp>
      <p:sp>
        <p:nvSpPr>
          <p:cNvPr id="112643" name="Rectangle 3"/>
          <p:cNvSpPr>
            <a:spLocks noGrp="1" noChangeArrowheads="1"/>
          </p:cNvSpPr>
          <p:nvPr>
            <p:ph idx="1"/>
          </p:nvPr>
        </p:nvSpPr>
        <p:spPr/>
        <p:txBody>
          <a:bodyPr/>
          <a:lstStyle/>
          <a:p>
            <a:pPr eaLnBrk="1" hangingPunct="1">
              <a:lnSpc>
                <a:spcPct val="90000"/>
              </a:lnSpc>
            </a:pPr>
            <a:r>
              <a:rPr lang="en-GB" sz="2700" dirty="0"/>
              <a:t>Many large organisations have two main roles for managing the company data</a:t>
            </a:r>
          </a:p>
          <a:p>
            <a:pPr eaLnBrk="1" hangingPunct="1">
              <a:lnSpc>
                <a:spcPct val="90000"/>
              </a:lnSpc>
            </a:pPr>
            <a:endParaRPr lang="en-GB" sz="2700" dirty="0"/>
          </a:p>
          <a:p>
            <a:pPr eaLnBrk="1" hangingPunct="1">
              <a:lnSpc>
                <a:spcPct val="90000"/>
              </a:lnSpc>
            </a:pPr>
            <a:r>
              <a:rPr lang="en-GB" sz="2300" b="1" dirty="0"/>
              <a:t>Data Administrator </a:t>
            </a:r>
            <a:r>
              <a:rPr lang="en-GB" sz="2300" dirty="0"/>
              <a:t>and </a:t>
            </a:r>
            <a:r>
              <a:rPr lang="en-GB" sz="2300" b="1" dirty="0"/>
              <a:t>Database Administrator</a:t>
            </a:r>
          </a:p>
          <a:p>
            <a:pPr lvl="1" eaLnBrk="1" hangingPunct="1">
              <a:lnSpc>
                <a:spcPct val="0"/>
              </a:lnSpc>
              <a:buFontTx/>
              <a:buNone/>
            </a:pPr>
            <a:endParaRPr lang="en-GB" sz="2200" dirty="0"/>
          </a:p>
          <a:p>
            <a:pPr lvl="1" eaLnBrk="1" hangingPunct="1">
              <a:lnSpc>
                <a:spcPct val="90000"/>
              </a:lnSpc>
            </a:pPr>
            <a:r>
              <a:rPr lang="en-US" sz="2200" b="1" i="1" dirty="0">
                <a:solidFill>
                  <a:schemeClr val="tx2"/>
                </a:solidFill>
              </a:rPr>
              <a:t>Data Administration</a:t>
            </a:r>
            <a:r>
              <a:rPr lang="en-US" sz="2200" dirty="0"/>
              <a:t>: A high-level function that is responsible for the overall management of data resources in an organization, including maintaining corporate-wide definitions and standards</a:t>
            </a:r>
          </a:p>
          <a:p>
            <a:pPr lvl="1" eaLnBrk="1" hangingPunct="1">
              <a:lnSpc>
                <a:spcPct val="0"/>
              </a:lnSpc>
              <a:buFontTx/>
              <a:buNone/>
            </a:pPr>
            <a:endParaRPr lang="en-US" sz="2200" dirty="0"/>
          </a:p>
          <a:p>
            <a:pPr lvl="1" eaLnBrk="1" hangingPunct="1">
              <a:lnSpc>
                <a:spcPct val="90000"/>
              </a:lnSpc>
            </a:pPr>
            <a:r>
              <a:rPr lang="en-US" sz="2200" b="1" i="1" dirty="0">
                <a:solidFill>
                  <a:schemeClr val="tx2"/>
                </a:solidFill>
              </a:rPr>
              <a:t>Database Administration</a:t>
            </a:r>
            <a:r>
              <a:rPr lang="en-US" sz="2200" dirty="0"/>
              <a:t>: A technical function that is responsible for dealing with technical issues such as security enforcement, database performance, and backup and recovery</a:t>
            </a:r>
          </a:p>
          <a:p>
            <a:pPr eaLnBrk="1" hangingPunct="1">
              <a:lnSpc>
                <a:spcPct val="90000"/>
              </a:lnSpc>
            </a:pPr>
            <a:r>
              <a:rPr lang="en-GB" sz="2400" dirty="0"/>
              <a:t>In a small organisation often the same person</a:t>
            </a:r>
            <a:endParaRPr lang="en-GB" sz="2700" dirty="0"/>
          </a:p>
          <a:p>
            <a:pPr eaLnBrk="1" hangingPunct="1">
              <a:lnSpc>
                <a:spcPct val="90000"/>
              </a:lnSpc>
            </a:pPr>
            <a:endParaRPr lang="en-US" sz="2800" dirty="0"/>
          </a:p>
        </p:txBody>
      </p:sp>
    </p:spTree>
    <p:custDataLst>
      <p:tags r:id="rId1"/>
    </p:custDataLst>
  </p:cSld>
  <p:clrMapOvr>
    <a:masterClrMapping/>
  </p:clrMapOvr>
  <p:transition advTm="472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Effect transition="in" filter="blinds(horizontal)">
                                      <p:cBhvr>
                                        <p:cTn id="7" dur="500"/>
                                        <p:tgtEl>
                                          <p:spTgt spid="112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2643">
                                            <p:txEl>
                                              <p:pRg st="2" end="2"/>
                                            </p:txEl>
                                          </p:spTgt>
                                        </p:tgtEl>
                                        <p:attrNameLst>
                                          <p:attrName>style.visibility</p:attrName>
                                        </p:attrNameLst>
                                      </p:cBhvr>
                                      <p:to>
                                        <p:strVal val="visible"/>
                                      </p:to>
                                    </p:set>
                                    <p:animEffect transition="in" filter="blinds(horizontal)">
                                      <p:cBhvr>
                                        <p:cTn id="12" dur="500"/>
                                        <p:tgtEl>
                                          <p:spTgt spid="112643">
                                            <p:txEl>
                                              <p:pRg st="2" end="2"/>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12643">
                                            <p:txEl>
                                              <p:pRg st="4" end="4"/>
                                            </p:txEl>
                                          </p:spTgt>
                                        </p:tgtEl>
                                        <p:attrNameLst>
                                          <p:attrName>style.visibility</p:attrName>
                                        </p:attrNameLst>
                                      </p:cBhvr>
                                      <p:to>
                                        <p:strVal val="visible"/>
                                      </p:to>
                                    </p:set>
                                    <p:animEffect transition="in" filter="blinds(horizontal)">
                                      <p:cBhvr>
                                        <p:cTn id="15" dur="500"/>
                                        <p:tgtEl>
                                          <p:spTgt spid="112643">
                                            <p:txEl>
                                              <p:pRg st="4" end="4"/>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12643">
                                            <p:txEl>
                                              <p:pRg st="6" end="6"/>
                                            </p:txEl>
                                          </p:spTgt>
                                        </p:tgtEl>
                                        <p:attrNameLst>
                                          <p:attrName>style.visibility</p:attrName>
                                        </p:attrNameLst>
                                      </p:cBhvr>
                                      <p:to>
                                        <p:strVal val="visible"/>
                                      </p:to>
                                    </p:set>
                                    <p:animEffect transition="in" filter="blinds(horizontal)">
                                      <p:cBhvr>
                                        <p:cTn id="18" dur="500"/>
                                        <p:tgtEl>
                                          <p:spTgt spid="11264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12643">
                                            <p:txEl>
                                              <p:pRg st="7" end="7"/>
                                            </p:txEl>
                                          </p:spTgt>
                                        </p:tgtEl>
                                        <p:attrNameLst>
                                          <p:attrName>style.visibility</p:attrName>
                                        </p:attrNameLst>
                                      </p:cBhvr>
                                      <p:to>
                                        <p:strVal val="visible"/>
                                      </p:to>
                                    </p:set>
                                    <p:animEffect transition="in" filter="blinds(horizontal)">
                                      <p:cBhvr>
                                        <p:cTn id="23" dur="500"/>
                                        <p:tgtEl>
                                          <p:spTgt spid="1126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756229" y="274638"/>
            <a:ext cx="7295696" cy="1143000"/>
          </a:xfrm>
        </p:spPr>
        <p:txBody>
          <a:bodyPr/>
          <a:lstStyle/>
          <a:p>
            <a:r>
              <a:rPr lang="en-GB" dirty="0"/>
              <a:t>Data Administrator (DA) Responsibilities </a:t>
            </a:r>
            <a:endParaRPr lang="en-US" dirty="0"/>
          </a:p>
        </p:txBody>
      </p:sp>
      <p:sp>
        <p:nvSpPr>
          <p:cNvPr id="124931" name="Rectangle 3"/>
          <p:cNvSpPr>
            <a:spLocks noGrp="1" noChangeArrowheads="1"/>
          </p:cNvSpPr>
          <p:nvPr>
            <p:ph idx="1"/>
          </p:nvPr>
        </p:nvSpPr>
        <p:spPr/>
        <p:txBody>
          <a:bodyPr/>
          <a:lstStyle/>
          <a:p>
            <a:pPr eaLnBrk="1" hangingPunct="1">
              <a:lnSpc>
                <a:spcPct val="110000"/>
              </a:lnSpc>
            </a:pPr>
            <a:r>
              <a:rPr lang="en-GB" sz="1900" dirty="0"/>
              <a:t>High level corporate function</a:t>
            </a:r>
          </a:p>
          <a:p>
            <a:pPr lvl="1" eaLnBrk="1" hangingPunct="1">
              <a:lnSpc>
                <a:spcPct val="110000"/>
              </a:lnSpc>
            </a:pPr>
            <a:r>
              <a:rPr lang="en-GB" sz="1700" dirty="0"/>
              <a:t>Responsible for controlling the overall corporate data resources b</a:t>
            </a:r>
            <a:r>
              <a:rPr lang="en-GB" sz="1500" dirty="0"/>
              <a:t>oth computerised and manual also data outside the scope of DBMS</a:t>
            </a:r>
          </a:p>
          <a:p>
            <a:pPr eaLnBrk="1" hangingPunct="1">
              <a:lnSpc>
                <a:spcPct val="110000"/>
              </a:lnSpc>
            </a:pPr>
            <a:r>
              <a:rPr lang="en-GB" sz="1900" dirty="0"/>
              <a:t>Covers a larger area of operations than DBA</a:t>
            </a:r>
          </a:p>
          <a:p>
            <a:pPr eaLnBrk="1" hangingPunct="1">
              <a:lnSpc>
                <a:spcPct val="110000"/>
              </a:lnSpc>
            </a:pPr>
            <a:r>
              <a:rPr lang="en-US" sz="1900" dirty="0"/>
              <a:t>Strong managerial orientation with company wide scope</a:t>
            </a:r>
          </a:p>
          <a:p>
            <a:pPr eaLnBrk="1" hangingPunct="1">
              <a:lnSpc>
                <a:spcPct val="110000"/>
              </a:lnSpc>
            </a:pPr>
            <a:r>
              <a:rPr lang="en-US" sz="1900" dirty="0"/>
              <a:t>Sets data administration goals</a:t>
            </a:r>
          </a:p>
          <a:p>
            <a:pPr eaLnBrk="1" hangingPunct="1">
              <a:lnSpc>
                <a:spcPct val="110000"/>
              </a:lnSpc>
            </a:pPr>
            <a:r>
              <a:rPr lang="en-US" sz="1900" dirty="0"/>
              <a:t>Sets data policies, procedures, standards</a:t>
            </a:r>
          </a:p>
          <a:p>
            <a:pPr eaLnBrk="1" hangingPunct="1">
              <a:lnSpc>
                <a:spcPct val="110000"/>
              </a:lnSpc>
            </a:pPr>
            <a:r>
              <a:rPr lang="en-US" sz="1900" dirty="0"/>
              <a:t>Long term planning</a:t>
            </a:r>
          </a:p>
          <a:p>
            <a:pPr eaLnBrk="1" hangingPunct="1">
              <a:lnSpc>
                <a:spcPct val="110000"/>
              </a:lnSpc>
            </a:pPr>
            <a:r>
              <a:rPr lang="en-US" sz="1900" dirty="0"/>
              <a:t>Will be involved in the conceptual and logical design of a database system</a:t>
            </a:r>
          </a:p>
          <a:p>
            <a:pPr eaLnBrk="1" hangingPunct="1">
              <a:lnSpc>
                <a:spcPct val="110000"/>
              </a:lnSpc>
            </a:pPr>
            <a:r>
              <a:rPr lang="en-US" sz="1900" dirty="0"/>
              <a:t>Database security is a concern of DA in association with DBA</a:t>
            </a:r>
          </a:p>
          <a:p>
            <a:pPr eaLnBrk="1" hangingPunct="1">
              <a:lnSpc>
                <a:spcPct val="110000"/>
              </a:lnSpc>
            </a:pPr>
            <a:r>
              <a:rPr lang="en-GB" sz="1900" dirty="0"/>
              <a:t>DBA may report to DA dependent on structure of the organisation</a:t>
            </a:r>
          </a:p>
          <a:p>
            <a:pPr eaLnBrk="1" hangingPunct="1">
              <a:lnSpc>
                <a:spcPct val="80000"/>
              </a:lnSpc>
            </a:pPr>
            <a:endParaRPr lang="en-US" sz="2000" dirty="0"/>
          </a:p>
        </p:txBody>
      </p:sp>
    </p:spTree>
    <p:custDataLst>
      <p:tags r:id="rId1"/>
    </p:custDataLst>
  </p:cSld>
  <p:clrMapOvr>
    <a:masterClrMapping/>
  </p:clrMapOvr>
  <p:transition advTm="703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animEffect transition="in" filter="blinds(horizontal)">
                                      <p:cBhvr>
                                        <p:cTn id="7" dur="500"/>
                                        <p:tgtEl>
                                          <p:spTgt spid="12493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4931">
                                            <p:txEl>
                                              <p:pRg st="1" end="1"/>
                                            </p:txEl>
                                          </p:spTgt>
                                        </p:tgtEl>
                                        <p:attrNameLst>
                                          <p:attrName>style.visibility</p:attrName>
                                        </p:attrNameLst>
                                      </p:cBhvr>
                                      <p:to>
                                        <p:strVal val="visible"/>
                                      </p:to>
                                    </p:set>
                                    <p:animEffect transition="in" filter="blinds(horizontal)">
                                      <p:cBhvr>
                                        <p:cTn id="10" dur="500"/>
                                        <p:tgtEl>
                                          <p:spTgt spid="12493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4931">
                                            <p:txEl>
                                              <p:pRg st="2" end="2"/>
                                            </p:txEl>
                                          </p:spTgt>
                                        </p:tgtEl>
                                        <p:attrNameLst>
                                          <p:attrName>style.visibility</p:attrName>
                                        </p:attrNameLst>
                                      </p:cBhvr>
                                      <p:to>
                                        <p:strVal val="visible"/>
                                      </p:to>
                                    </p:set>
                                    <p:animEffect transition="in" filter="blinds(horizontal)">
                                      <p:cBhvr>
                                        <p:cTn id="15" dur="500"/>
                                        <p:tgtEl>
                                          <p:spTgt spid="12493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24931">
                                            <p:txEl>
                                              <p:pRg st="3" end="3"/>
                                            </p:txEl>
                                          </p:spTgt>
                                        </p:tgtEl>
                                        <p:attrNameLst>
                                          <p:attrName>style.visibility</p:attrName>
                                        </p:attrNameLst>
                                      </p:cBhvr>
                                      <p:to>
                                        <p:strVal val="visible"/>
                                      </p:to>
                                    </p:set>
                                    <p:animEffect transition="in" filter="blinds(horizontal)">
                                      <p:cBhvr>
                                        <p:cTn id="20" dur="500"/>
                                        <p:tgtEl>
                                          <p:spTgt spid="12493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24931">
                                            <p:txEl>
                                              <p:pRg st="4" end="4"/>
                                            </p:txEl>
                                          </p:spTgt>
                                        </p:tgtEl>
                                        <p:attrNameLst>
                                          <p:attrName>style.visibility</p:attrName>
                                        </p:attrNameLst>
                                      </p:cBhvr>
                                      <p:to>
                                        <p:strVal val="visible"/>
                                      </p:to>
                                    </p:set>
                                    <p:animEffect transition="in" filter="blinds(horizontal)">
                                      <p:cBhvr>
                                        <p:cTn id="25" dur="500"/>
                                        <p:tgtEl>
                                          <p:spTgt spid="124931">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24931">
                                            <p:txEl>
                                              <p:pRg st="5" end="5"/>
                                            </p:txEl>
                                          </p:spTgt>
                                        </p:tgtEl>
                                        <p:attrNameLst>
                                          <p:attrName>style.visibility</p:attrName>
                                        </p:attrNameLst>
                                      </p:cBhvr>
                                      <p:to>
                                        <p:strVal val="visible"/>
                                      </p:to>
                                    </p:set>
                                    <p:animEffect transition="in" filter="blinds(horizontal)">
                                      <p:cBhvr>
                                        <p:cTn id="30" dur="500"/>
                                        <p:tgtEl>
                                          <p:spTgt spid="124931">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24931">
                                            <p:txEl>
                                              <p:pRg st="6" end="6"/>
                                            </p:txEl>
                                          </p:spTgt>
                                        </p:tgtEl>
                                        <p:attrNameLst>
                                          <p:attrName>style.visibility</p:attrName>
                                        </p:attrNameLst>
                                      </p:cBhvr>
                                      <p:to>
                                        <p:strVal val="visible"/>
                                      </p:to>
                                    </p:set>
                                    <p:animEffect transition="in" filter="blinds(horizontal)">
                                      <p:cBhvr>
                                        <p:cTn id="35" dur="500"/>
                                        <p:tgtEl>
                                          <p:spTgt spid="124931">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24931">
                                            <p:txEl>
                                              <p:pRg st="7" end="7"/>
                                            </p:txEl>
                                          </p:spTgt>
                                        </p:tgtEl>
                                        <p:attrNameLst>
                                          <p:attrName>style.visibility</p:attrName>
                                        </p:attrNameLst>
                                      </p:cBhvr>
                                      <p:to>
                                        <p:strVal val="visible"/>
                                      </p:to>
                                    </p:set>
                                    <p:animEffect transition="in" filter="blinds(horizontal)">
                                      <p:cBhvr>
                                        <p:cTn id="40" dur="500"/>
                                        <p:tgtEl>
                                          <p:spTgt spid="124931">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24931">
                                            <p:txEl>
                                              <p:pRg st="8" end="8"/>
                                            </p:txEl>
                                          </p:spTgt>
                                        </p:tgtEl>
                                        <p:attrNameLst>
                                          <p:attrName>style.visibility</p:attrName>
                                        </p:attrNameLst>
                                      </p:cBhvr>
                                      <p:to>
                                        <p:strVal val="visible"/>
                                      </p:to>
                                    </p:set>
                                    <p:animEffect transition="in" filter="blinds(horizontal)">
                                      <p:cBhvr>
                                        <p:cTn id="45" dur="500"/>
                                        <p:tgtEl>
                                          <p:spTgt spid="124931">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24931">
                                            <p:txEl>
                                              <p:pRg st="9" end="9"/>
                                            </p:txEl>
                                          </p:spTgt>
                                        </p:tgtEl>
                                        <p:attrNameLst>
                                          <p:attrName>style.visibility</p:attrName>
                                        </p:attrNameLst>
                                      </p:cBhvr>
                                      <p:to>
                                        <p:strVal val="visible"/>
                                      </p:to>
                                    </p:set>
                                    <p:animEffect transition="in" filter="blinds(horizontal)">
                                      <p:cBhvr>
                                        <p:cTn id="50" dur="500"/>
                                        <p:tgtEl>
                                          <p:spTgt spid="12493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dirty="0"/>
              <a:t>Database Administrator - DBA</a:t>
            </a:r>
            <a:endParaRPr lang="en-US" dirty="0"/>
          </a:p>
        </p:txBody>
      </p:sp>
      <p:sp>
        <p:nvSpPr>
          <p:cNvPr id="125955" name="Rectangle 3"/>
          <p:cNvSpPr>
            <a:spLocks noGrp="1" noChangeArrowheads="1"/>
          </p:cNvSpPr>
          <p:nvPr>
            <p:ph idx="1"/>
          </p:nvPr>
        </p:nvSpPr>
        <p:spPr/>
        <p:txBody>
          <a:bodyPr/>
          <a:lstStyle/>
          <a:p>
            <a:pPr eaLnBrk="1" hangingPunct="1"/>
            <a:r>
              <a:rPr lang="en-GB" sz="2600" dirty="0"/>
              <a:t>Low level more technically oriented than DA</a:t>
            </a:r>
          </a:p>
          <a:p>
            <a:pPr eaLnBrk="1" hangingPunct="1"/>
            <a:r>
              <a:rPr lang="en-GB" sz="2600" dirty="0"/>
              <a:t>Involved in physical design of database systems</a:t>
            </a:r>
          </a:p>
          <a:p>
            <a:pPr eaLnBrk="1" hangingPunct="1"/>
            <a:r>
              <a:rPr lang="en-GB" sz="2600" dirty="0"/>
              <a:t>Has narrower DBMS specific scope</a:t>
            </a:r>
            <a:endParaRPr lang="en-GB" sz="3500" dirty="0"/>
          </a:p>
          <a:p>
            <a:pPr eaLnBrk="1" hangingPunct="1"/>
            <a:r>
              <a:rPr lang="en-GB" sz="2600" dirty="0"/>
              <a:t>On the data management side will be concerned with the issue of controlling the database</a:t>
            </a:r>
          </a:p>
          <a:p>
            <a:pPr lvl="1" eaLnBrk="1" hangingPunct="1"/>
            <a:r>
              <a:rPr lang="en-GB" sz="2200" dirty="0"/>
              <a:t>Centralised and shared databases</a:t>
            </a:r>
          </a:p>
          <a:p>
            <a:pPr lvl="2" eaLnBrk="1" hangingPunct="1"/>
            <a:r>
              <a:rPr lang="en-GB" sz="1700" dirty="0"/>
              <a:t>Distributed databases can force organisation to de-centralise data administration</a:t>
            </a:r>
          </a:p>
          <a:p>
            <a:pPr lvl="2" eaLnBrk="1" hangingPunct="1"/>
            <a:r>
              <a:rPr lang="en-GB" sz="1700" dirty="0"/>
              <a:t>DBA define and delegate responsibilities of each local DBA</a:t>
            </a:r>
          </a:p>
          <a:p>
            <a:pPr lvl="2" eaLnBrk="1" hangingPunct="1"/>
            <a:r>
              <a:rPr lang="en-GB" sz="1700" dirty="0"/>
              <a:t>Imposes more complex co-ordinating activities on system DBA</a:t>
            </a:r>
          </a:p>
          <a:p>
            <a:pPr eaLnBrk="1" hangingPunct="1"/>
            <a:endParaRPr lang="en-US" sz="2800" dirty="0"/>
          </a:p>
        </p:txBody>
      </p:sp>
    </p:spTree>
    <p:custDataLst>
      <p:tags r:id="rId1"/>
    </p:custDataLst>
  </p:cSld>
  <p:clrMapOvr>
    <a:masterClrMapping/>
  </p:clrMapOvr>
  <p:transition advTm="365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animEffect transition="in" filter="blinds(horizontal)">
                                      <p:cBhvr>
                                        <p:cTn id="7" dur="500"/>
                                        <p:tgtEl>
                                          <p:spTgt spid="1259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5955">
                                            <p:txEl>
                                              <p:pRg st="1" end="1"/>
                                            </p:txEl>
                                          </p:spTgt>
                                        </p:tgtEl>
                                        <p:attrNameLst>
                                          <p:attrName>style.visibility</p:attrName>
                                        </p:attrNameLst>
                                      </p:cBhvr>
                                      <p:to>
                                        <p:strVal val="visible"/>
                                      </p:to>
                                    </p:set>
                                    <p:animEffect transition="in" filter="blinds(horizontal)">
                                      <p:cBhvr>
                                        <p:cTn id="12" dur="500"/>
                                        <p:tgtEl>
                                          <p:spTgt spid="1259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5955">
                                            <p:txEl>
                                              <p:pRg st="2" end="2"/>
                                            </p:txEl>
                                          </p:spTgt>
                                        </p:tgtEl>
                                        <p:attrNameLst>
                                          <p:attrName>style.visibility</p:attrName>
                                        </p:attrNameLst>
                                      </p:cBhvr>
                                      <p:to>
                                        <p:strVal val="visible"/>
                                      </p:to>
                                    </p:set>
                                    <p:animEffect transition="in" filter="blinds(horizontal)">
                                      <p:cBhvr>
                                        <p:cTn id="17" dur="500"/>
                                        <p:tgtEl>
                                          <p:spTgt spid="1259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5955">
                                            <p:txEl>
                                              <p:pRg st="3" end="3"/>
                                            </p:txEl>
                                          </p:spTgt>
                                        </p:tgtEl>
                                        <p:attrNameLst>
                                          <p:attrName>style.visibility</p:attrName>
                                        </p:attrNameLst>
                                      </p:cBhvr>
                                      <p:to>
                                        <p:strVal val="visible"/>
                                      </p:to>
                                    </p:set>
                                    <p:animEffect transition="in" filter="blinds(horizontal)">
                                      <p:cBhvr>
                                        <p:cTn id="22" dur="500"/>
                                        <p:tgtEl>
                                          <p:spTgt spid="125955">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25955">
                                            <p:txEl>
                                              <p:pRg st="4" end="4"/>
                                            </p:txEl>
                                          </p:spTgt>
                                        </p:tgtEl>
                                        <p:attrNameLst>
                                          <p:attrName>style.visibility</p:attrName>
                                        </p:attrNameLst>
                                      </p:cBhvr>
                                      <p:to>
                                        <p:strVal val="visible"/>
                                      </p:to>
                                    </p:set>
                                    <p:animEffect transition="in" filter="blinds(horizontal)">
                                      <p:cBhvr>
                                        <p:cTn id="25" dur="500"/>
                                        <p:tgtEl>
                                          <p:spTgt spid="125955">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25955">
                                            <p:txEl>
                                              <p:pRg st="5" end="5"/>
                                            </p:txEl>
                                          </p:spTgt>
                                        </p:tgtEl>
                                        <p:attrNameLst>
                                          <p:attrName>style.visibility</p:attrName>
                                        </p:attrNameLst>
                                      </p:cBhvr>
                                      <p:to>
                                        <p:strVal val="visible"/>
                                      </p:to>
                                    </p:set>
                                    <p:animEffect transition="in" filter="blinds(horizontal)">
                                      <p:cBhvr>
                                        <p:cTn id="28" dur="500"/>
                                        <p:tgtEl>
                                          <p:spTgt spid="125955">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25955">
                                            <p:txEl>
                                              <p:pRg st="6" end="6"/>
                                            </p:txEl>
                                          </p:spTgt>
                                        </p:tgtEl>
                                        <p:attrNameLst>
                                          <p:attrName>style.visibility</p:attrName>
                                        </p:attrNameLst>
                                      </p:cBhvr>
                                      <p:to>
                                        <p:strVal val="visible"/>
                                      </p:to>
                                    </p:set>
                                    <p:animEffect transition="in" filter="blinds(horizontal)">
                                      <p:cBhvr>
                                        <p:cTn id="31" dur="500"/>
                                        <p:tgtEl>
                                          <p:spTgt spid="125955">
                                            <p:txEl>
                                              <p:pRg st="6" end="6"/>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25955">
                                            <p:txEl>
                                              <p:pRg st="7" end="7"/>
                                            </p:txEl>
                                          </p:spTgt>
                                        </p:tgtEl>
                                        <p:attrNameLst>
                                          <p:attrName>style.visibility</p:attrName>
                                        </p:attrNameLst>
                                      </p:cBhvr>
                                      <p:to>
                                        <p:strVal val="visible"/>
                                      </p:to>
                                    </p:set>
                                    <p:animEffect transition="in" filter="blinds(horizontal)">
                                      <p:cBhvr>
                                        <p:cTn id="34" dur="500"/>
                                        <p:tgtEl>
                                          <p:spTgt spid="1259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GB" dirty="0"/>
              <a:t>DBA’s Responsibilities </a:t>
            </a:r>
            <a:endParaRPr lang="en-US" dirty="0"/>
          </a:p>
        </p:txBody>
      </p:sp>
      <p:sp>
        <p:nvSpPr>
          <p:cNvPr id="126979" name="Rectangle 3"/>
          <p:cNvSpPr>
            <a:spLocks noGrp="1" noChangeArrowheads="1"/>
          </p:cNvSpPr>
          <p:nvPr>
            <p:ph idx="1"/>
          </p:nvPr>
        </p:nvSpPr>
        <p:spPr/>
        <p:txBody>
          <a:bodyPr/>
          <a:lstStyle/>
          <a:p>
            <a:pPr eaLnBrk="1" hangingPunct="1">
              <a:lnSpc>
                <a:spcPct val="80000"/>
              </a:lnSpc>
            </a:pPr>
            <a:r>
              <a:rPr lang="en-US" sz="2700" dirty="0"/>
              <a:t>Coordinating, monitoring and allocating database administration resources</a:t>
            </a:r>
          </a:p>
          <a:p>
            <a:pPr lvl="1">
              <a:lnSpc>
                <a:spcPct val="80000"/>
              </a:lnSpc>
            </a:pPr>
            <a:r>
              <a:rPr lang="en-GB" dirty="0"/>
              <a:t>Selection of DBMS, Utilities and Hardware</a:t>
            </a:r>
          </a:p>
          <a:p>
            <a:pPr lvl="1" eaLnBrk="1" hangingPunct="1">
              <a:lnSpc>
                <a:spcPct val="80000"/>
              </a:lnSpc>
            </a:pPr>
            <a:r>
              <a:rPr lang="en-GB" sz="2200" dirty="0"/>
              <a:t>End User Support</a:t>
            </a:r>
          </a:p>
          <a:p>
            <a:pPr lvl="1" eaLnBrk="1" hangingPunct="1">
              <a:lnSpc>
                <a:spcPct val="80000"/>
              </a:lnSpc>
            </a:pPr>
            <a:r>
              <a:rPr lang="en-GB" sz="2200" dirty="0"/>
              <a:t>Enforcing Policies, Procedures and Standards</a:t>
            </a:r>
          </a:p>
          <a:p>
            <a:pPr lvl="1" eaLnBrk="1" hangingPunct="1">
              <a:lnSpc>
                <a:spcPct val="80000"/>
              </a:lnSpc>
            </a:pPr>
            <a:r>
              <a:rPr lang="en-GB" sz="2200" dirty="0"/>
              <a:t>Data Security, Privacy and Integrity</a:t>
            </a:r>
          </a:p>
          <a:p>
            <a:pPr lvl="1" eaLnBrk="1" hangingPunct="1">
              <a:lnSpc>
                <a:spcPct val="80000"/>
              </a:lnSpc>
            </a:pPr>
            <a:r>
              <a:rPr lang="en-GB" sz="2200" dirty="0"/>
              <a:t>Data Backup and Recovery</a:t>
            </a:r>
          </a:p>
          <a:p>
            <a:pPr lvl="1" eaLnBrk="1" hangingPunct="1">
              <a:lnSpc>
                <a:spcPct val="80000"/>
              </a:lnSpc>
            </a:pPr>
            <a:r>
              <a:rPr lang="en-GB" sz="2200" dirty="0"/>
              <a:t>Data Distribution and Use</a:t>
            </a:r>
          </a:p>
          <a:p>
            <a:pPr lvl="1">
              <a:lnSpc>
                <a:spcPct val="80000"/>
              </a:lnSpc>
            </a:pPr>
            <a:r>
              <a:rPr lang="en-GB" sz="2400" dirty="0"/>
              <a:t>Design and Implementation of Databases and Applications</a:t>
            </a:r>
          </a:p>
          <a:p>
            <a:pPr lvl="1">
              <a:lnSpc>
                <a:spcPct val="80000"/>
              </a:lnSpc>
            </a:pPr>
            <a:r>
              <a:rPr lang="en-GB" sz="2200" dirty="0"/>
              <a:t>Authorisation Management</a:t>
            </a:r>
          </a:p>
          <a:p>
            <a:pPr lvl="1">
              <a:lnSpc>
                <a:spcPct val="80000"/>
              </a:lnSpc>
              <a:buNone/>
            </a:pPr>
            <a:endParaRPr lang="en-GB" sz="2200" dirty="0"/>
          </a:p>
          <a:p>
            <a:pPr lvl="1" eaLnBrk="1" hangingPunct="1">
              <a:lnSpc>
                <a:spcPct val="80000"/>
              </a:lnSpc>
            </a:pPr>
            <a:endParaRPr lang="en-GB" sz="2200" dirty="0"/>
          </a:p>
          <a:p>
            <a:pPr eaLnBrk="1" hangingPunct="1">
              <a:lnSpc>
                <a:spcPct val="80000"/>
              </a:lnSpc>
            </a:pPr>
            <a:endParaRPr lang="en-US" sz="2800" dirty="0"/>
          </a:p>
        </p:txBody>
      </p:sp>
    </p:spTree>
    <p:custDataLst>
      <p:tags r:id="rId1"/>
    </p:custDataLst>
  </p:cSld>
  <p:clrMapOvr>
    <a:masterClrMapping/>
  </p:clrMapOvr>
  <p:transition advTm="204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animEffect transition="in" filter="blinds(horizontal)">
                                      <p:cBhvr>
                                        <p:cTn id="7" dur="500"/>
                                        <p:tgtEl>
                                          <p:spTgt spid="12697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6979">
                                            <p:txEl>
                                              <p:pRg st="1" end="1"/>
                                            </p:txEl>
                                          </p:spTgt>
                                        </p:tgtEl>
                                        <p:attrNameLst>
                                          <p:attrName>style.visibility</p:attrName>
                                        </p:attrNameLst>
                                      </p:cBhvr>
                                      <p:to>
                                        <p:strVal val="visible"/>
                                      </p:to>
                                    </p:set>
                                    <p:animEffect transition="in" filter="blinds(horizontal)">
                                      <p:cBhvr>
                                        <p:cTn id="10" dur="500"/>
                                        <p:tgtEl>
                                          <p:spTgt spid="12697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6979">
                                            <p:txEl>
                                              <p:pRg st="2" end="2"/>
                                            </p:txEl>
                                          </p:spTgt>
                                        </p:tgtEl>
                                        <p:attrNameLst>
                                          <p:attrName>style.visibility</p:attrName>
                                        </p:attrNameLst>
                                      </p:cBhvr>
                                      <p:to>
                                        <p:strVal val="visible"/>
                                      </p:to>
                                    </p:set>
                                    <p:animEffect transition="in" filter="blinds(horizontal)">
                                      <p:cBhvr>
                                        <p:cTn id="13" dur="500"/>
                                        <p:tgtEl>
                                          <p:spTgt spid="12697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26979">
                                            <p:txEl>
                                              <p:pRg st="3" end="3"/>
                                            </p:txEl>
                                          </p:spTgt>
                                        </p:tgtEl>
                                        <p:attrNameLst>
                                          <p:attrName>style.visibility</p:attrName>
                                        </p:attrNameLst>
                                      </p:cBhvr>
                                      <p:to>
                                        <p:strVal val="visible"/>
                                      </p:to>
                                    </p:set>
                                    <p:animEffect transition="in" filter="blinds(horizontal)">
                                      <p:cBhvr>
                                        <p:cTn id="16" dur="500"/>
                                        <p:tgtEl>
                                          <p:spTgt spid="126979">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26979">
                                            <p:txEl>
                                              <p:pRg st="4" end="4"/>
                                            </p:txEl>
                                          </p:spTgt>
                                        </p:tgtEl>
                                        <p:attrNameLst>
                                          <p:attrName>style.visibility</p:attrName>
                                        </p:attrNameLst>
                                      </p:cBhvr>
                                      <p:to>
                                        <p:strVal val="visible"/>
                                      </p:to>
                                    </p:set>
                                    <p:animEffect transition="in" filter="blinds(horizontal)">
                                      <p:cBhvr>
                                        <p:cTn id="19" dur="500"/>
                                        <p:tgtEl>
                                          <p:spTgt spid="126979">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26979">
                                            <p:txEl>
                                              <p:pRg st="5" end="5"/>
                                            </p:txEl>
                                          </p:spTgt>
                                        </p:tgtEl>
                                        <p:attrNameLst>
                                          <p:attrName>style.visibility</p:attrName>
                                        </p:attrNameLst>
                                      </p:cBhvr>
                                      <p:to>
                                        <p:strVal val="visible"/>
                                      </p:to>
                                    </p:set>
                                    <p:animEffect transition="in" filter="blinds(horizontal)">
                                      <p:cBhvr>
                                        <p:cTn id="22" dur="500"/>
                                        <p:tgtEl>
                                          <p:spTgt spid="126979">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26979">
                                            <p:txEl>
                                              <p:pRg st="6" end="6"/>
                                            </p:txEl>
                                          </p:spTgt>
                                        </p:tgtEl>
                                        <p:attrNameLst>
                                          <p:attrName>style.visibility</p:attrName>
                                        </p:attrNameLst>
                                      </p:cBhvr>
                                      <p:to>
                                        <p:strVal val="visible"/>
                                      </p:to>
                                    </p:set>
                                    <p:animEffect transition="in" filter="blinds(horizontal)">
                                      <p:cBhvr>
                                        <p:cTn id="25" dur="500"/>
                                        <p:tgtEl>
                                          <p:spTgt spid="126979">
                                            <p:txEl>
                                              <p:pRg st="6" end="6"/>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26979">
                                            <p:txEl>
                                              <p:pRg st="7" end="7"/>
                                            </p:txEl>
                                          </p:spTgt>
                                        </p:tgtEl>
                                        <p:attrNameLst>
                                          <p:attrName>style.visibility</p:attrName>
                                        </p:attrNameLst>
                                      </p:cBhvr>
                                      <p:to>
                                        <p:strVal val="visible"/>
                                      </p:to>
                                    </p:set>
                                    <p:animEffect transition="in" filter="blinds(horizontal)">
                                      <p:cBhvr>
                                        <p:cTn id="28" dur="500"/>
                                        <p:tgtEl>
                                          <p:spTgt spid="126979">
                                            <p:txEl>
                                              <p:pRg st="7" end="7"/>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26979">
                                            <p:txEl>
                                              <p:pRg st="8" end="8"/>
                                            </p:txEl>
                                          </p:spTgt>
                                        </p:tgtEl>
                                        <p:attrNameLst>
                                          <p:attrName>style.visibility</p:attrName>
                                        </p:attrNameLst>
                                      </p:cBhvr>
                                      <p:to>
                                        <p:strVal val="visible"/>
                                      </p:to>
                                    </p:set>
                                    <p:animEffect transition="in" filter="blinds(horizontal)">
                                      <p:cBhvr>
                                        <p:cTn id="31" dur="500"/>
                                        <p:tgtEl>
                                          <p:spTgt spid="12697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GB" sz="3200" dirty="0"/>
              <a:t>Selection of DBMS, Utilities and Hardware</a:t>
            </a:r>
            <a:endParaRPr lang="en-US" sz="3200" dirty="0"/>
          </a:p>
        </p:txBody>
      </p:sp>
      <p:sp>
        <p:nvSpPr>
          <p:cNvPr id="131075" name="Rectangle 3"/>
          <p:cNvSpPr>
            <a:spLocks noGrp="1" noChangeArrowheads="1"/>
          </p:cNvSpPr>
          <p:nvPr>
            <p:ph idx="1"/>
          </p:nvPr>
        </p:nvSpPr>
        <p:spPr/>
        <p:txBody>
          <a:bodyPr/>
          <a:lstStyle/>
          <a:p>
            <a:pPr eaLnBrk="1" hangingPunct="1">
              <a:lnSpc>
                <a:spcPct val="120000"/>
              </a:lnSpc>
            </a:pPr>
            <a:r>
              <a:rPr lang="en-GB" sz="2100" dirty="0"/>
              <a:t>Important technical responsibility, needs to consider:</a:t>
            </a:r>
          </a:p>
          <a:p>
            <a:pPr lvl="1" eaLnBrk="1" hangingPunct="1">
              <a:lnSpc>
                <a:spcPct val="80000"/>
              </a:lnSpc>
            </a:pPr>
            <a:r>
              <a:rPr lang="en-GB" sz="1700" dirty="0"/>
              <a:t>DBMS model</a:t>
            </a:r>
          </a:p>
          <a:p>
            <a:pPr lvl="1" eaLnBrk="1" hangingPunct="1">
              <a:lnSpc>
                <a:spcPct val="80000"/>
              </a:lnSpc>
            </a:pPr>
            <a:r>
              <a:rPr lang="en-GB" sz="1700" dirty="0"/>
              <a:t>DBMS storage capacity</a:t>
            </a:r>
          </a:p>
          <a:p>
            <a:pPr lvl="1" eaLnBrk="1" hangingPunct="1">
              <a:lnSpc>
                <a:spcPct val="80000"/>
              </a:lnSpc>
            </a:pPr>
            <a:r>
              <a:rPr lang="en-GB" sz="1700" dirty="0"/>
              <a:t>Application development support</a:t>
            </a:r>
          </a:p>
          <a:p>
            <a:pPr lvl="1" eaLnBrk="1" hangingPunct="1">
              <a:lnSpc>
                <a:spcPct val="80000"/>
              </a:lnSpc>
            </a:pPr>
            <a:r>
              <a:rPr lang="en-GB" sz="1700" dirty="0"/>
              <a:t>Security and integrity</a:t>
            </a:r>
          </a:p>
          <a:p>
            <a:pPr lvl="1" eaLnBrk="1" hangingPunct="1">
              <a:lnSpc>
                <a:spcPct val="80000"/>
              </a:lnSpc>
            </a:pPr>
            <a:r>
              <a:rPr lang="en-GB" sz="1700" dirty="0"/>
              <a:t>Backup and recovery</a:t>
            </a:r>
          </a:p>
          <a:p>
            <a:pPr lvl="1" eaLnBrk="1" hangingPunct="1">
              <a:lnSpc>
                <a:spcPct val="80000"/>
              </a:lnSpc>
            </a:pPr>
            <a:r>
              <a:rPr lang="en-GB" sz="1700" dirty="0"/>
              <a:t>Concurrency control</a:t>
            </a:r>
          </a:p>
          <a:p>
            <a:pPr lvl="1" eaLnBrk="1" hangingPunct="1">
              <a:lnSpc>
                <a:spcPct val="80000"/>
              </a:lnSpc>
            </a:pPr>
            <a:r>
              <a:rPr lang="en-GB" sz="1700" dirty="0"/>
              <a:t>Performance</a:t>
            </a:r>
          </a:p>
          <a:p>
            <a:pPr lvl="1" eaLnBrk="1" hangingPunct="1">
              <a:lnSpc>
                <a:spcPct val="80000"/>
              </a:lnSpc>
            </a:pPr>
            <a:r>
              <a:rPr lang="en-GB" sz="1700" dirty="0"/>
              <a:t>DBA tools</a:t>
            </a:r>
          </a:p>
          <a:p>
            <a:pPr lvl="1" eaLnBrk="1" hangingPunct="1">
              <a:lnSpc>
                <a:spcPct val="80000"/>
              </a:lnSpc>
            </a:pPr>
            <a:r>
              <a:rPr lang="en-GB" sz="1700" dirty="0"/>
              <a:t>Data distribution</a:t>
            </a:r>
          </a:p>
          <a:p>
            <a:pPr lvl="1" eaLnBrk="1" hangingPunct="1">
              <a:lnSpc>
                <a:spcPct val="80000"/>
              </a:lnSpc>
            </a:pPr>
            <a:r>
              <a:rPr lang="en-GB" sz="1700" dirty="0"/>
              <a:t>Portability and standards</a:t>
            </a:r>
          </a:p>
          <a:p>
            <a:pPr lvl="1" eaLnBrk="1" hangingPunct="1">
              <a:lnSpc>
                <a:spcPct val="80000"/>
              </a:lnSpc>
            </a:pPr>
            <a:r>
              <a:rPr lang="en-GB" sz="1700" dirty="0"/>
              <a:t>Hardware</a:t>
            </a:r>
          </a:p>
          <a:p>
            <a:pPr lvl="1" eaLnBrk="1" hangingPunct="1">
              <a:lnSpc>
                <a:spcPct val="80000"/>
              </a:lnSpc>
            </a:pPr>
            <a:r>
              <a:rPr lang="en-GB" sz="1700" dirty="0"/>
              <a:t>Vendor training and support</a:t>
            </a:r>
          </a:p>
          <a:p>
            <a:pPr lvl="1" eaLnBrk="1" hangingPunct="1">
              <a:lnSpc>
                <a:spcPct val="80000"/>
              </a:lnSpc>
            </a:pPr>
            <a:r>
              <a:rPr lang="en-GB" sz="1700" dirty="0"/>
              <a:t>Available third-party tools</a:t>
            </a:r>
          </a:p>
          <a:p>
            <a:pPr lvl="1" eaLnBrk="1" hangingPunct="1">
              <a:lnSpc>
                <a:spcPct val="80000"/>
              </a:lnSpc>
            </a:pPr>
            <a:r>
              <a:rPr lang="en-GB" sz="1700" dirty="0"/>
              <a:t>Cost</a:t>
            </a:r>
          </a:p>
          <a:p>
            <a:pPr eaLnBrk="1" hangingPunct="1">
              <a:lnSpc>
                <a:spcPct val="80000"/>
              </a:lnSpc>
            </a:pPr>
            <a:endParaRPr lang="en-US" sz="2000" dirty="0"/>
          </a:p>
        </p:txBody>
      </p:sp>
    </p:spTree>
    <p:custDataLst>
      <p:tags r:id="rId1"/>
    </p:custDataLst>
  </p:cSld>
  <p:clrMapOvr>
    <a:masterClrMapping/>
  </p:clrMapOvr>
  <p:transition advTm="135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animEffect transition="in" filter="blinds(horizontal)">
                                      <p:cBhvr>
                                        <p:cTn id="7" dur="500"/>
                                        <p:tgtEl>
                                          <p:spTgt spid="13107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1075">
                                            <p:txEl>
                                              <p:pRg st="1" end="1"/>
                                            </p:txEl>
                                          </p:spTgt>
                                        </p:tgtEl>
                                        <p:attrNameLst>
                                          <p:attrName>style.visibility</p:attrName>
                                        </p:attrNameLst>
                                      </p:cBhvr>
                                      <p:to>
                                        <p:strVal val="visible"/>
                                      </p:to>
                                    </p:set>
                                    <p:animEffect transition="in" filter="blinds(horizontal)">
                                      <p:cBhvr>
                                        <p:cTn id="10" dur="500"/>
                                        <p:tgtEl>
                                          <p:spTgt spid="13107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31075">
                                            <p:txEl>
                                              <p:pRg st="2" end="2"/>
                                            </p:txEl>
                                          </p:spTgt>
                                        </p:tgtEl>
                                        <p:attrNameLst>
                                          <p:attrName>style.visibility</p:attrName>
                                        </p:attrNameLst>
                                      </p:cBhvr>
                                      <p:to>
                                        <p:strVal val="visible"/>
                                      </p:to>
                                    </p:set>
                                    <p:animEffect transition="in" filter="blinds(horizontal)">
                                      <p:cBhvr>
                                        <p:cTn id="13" dur="500"/>
                                        <p:tgtEl>
                                          <p:spTgt spid="131075">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31075">
                                            <p:txEl>
                                              <p:pRg st="3" end="3"/>
                                            </p:txEl>
                                          </p:spTgt>
                                        </p:tgtEl>
                                        <p:attrNameLst>
                                          <p:attrName>style.visibility</p:attrName>
                                        </p:attrNameLst>
                                      </p:cBhvr>
                                      <p:to>
                                        <p:strVal val="visible"/>
                                      </p:to>
                                    </p:set>
                                    <p:animEffect transition="in" filter="blinds(horizontal)">
                                      <p:cBhvr>
                                        <p:cTn id="16" dur="500"/>
                                        <p:tgtEl>
                                          <p:spTgt spid="131075">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31075">
                                            <p:txEl>
                                              <p:pRg st="4" end="4"/>
                                            </p:txEl>
                                          </p:spTgt>
                                        </p:tgtEl>
                                        <p:attrNameLst>
                                          <p:attrName>style.visibility</p:attrName>
                                        </p:attrNameLst>
                                      </p:cBhvr>
                                      <p:to>
                                        <p:strVal val="visible"/>
                                      </p:to>
                                    </p:set>
                                    <p:animEffect transition="in" filter="blinds(horizontal)">
                                      <p:cBhvr>
                                        <p:cTn id="19" dur="500"/>
                                        <p:tgtEl>
                                          <p:spTgt spid="131075">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31075">
                                            <p:txEl>
                                              <p:pRg st="5" end="5"/>
                                            </p:txEl>
                                          </p:spTgt>
                                        </p:tgtEl>
                                        <p:attrNameLst>
                                          <p:attrName>style.visibility</p:attrName>
                                        </p:attrNameLst>
                                      </p:cBhvr>
                                      <p:to>
                                        <p:strVal val="visible"/>
                                      </p:to>
                                    </p:set>
                                    <p:animEffect transition="in" filter="blinds(horizontal)">
                                      <p:cBhvr>
                                        <p:cTn id="22" dur="500"/>
                                        <p:tgtEl>
                                          <p:spTgt spid="131075">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31075">
                                            <p:txEl>
                                              <p:pRg st="6" end="6"/>
                                            </p:txEl>
                                          </p:spTgt>
                                        </p:tgtEl>
                                        <p:attrNameLst>
                                          <p:attrName>style.visibility</p:attrName>
                                        </p:attrNameLst>
                                      </p:cBhvr>
                                      <p:to>
                                        <p:strVal val="visible"/>
                                      </p:to>
                                    </p:set>
                                    <p:animEffect transition="in" filter="blinds(horizontal)">
                                      <p:cBhvr>
                                        <p:cTn id="25" dur="500"/>
                                        <p:tgtEl>
                                          <p:spTgt spid="131075">
                                            <p:txEl>
                                              <p:pRg st="6" end="6"/>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1075">
                                            <p:txEl>
                                              <p:pRg st="7" end="7"/>
                                            </p:txEl>
                                          </p:spTgt>
                                        </p:tgtEl>
                                        <p:attrNameLst>
                                          <p:attrName>style.visibility</p:attrName>
                                        </p:attrNameLst>
                                      </p:cBhvr>
                                      <p:to>
                                        <p:strVal val="visible"/>
                                      </p:to>
                                    </p:set>
                                    <p:animEffect transition="in" filter="blinds(horizontal)">
                                      <p:cBhvr>
                                        <p:cTn id="28" dur="500"/>
                                        <p:tgtEl>
                                          <p:spTgt spid="131075">
                                            <p:txEl>
                                              <p:pRg st="7" end="7"/>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31075">
                                            <p:txEl>
                                              <p:pRg st="8" end="8"/>
                                            </p:txEl>
                                          </p:spTgt>
                                        </p:tgtEl>
                                        <p:attrNameLst>
                                          <p:attrName>style.visibility</p:attrName>
                                        </p:attrNameLst>
                                      </p:cBhvr>
                                      <p:to>
                                        <p:strVal val="visible"/>
                                      </p:to>
                                    </p:set>
                                    <p:animEffect transition="in" filter="blinds(horizontal)">
                                      <p:cBhvr>
                                        <p:cTn id="31" dur="500"/>
                                        <p:tgtEl>
                                          <p:spTgt spid="131075">
                                            <p:txEl>
                                              <p:pRg st="8" end="8"/>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31075">
                                            <p:txEl>
                                              <p:pRg st="9" end="9"/>
                                            </p:txEl>
                                          </p:spTgt>
                                        </p:tgtEl>
                                        <p:attrNameLst>
                                          <p:attrName>style.visibility</p:attrName>
                                        </p:attrNameLst>
                                      </p:cBhvr>
                                      <p:to>
                                        <p:strVal val="visible"/>
                                      </p:to>
                                    </p:set>
                                    <p:animEffect transition="in" filter="blinds(horizontal)">
                                      <p:cBhvr>
                                        <p:cTn id="34" dur="500"/>
                                        <p:tgtEl>
                                          <p:spTgt spid="131075">
                                            <p:txEl>
                                              <p:pRg st="9" end="9"/>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31075">
                                            <p:txEl>
                                              <p:pRg st="10" end="10"/>
                                            </p:txEl>
                                          </p:spTgt>
                                        </p:tgtEl>
                                        <p:attrNameLst>
                                          <p:attrName>style.visibility</p:attrName>
                                        </p:attrNameLst>
                                      </p:cBhvr>
                                      <p:to>
                                        <p:strVal val="visible"/>
                                      </p:to>
                                    </p:set>
                                    <p:animEffect transition="in" filter="blinds(horizontal)">
                                      <p:cBhvr>
                                        <p:cTn id="37" dur="500"/>
                                        <p:tgtEl>
                                          <p:spTgt spid="131075">
                                            <p:txEl>
                                              <p:pRg st="10" end="10"/>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31075">
                                            <p:txEl>
                                              <p:pRg st="11" end="11"/>
                                            </p:txEl>
                                          </p:spTgt>
                                        </p:tgtEl>
                                        <p:attrNameLst>
                                          <p:attrName>style.visibility</p:attrName>
                                        </p:attrNameLst>
                                      </p:cBhvr>
                                      <p:to>
                                        <p:strVal val="visible"/>
                                      </p:to>
                                    </p:set>
                                    <p:animEffect transition="in" filter="blinds(horizontal)">
                                      <p:cBhvr>
                                        <p:cTn id="40" dur="500"/>
                                        <p:tgtEl>
                                          <p:spTgt spid="131075">
                                            <p:txEl>
                                              <p:pRg st="11" end="11"/>
                                            </p:txEl>
                                          </p:spTgt>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31075">
                                            <p:txEl>
                                              <p:pRg st="12" end="12"/>
                                            </p:txEl>
                                          </p:spTgt>
                                        </p:tgtEl>
                                        <p:attrNameLst>
                                          <p:attrName>style.visibility</p:attrName>
                                        </p:attrNameLst>
                                      </p:cBhvr>
                                      <p:to>
                                        <p:strVal val="visible"/>
                                      </p:to>
                                    </p:set>
                                    <p:animEffect transition="in" filter="blinds(horizontal)">
                                      <p:cBhvr>
                                        <p:cTn id="43" dur="500"/>
                                        <p:tgtEl>
                                          <p:spTgt spid="131075">
                                            <p:txEl>
                                              <p:pRg st="12" end="12"/>
                                            </p:txEl>
                                          </p:spTgt>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31075">
                                            <p:txEl>
                                              <p:pRg st="13" end="13"/>
                                            </p:txEl>
                                          </p:spTgt>
                                        </p:tgtEl>
                                        <p:attrNameLst>
                                          <p:attrName>style.visibility</p:attrName>
                                        </p:attrNameLst>
                                      </p:cBhvr>
                                      <p:to>
                                        <p:strVal val="visible"/>
                                      </p:to>
                                    </p:set>
                                    <p:animEffect transition="in" filter="blinds(horizontal)">
                                      <p:cBhvr>
                                        <p:cTn id="46" dur="500"/>
                                        <p:tgtEl>
                                          <p:spTgt spid="131075">
                                            <p:txEl>
                                              <p:pRg st="13" end="13"/>
                                            </p:txEl>
                                          </p:spTgt>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31075">
                                            <p:txEl>
                                              <p:pRg st="14" end="14"/>
                                            </p:txEl>
                                          </p:spTgt>
                                        </p:tgtEl>
                                        <p:attrNameLst>
                                          <p:attrName>style.visibility</p:attrName>
                                        </p:attrNameLst>
                                      </p:cBhvr>
                                      <p:to>
                                        <p:strVal val="visible"/>
                                      </p:to>
                                    </p:set>
                                    <p:animEffect transition="in" filter="blinds(horizontal)">
                                      <p:cBhvr>
                                        <p:cTn id="49" dur="500"/>
                                        <p:tgtEl>
                                          <p:spTgt spid="13107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GB" dirty="0"/>
              <a:t>End User Support</a:t>
            </a:r>
            <a:endParaRPr lang="en-US" dirty="0"/>
          </a:p>
        </p:txBody>
      </p:sp>
      <p:sp>
        <p:nvSpPr>
          <p:cNvPr id="128003" name="Rectangle 3"/>
          <p:cNvSpPr>
            <a:spLocks noGrp="1" noChangeArrowheads="1"/>
          </p:cNvSpPr>
          <p:nvPr>
            <p:ph idx="1"/>
          </p:nvPr>
        </p:nvSpPr>
        <p:spPr/>
        <p:txBody>
          <a:bodyPr/>
          <a:lstStyle/>
          <a:p>
            <a:pPr eaLnBrk="1" hangingPunct="1"/>
            <a:r>
              <a:rPr lang="en-GB" dirty="0"/>
              <a:t>User requirements gathering</a:t>
            </a:r>
          </a:p>
          <a:p>
            <a:pPr eaLnBrk="1" hangingPunct="1"/>
            <a:r>
              <a:rPr lang="en-GB" dirty="0"/>
              <a:t>Conflict and problem resolution</a:t>
            </a:r>
          </a:p>
          <a:p>
            <a:pPr eaLnBrk="1" hangingPunct="1"/>
            <a:r>
              <a:rPr lang="en-GB" dirty="0"/>
              <a:t>Finding solutions to information needs</a:t>
            </a:r>
          </a:p>
          <a:p>
            <a:pPr eaLnBrk="1" hangingPunct="1"/>
            <a:r>
              <a:rPr lang="en-GB" dirty="0"/>
              <a:t>Ensuring quality and integrity of applications and data</a:t>
            </a:r>
          </a:p>
          <a:p>
            <a:pPr eaLnBrk="1" hangingPunct="1"/>
            <a:r>
              <a:rPr lang="en-GB" dirty="0"/>
              <a:t>Building user confidence</a:t>
            </a:r>
          </a:p>
          <a:p>
            <a:pPr eaLnBrk="1" hangingPunct="1"/>
            <a:r>
              <a:rPr lang="en-GB" dirty="0"/>
              <a:t>Managing training and support of DBMS users</a:t>
            </a:r>
          </a:p>
          <a:p>
            <a:pPr eaLnBrk="1" hangingPunct="1"/>
            <a:endParaRPr lang="en-US" dirty="0"/>
          </a:p>
        </p:txBody>
      </p:sp>
    </p:spTree>
    <p:custDataLst>
      <p:tags r:id="rId1"/>
    </p:custDataLst>
  </p:cSld>
  <p:clrMapOvr>
    <a:masterClrMapping/>
  </p:clrMapOvr>
  <p:transition advTm="587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8003">
                                            <p:txEl>
                                              <p:pRg st="0" end="0"/>
                                            </p:txEl>
                                          </p:spTgt>
                                        </p:tgtEl>
                                        <p:attrNameLst>
                                          <p:attrName>style.visibility</p:attrName>
                                        </p:attrNameLst>
                                      </p:cBhvr>
                                      <p:to>
                                        <p:strVal val="visible"/>
                                      </p:to>
                                    </p:set>
                                    <p:animEffect transition="in" filter="blinds(horizontal)">
                                      <p:cBhvr>
                                        <p:cTn id="7" dur="500"/>
                                        <p:tgtEl>
                                          <p:spTgt spid="1280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8003">
                                            <p:txEl>
                                              <p:pRg st="1" end="1"/>
                                            </p:txEl>
                                          </p:spTgt>
                                        </p:tgtEl>
                                        <p:attrNameLst>
                                          <p:attrName>style.visibility</p:attrName>
                                        </p:attrNameLst>
                                      </p:cBhvr>
                                      <p:to>
                                        <p:strVal val="visible"/>
                                      </p:to>
                                    </p:set>
                                    <p:animEffect transition="in" filter="blinds(horizontal)">
                                      <p:cBhvr>
                                        <p:cTn id="12" dur="500"/>
                                        <p:tgtEl>
                                          <p:spTgt spid="1280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8003">
                                            <p:txEl>
                                              <p:pRg st="2" end="2"/>
                                            </p:txEl>
                                          </p:spTgt>
                                        </p:tgtEl>
                                        <p:attrNameLst>
                                          <p:attrName>style.visibility</p:attrName>
                                        </p:attrNameLst>
                                      </p:cBhvr>
                                      <p:to>
                                        <p:strVal val="visible"/>
                                      </p:to>
                                    </p:set>
                                    <p:animEffect transition="in" filter="blinds(horizontal)">
                                      <p:cBhvr>
                                        <p:cTn id="17" dur="500"/>
                                        <p:tgtEl>
                                          <p:spTgt spid="1280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8003">
                                            <p:txEl>
                                              <p:pRg st="3" end="3"/>
                                            </p:txEl>
                                          </p:spTgt>
                                        </p:tgtEl>
                                        <p:attrNameLst>
                                          <p:attrName>style.visibility</p:attrName>
                                        </p:attrNameLst>
                                      </p:cBhvr>
                                      <p:to>
                                        <p:strVal val="visible"/>
                                      </p:to>
                                    </p:set>
                                    <p:animEffect transition="in" filter="blinds(horizontal)">
                                      <p:cBhvr>
                                        <p:cTn id="22" dur="500"/>
                                        <p:tgtEl>
                                          <p:spTgt spid="1280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8003">
                                            <p:txEl>
                                              <p:pRg st="4" end="4"/>
                                            </p:txEl>
                                          </p:spTgt>
                                        </p:tgtEl>
                                        <p:attrNameLst>
                                          <p:attrName>style.visibility</p:attrName>
                                        </p:attrNameLst>
                                      </p:cBhvr>
                                      <p:to>
                                        <p:strVal val="visible"/>
                                      </p:to>
                                    </p:set>
                                    <p:animEffect transition="in" filter="blinds(horizontal)">
                                      <p:cBhvr>
                                        <p:cTn id="27" dur="500"/>
                                        <p:tgtEl>
                                          <p:spTgt spid="1280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8003">
                                            <p:txEl>
                                              <p:pRg st="5" end="5"/>
                                            </p:txEl>
                                          </p:spTgt>
                                        </p:tgtEl>
                                        <p:attrNameLst>
                                          <p:attrName>style.visibility</p:attrName>
                                        </p:attrNameLst>
                                      </p:cBhvr>
                                      <p:to>
                                        <p:strVal val="visible"/>
                                      </p:to>
                                    </p:set>
                                    <p:animEffect transition="in" filter="blinds(horizontal)">
                                      <p:cBhvr>
                                        <p:cTn id="32" dur="500"/>
                                        <p:tgtEl>
                                          <p:spTgt spid="1280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GB" sz="3200" dirty="0"/>
              <a:t>Policies, Procedures and Standards</a:t>
            </a:r>
            <a:endParaRPr lang="en-US" sz="3200" dirty="0"/>
          </a:p>
        </p:txBody>
      </p:sp>
      <p:sp>
        <p:nvSpPr>
          <p:cNvPr id="113667" name="Rectangle 3"/>
          <p:cNvSpPr>
            <a:spLocks noGrp="1" noChangeArrowheads="1"/>
          </p:cNvSpPr>
          <p:nvPr>
            <p:ph idx="1"/>
          </p:nvPr>
        </p:nvSpPr>
        <p:spPr/>
        <p:txBody>
          <a:bodyPr/>
          <a:lstStyle/>
          <a:p>
            <a:pPr eaLnBrk="1" hangingPunct="1"/>
            <a:r>
              <a:rPr lang="en-GB" sz="2800"/>
              <a:t>Continuous enforcement of the policies procedures and standards</a:t>
            </a:r>
          </a:p>
          <a:p>
            <a:pPr lvl="1" eaLnBrk="1" hangingPunct="1"/>
            <a:r>
              <a:rPr lang="en-GB"/>
              <a:t>Policies</a:t>
            </a:r>
          </a:p>
          <a:p>
            <a:pPr lvl="2" eaLnBrk="1" hangingPunct="1"/>
            <a:r>
              <a:rPr lang="en-GB" sz="2200"/>
              <a:t>General statements of direction that support goals</a:t>
            </a:r>
          </a:p>
          <a:p>
            <a:pPr lvl="1" eaLnBrk="1" hangingPunct="1"/>
            <a:r>
              <a:rPr lang="en-GB"/>
              <a:t>Standards</a:t>
            </a:r>
          </a:p>
          <a:p>
            <a:pPr lvl="2" eaLnBrk="1" hangingPunct="1"/>
            <a:r>
              <a:rPr lang="en-GB" sz="2200"/>
              <a:t>More detailed and specific than policies and describe minimum requirements</a:t>
            </a:r>
          </a:p>
          <a:p>
            <a:pPr lvl="1" eaLnBrk="1" hangingPunct="1"/>
            <a:r>
              <a:rPr lang="en-GB"/>
              <a:t>Procedures</a:t>
            </a:r>
          </a:p>
          <a:p>
            <a:pPr lvl="2" eaLnBrk="1" hangingPunct="1"/>
            <a:r>
              <a:rPr lang="en-GB" sz="2200"/>
              <a:t>Written instructions that describe a series of steps to be followed</a:t>
            </a:r>
          </a:p>
          <a:p>
            <a:pPr eaLnBrk="1" hangingPunct="1"/>
            <a:endParaRPr lang="en-US"/>
          </a:p>
        </p:txBody>
      </p:sp>
    </p:spTree>
    <p:custDataLst>
      <p:tags r:id="rId1"/>
    </p:custDataLst>
  </p:cSld>
  <p:clrMapOvr>
    <a:masterClrMapping/>
  </p:clrMapOvr>
  <p:transition advTm="108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Effect transition="in" filter="blinds(horizontal)">
                                      <p:cBhvr>
                                        <p:cTn id="7" dur="500"/>
                                        <p:tgtEl>
                                          <p:spTgt spid="11366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3667">
                                            <p:txEl>
                                              <p:pRg st="1" end="1"/>
                                            </p:txEl>
                                          </p:spTgt>
                                        </p:tgtEl>
                                        <p:attrNameLst>
                                          <p:attrName>style.visibility</p:attrName>
                                        </p:attrNameLst>
                                      </p:cBhvr>
                                      <p:to>
                                        <p:strVal val="visible"/>
                                      </p:to>
                                    </p:set>
                                    <p:animEffect transition="in" filter="blinds(horizontal)">
                                      <p:cBhvr>
                                        <p:cTn id="10" dur="500"/>
                                        <p:tgtEl>
                                          <p:spTgt spid="11366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13667">
                                            <p:txEl>
                                              <p:pRg st="2" end="2"/>
                                            </p:txEl>
                                          </p:spTgt>
                                        </p:tgtEl>
                                        <p:attrNameLst>
                                          <p:attrName>style.visibility</p:attrName>
                                        </p:attrNameLst>
                                      </p:cBhvr>
                                      <p:to>
                                        <p:strVal val="visible"/>
                                      </p:to>
                                    </p:set>
                                    <p:animEffect transition="in" filter="blinds(horizontal)">
                                      <p:cBhvr>
                                        <p:cTn id="13" dur="500"/>
                                        <p:tgtEl>
                                          <p:spTgt spid="11366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13667">
                                            <p:txEl>
                                              <p:pRg st="3" end="3"/>
                                            </p:txEl>
                                          </p:spTgt>
                                        </p:tgtEl>
                                        <p:attrNameLst>
                                          <p:attrName>style.visibility</p:attrName>
                                        </p:attrNameLst>
                                      </p:cBhvr>
                                      <p:to>
                                        <p:strVal val="visible"/>
                                      </p:to>
                                    </p:set>
                                    <p:animEffect transition="in" filter="blinds(horizontal)">
                                      <p:cBhvr>
                                        <p:cTn id="16" dur="500"/>
                                        <p:tgtEl>
                                          <p:spTgt spid="113667">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13667">
                                            <p:txEl>
                                              <p:pRg st="4" end="4"/>
                                            </p:txEl>
                                          </p:spTgt>
                                        </p:tgtEl>
                                        <p:attrNameLst>
                                          <p:attrName>style.visibility</p:attrName>
                                        </p:attrNameLst>
                                      </p:cBhvr>
                                      <p:to>
                                        <p:strVal val="visible"/>
                                      </p:to>
                                    </p:set>
                                    <p:animEffect transition="in" filter="blinds(horizontal)">
                                      <p:cBhvr>
                                        <p:cTn id="19" dur="500"/>
                                        <p:tgtEl>
                                          <p:spTgt spid="113667">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13667">
                                            <p:txEl>
                                              <p:pRg st="5" end="5"/>
                                            </p:txEl>
                                          </p:spTgt>
                                        </p:tgtEl>
                                        <p:attrNameLst>
                                          <p:attrName>style.visibility</p:attrName>
                                        </p:attrNameLst>
                                      </p:cBhvr>
                                      <p:to>
                                        <p:strVal val="visible"/>
                                      </p:to>
                                    </p:set>
                                    <p:animEffect transition="in" filter="blinds(horizontal)">
                                      <p:cBhvr>
                                        <p:cTn id="22" dur="500"/>
                                        <p:tgtEl>
                                          <p:spTgt spid="113667">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13667">
                                            <p:txEl>
                                              <p:pRg st="6" end="6"/>
                                            </p:txEl>
                                          </p:spTgt>
                                        </p:tgtEl>
                                        <p:attrNameLst>
                                          <p:attrName>style.visibility</p:attrName>
                                        </p:attrNameLst>
                                      </p:cBhvr>
                                      <p:to>
                                        <p:strVal val="visible"/>
                                      </p:to>
                                    </p:set>
                                    <p:animEffect transition="in" filter="blinds(horizontal)">
                                      <p:cBhvr>
                                        <p:cTn id="25" dur="500"/>
                                        <p:tgtEl>
                                          <p:spTgt spid="1136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GB" sz="3200" dirty="0"/>
              <a:t>Data Security, Privacy and Integrity</a:t>
            </a:r>
            <a:endParaRPr lang="en-US" sz="3200" dirty="0"/>
          </a:p>
        </p:txBody>
      </p:sp>
      <p:sp>
        <p:nvSpPr>
          <p:cNvPr id="114691" name="Rectangle 3"/>
          <p:cNvSpPr>
            <a:spLocks noGrp="1" noChangeArrowheads="1"/>
          </p:cNvSpPr>
          <p:nvPr>
            <p:ph idx="1"/>
          </p:nvPr>
        </p:nvSpPr>
        <p:spPr/>
        <p:txBody>
          <a:bodyPr/>
          <a:lstStyle/>
          <a:p>
            <a:pPr eaLnBrk="1" hangingPunct="1"/>
            <a:r>
              <a:rPr lang="en-GB" sz="2800"/>
              <a:t>Of great concern to DBA’s</a:t>
            </a:r>
          </a:p>
          <a:p>
            <a:pPr eaLnBrk="1" hangingPunct="1"/>
            <a:r>
              <a:rPr lang="en-GB" sz="2800"/>
              <a:t>With distributed data:</a:t>
            </a:r>
          </a:p>
          <a:p>
            <a:pPr lvl="1" eaLnBrk="1" hangingPunct="1"/>
            <a:r>
              <a:rPr lang="en-GB" sz="2400"/>
              <a:t>More difficult to maintain data control, security and integrity</a:t>
            </a:r>
          </a:p>
          <a:p>
            <a:pPr eaLnBrk="1" hangingPunct="1"/>
            <a:r>
              <a:rPr lang="en-GB" sz="2800"/>
              <a:t>Must use the security and integrity mechanisms provided by the DBMS</a:t>
            </a:r>
          </a:p>
          <a:p>
            <a:pPr eaLnBrk="1" hangingPunct="1"/>
            <a:r>
              <a:rPr lang="en-GB" sz="2800"/>
              <a:t>Must team up with internet security experts</a:t>
            </a:r>
          </a:p>
          <a:p>
            <a:pPr lvl="1" eaLnBrk="1" hangingPunct="1"/>
            <a:r>
              <a:rPr lang="en-GB" sz="2400"/>
              <a:t>To build firewalls, proxy services to safeguard from possible external attacks </a:t>
            </a:r>
          </a:p>
          <a:p>
            <a:pPr eaLnBrk="1" hangingPunct="1"/>
            <a:endParaRPr lang="en-US" sz="2800"/>
          </a:p>
        </p:txBody>
      </p:sp>
    </p:spTree>
    <p:custDataLst>
      <p:tags r:id="rId1"/>
    </p:custDataLst>
  </p:cSld>
  <p:clrMapOvr>
    <a:masterClrMapping/>
  </p:clrMapOvr>
  <p:transition advTm="29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Effect transition="in" filter="blinds(horizontal)">
                                      <p:cBhvr>
                                        <p:cTn id="7" dur="500"/>
                                        <p:tgtEl>
                                          <p:spTgt spid="1146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4691">
                                            <p:txEl>
                                              <p:pRg st="1" end="1"/>
                                            </p:txEl>
                                          </p:spTgt>
                                        </p:tgtEl>
                                        <p:attrNameLst>
                                          <p:attrName>style.visibility</p:attrName>
                                        </p:attrNameLst>
                                      </p:cBhvr>
                                      <p:to>
                                        <p:strVal val="visible"/>
                                      </p:to>
                                    </p:set>
                                    <p:animEffect transition="in" filter="blinds(horizontal)">
                                      <p:cBhvr>
                                        <p:cTn id="12" dur="500"/>
                                        <p:tgtEl>
                                          <p:spTgt spid="114691">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14691">
                                            <p:txEl>
                                              <p:pRg st="2" end="2"/>
                                            </p:txEl>
                                          </p:spTgt>
                                        </p:tgtEl>
                                        <p:attrNameLst>
                                          <p:attrName>style.visibility</p:attrName>
                                        </p:attrNameLst>
                                      </p:cBhvr>
                                      <p:to>
                                        <p:strVal val="visible"/>
                                      </p:to>
                                    </p:set>
                                    <p:animEffect transition="in" filter="blinds(horizontal)">
                                      <p:cBhvr>
                                        <p:cTn id="15" dur="500"/>
                                        <p:tgtEl>
                                          <p:spTgt spid="11469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14691">
                                            <p:txEl>
                                              <p:pRg st="3" end="3"/>
                                            </p:txEl>
                                          </p:spTgt>
                                        </p:tgtEl>
                                        <p:attrNameLst>
                                          <p:attrName>style.visibility</p:attrName>
                                        </p:attrNameLst>
                                      </p:cBhvr>
                                      <p:to>
                                        <p:strVal val="visible"/>
                                      </p:to>
                                    </p:set>
                                    <p:animEffect transition="in" filter="blinds(horizontal)">
                                      <p:cBhvr>
                                        <p:cTn id="20" dur="500"/>
                                        <p:tgtEl>
                                          <p:spTgt spid="11469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14691">
                                            <p:txEl>
                                              <p:pRg st="4" end="4"/>
                                            </p:txEl>
                                          </p:spTgt>
                                        </p:tgtEl>
                                        <p:attrNameLst>
                                          <p:attrName>style.visibility</p:attrName>
                                        </p:attrNameLst>
                                      </p:cBhvr>
                                      <p:to>
                                        <p:strVal val="visible"/>
                                      </p:to>
                                    </p:set>
                                    <p:animEffect transition="in" filter="blinds(horizontal)">
                                      <p:cBhvr>
                                        <p:cTn id="25" dur="500"/>
                                        <p:tgtEl>
                                          <p:spTgt spid="114691">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14691">
                                            <p:txEl>
                                              <p:pRg st="5" end="5"/>
                                            </p:txEl>
                                          </p:spTgt>
                                        </p:tgtEl>
                                        <p:attrNameLst>
                                          <p:attrName>style.visibility</p:attrName>
                                        </p:attrNameLst>
                                      </p:cBhvr>
                                      <p:to>
                                        <p:strVal val="visible"/>
                                      </p:to>
                                    </p:set>
                                    <p:animEffect transition="in" filter="blinds(horizontal)">
                                      <p:cBhvr>
                                        <p:cTn id="28" dur="500"/>
                                        <p:tgtEl>
                                          <p:spTgt spid="1146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GB" dirty="0"/>
              <a:t>Data Backup and Recovery</a:t>
            </a:r>
            <a:endParaRPr lang="en-US" dirty="0"/>
          </a:p>
        </p:txBody>
      </p:sp>
      <p:sp>
        <p:nvSpPr>
          <p:cNvPr id="129027" name="Rectangle 3"/>
          <p:cNvSpPr>
            <a:spLocks noGrp="1" noChangeArrowheads="1"/>
          </p:cNvSpPr>
          <p:nvPr>
            <p:ph idx="1"/>
          </p:nvPr>
        </p:nvSpPr>
        <p:spPr/>
        <p:txBody>
          <a:bodyPr/>
          <a:lstStyle/>
          <a:p>
            <a:pPr eaLnBrk="1" hangingPunct="1">
              <a:lnSpc>
                <a:spcPct val="80000"/>
              </a:lnSpc>
            </a:pPr>
            <a:r>
              <a:rPr lang="en-GB" sz="2300" dirty="0"/>
              <a:t>Periodic data and applications backups</a:t>
            </a:r>
          </a:p>
          <a:p>
            <a:pPr lvl="1" eaLnBrk="1" hangingPunct="1">
              <a:lnSpc>
                <a:spcPct val="80000"/>
              </a:lnSpc>
            </a:pPr>
            <a:r>
              <a:rPr lang="en-GB" sz="2200" dirty="0"/>
              <a:t>Tools to ensure backup and recovery of the data</a:t>
            </a:r>
          </a:p>
          <a:p>
            <a:pPr eaLnBrk="1" hangingPunct="1">
              <a:lnSpc>
                <a:spcPct val="80000"/>
              </a:lnSpc>
            </a:pPr>
            <a:r>
              <a:rPr lang="en-GB" sz="2300" dirty="0"/>
              <a:t>Proper backup identification</a:t>
            </a:r>
          </a:p>
          <a:p>
            <a:pPr lvl="1" eaLnBrk="1" hangingPunct="1">
              <a:lnSpc>
                <a:spcPct val="80000"/>
              </a:lnSpc>
            </a:pPr>
            <a:r>
              <a:rPr lang="en-GB" sz="2200" dirty="0"/>
              <a:t>Detailed descriptions and date information to ensure correct backups are used</a:t>
            </a:r>
          </a:p>
          <a:p>
            <a:pPr eaLnBrk="1" hangingPunct="1">
              <a:lnSpc>
                <a:spcPct val="80000"/>
              </a:lnSpc>
            </a:pPr>
            <a:r>
              <a:rPr lang="en-GB" sz="2300" dirty="0"/>
              <a:t>Convenient and safe backup storage</a:t>
            </a:r>
          </a:p>
          <a:p>
            <a:pPr lvl="1" eaLnBrk="1" hangingPunct="1">
              <a:lnSpc>
                <a:spcPct val="80000"/>
              </a:lnSpc>
            </a:pPr>
            <a:r>
              <a:rPr lang="en-GB" sz="2200" dirty="0"/>
              <a:t>Multiple backups stored at different locations</a:t>
            </a:r>
          </a:p>
          <a:p>
            <a:pPr eaLnBrk="1" hangingPunct="1">
              <a:lnSpc>
                <a:spcPct val="80000"/>
              </a:lnSpc>
            </a:pPr>
            <a:r>
              <a:rPr lang="en-GB" sz="2300" dirty="0"/>
              <a:t>Physical protection of both hardware and software</a:t>
            </a:r>
          </a:p>
          <a:p>
            <a:pPr lvl="1" eaLnBrk="1" hangingPunct="1">
              <a:lnSpc>
                <a:spcPct val="80000"/>
              </a:lnSpc>
            </a:pPr>
            <a:r>
              <a:rPr lang="en-GB" sz="2200" dirty="0"/>
              <a:t>Restricted access, fire protection, air conditioning</a:t>
            </a:r>
          </a:p>
          <a:p>
            <a:pPr eaLnBrk="1" hangingPunct="1">
              <a:lnSpc>
                <a:spcPct val="80000"/>
              </a:lnSpc>
            </a:pPr>
            <a:r>
              <a:rPr lang="en-GB" sz="2300" dirty="0"/>
              <a:t>Personal access control to the database software</a:t>
            </a:r>
          </a:p>
          <a:p>
            <a:pPr lvl="1" eaLnBrk="1" hangingPunct="1">
              <a:lnSpc>
                <a:spcPct val="80000"/>
              </a:lnSpc>
            </a:pPr>
            <a:r>
              <a:rPr lang="en-GB" sz="2200" dirty="0"/>
              <a:t>Multilevel passwords and privileges</a:t>
            </a:r>
          </a:p>
          <a:p>
            <a:pPr eaLnBrk="1" hangingPunct="1">
              <a:lnSpc>
                <a:spcPct val="80000"/>
              </a:lnSpc>
            </a:pPr>
            <a:endParaRPr lang="en-US" sz="2800" dirty="0"/>
          </a:p>
        </p:txBody>
      </p:sp>
    </p:spTree>
    <p:custDataLst>
      <p:tags r:id="rId1"/>
    </p:custDataLst>
  </p:cSld>
  <p:clrMapOvr>
    <a:masterClrMapping/>
  </p:clrMapOvr>
  <p:transition advTm="8130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9027">
                                            <p:txEl>
                                              <p:pRg st="0" end="0"/>
                                            </p:txEl>
                                          </p:spTgt>
                                        </p:tgtEl>
                                        <p:attrNameLst>
                                          <p:attrName>style.visibility</p:attrName>
                                        </p:attrNameLst>
                                      </p:cBhvr>
                                      <p:to>
                                        <p:strVal val="visible"/>
                                      </p:to>
                                    </p:set>
                                    <p:animEffect transition="in" filter="blinds(horizontal)">
                                      <p:cBhvr>
                                        <p:cTn id="7" dur="500"/>
                                        <p:tgtEl>
                                          <p:spTgt spid="12902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9027">
                                            <p:txEl>
                                              <p:pRg st="1" end="1"/>
                                            </p:txEl>
                                          </p:spTgt>
                                        </p:tgtEl>
                                        <p:attrNameLst>
                                          <p:attrName>style.visibility</p:attrName>
                                        </p:attrNameLst>
                                      </p:cBhvr>
                                      <p:to>
                                        <p:strVal val="visible"/>
                                      </p:to>
                                    </p:set>
                                    <p:animEffect transition="in" filter="blinds(horizontal)">
                                      <p:cBhvr>
                                        <p:cTn id="10" dur="500"/>
                                        <p:tgtEl>
                                          <p:spTgt spid="12902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9027">
                                            <p:txEl>
                                              <p:pRg st="2" end="2"/>
                                            </p:txEl>
                                          </p:spTgt>
                                        </p:tgtEl>
                                        <p:attrNameLst>
                                          <p:attrName>style.visibility</p:attrName>
                                        </p:attrNameLst>
                                      </p:cBhvr>
                                      <p:to>
                                        <p:strVal val="visible"/>
                                      </p:to>
                                    </p:set>
                                    <p:animEffect transition="in" filter="blinds(horizontal)">
                                      <p:cBhvr>
                                        <p:cTn id="15" dur="500"/>
                                        <p:tgtEl>
                                          <p:spTgt spid="129027">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29027">
                                            <p:txEl>
                                              <p:pRg st="3" end="3"/>
                                            </p:txEl>
                                          </p:spTgt>
                                        </p:tgtEl>
                                        <p:attrNameLst>
                                          <p:attrName>style.visibility</p:attrName>
                                        </p:attrNameLst>
                                      </p:cBhvr>
                                      <p:to>
                                        <p:strVal val="visible"/>
                                      </p:to>
                                    </p:set>
                                    <p:animEffect transition="in" filter="blinds(horizontal)">
                                      <p:cBhvr>
                                        <p:cTn id="18" dur="500"/>
                                        <p:tgtEl>
                                          <p:spTgt spid="12902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29027">
                                            <p:txEl>
                                              <p:pRg st="4" end="4"/>
                                            </p:txEl>
                                          </p:spTgt>
                                        </p:tgtEl>
                                        <p:attrNameLst>
                                          <p:attrName>style.visibility</p:attrName>
                                        </p:attrNameLst>
                                      </p:cBhvr>
                                      <p:to>
                                        <p:strVal val="visible"/>
                                      </p:to>
                                    </p:set>
                                    <p:animEffect transition="in" filter="blinds(horizontal)">
                                      <p:cBhvr>
                                        <p:cTn id="23" dur="500"/>
                                        <p:tgtEl>
                                          <p:spTgt spid="129027">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29027">
                                            <p:txEl>
                                              <p:pRg st="5" end="5"/>
                                            </p:txEl>
                                          </p:spTgt>
                                        </p:tgtEl>
                                        <p:attrNameLst>
                                          <p:attrName>style.visibility</p:attrName>
                                        </p:attrNameLst>
                                      </p:cBhvr>
                                      <p:to>
                                        <p:strVal val="visible"/>
                                      </p:to>
                                    </p:set>
                                    <p:animEffect transition="in" filter="blinds(horizontal)">
                                      <p:cBhvr>
                                        <p:cTn id="26" dur="500"/>
                                        <p:tgtEl>
                                          <p:spTgt spid="129027">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9027">
                                            <p:txEl>
                                              <p:pRg st="6" end="6"/>
                                            </p:txEl>
                                          </p:spTgt>
                                        </p:tgtEl>
                                        <p:attrNameLst>
                                          <p:attrName>style.visibility</p:attrName>
                                        </p:attrNameLst>
                                      </p:cBhvr>
                                      <p:to>
                                        <p:strVal val="visible"/>
                                      </p:to>
                                    </p:set>
                                    <p:animEffect transition="in" filter="blinds(horizontal)">
                                      <p:cBhvr>
                                        <p:cTn id="31" dur="500"/>
                                        <p:tgtEl>
                                          <p:spTgt spid="129027">
                                            <p:txEl>
                                              <p:pRg st="6" end="6"/>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29027">
                                            <p:txEl>
                                              <p:pRg st="7" end="7"/>
                                            </p:txEl>
                                          </p:spTgt>
                                        </p:tgtEl>
                                        <p:attrNameLst>
                                          <p:attrName>style.visibility</p:attrName>
                                        </p:attrNameLst>
                                      </p:cBhvr>
                                      <p:to>
                                        <p:strVal val="visible"/>
                                      </p:to>
                                    </p:set>
                                    <p:animEffect transition="in" filter="blinds(horizontal)">
                                      <p:cBhvr>
                                        <p:cTn id="34" dur="500"/>
                                        <p:tgtEl>
                                          <p:spTgt spid="129027">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29027">
                                            <p:txEl>
                                              <p:pRg st="8" end="8"/>
                                            </p:txEl>
                                          </p:spTgt>
                                        </p:tgtEl>
                                        <p:attrNameLst>
                                          <p:attrName>style.visibility</p:attrName>
                                        </p:attrNameLst>
                                      </p:cBhvr>
                                      <p:to>
                                        <p:strVal val="visible"/>
                                      </p:to>
                                    </p:set>
                                    <p:animEffect transition="in" filter="blinds(horizontal)">
                                      <p:cBhvr>
                                        <p:cTn id="39" dur="500"/>
                                        <p:tgtEl>
                                          <p:spTgt spid="129027">
                                            <p:txEl>
                                              <p:pRg st="8" end="8"/>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29027">
                                            <p:txEl>
                                              <p:pRg st="9" end="9"/>
                                            </p:txEl>
                                          </p:spTgt>
                                        </p:tgtEl>
                                        <p:attrNameLst>
                                          <p:attrName>style.visibility</p:attrName>
                                        </p:attrNameLst>
                                      </p:cBhvr>
                                      <p:to>
                                        <p:strVal val="visible"/>
                                      </p:to>
                                    </p:set>
                                    <p:animEffect transition="in" filter="blinds(horizontal)">
                                      <p:cBhvr>
                                        <p:cTn id="42" dur="500"/>
                                        <p:tgtEl>
                                          <p:spTgt spid="12902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GB" dirty="0"/>
              <a:t>Data Distribution and Use</a:t>
            </a:r>
            <a:endParaRPr lang="en-US" dirty="0"/>
          </a:p>
        </p:txBody>
      </p:sp>
      <p:sp>
        <p:nvSpPr>
          <p:cNvPr id="130051" name="Rectangle 3"/>
          <p:cNvSpPr>
            <a:spLocks noGrp="1" noChangeArrowheads="1"/>
          </p:cNvSpPr>
          <p:nvPr>
            <p:ph idx="1"/>
          </p:nvPr>
        </p:nvSpPr>
        <p:spPr/>
        <p:txBody>
          <a:bodyPr/>
          <a:lstStyle/>
          <a:p>
            <a:pPr eaLnBrk="1" hangingPunct="1">
              <a:lnSpc>
                <a:spcPct val="110000"/>
              </a:lnSpc>
            </a:pPr>
            <a:r>
              <a:rPr lang="en-GB" sz="2100" dirty="0"/>
              <a:t>Data is only useful if it reaches the right users in a timely fashion in the right format</a:t>
            </a:r>
          </a:p>
          <a:p>
            <a:pPr eaLnBrk="1" hangingPunct="1">
              <a:lnSpc>
                <a:spcPct val="110000"/>
              </a:lnSpc>
            </a:pPr>
            <a:r>
              <a:rPr lang="en-GB" sz="2100" dirty="0"/>
              <a:t>Time consuming in typical applications programming environment</a:t>
            </a:r>
          </a:p>
          <a:p>
            <a:pPr eaLnBrk="1" hangingPunct="1">
              <a:lnSpc>
                <a:spcPct val="110000"/>
              </a:lnSpc>
            </a:pPr>
            <a:r>
              <a:rPr lang="en-GB" sz="2100" dirty="0"/>
              <a:t>Internet has opened databases to corporate users</a:t>
            </a:r>
          </a:p>
          <a:p>
            <a:pPr lvl="1" eaLnBrk="1" hangingPunct="1">
              <a:lnSpc>
                <a:spcPct val="110000"/>
              </a:lnSpc>
            </a:pPr>
            <a:r>
              <a:rPr lang="en-GB" sz="1800" dirty="0"/>
              <a:t>Make use of more sophisticated query tools</a:t>
            </a:r>
          </a:p>
          <a:p>
            <a:pPr lvl="1" eaLnBrk="1" hangingPunct="1">
              <a:lnSpc>
                <a:spcPct val="110000"/>
              </a:lnSpc>
            </a:pPr>
            <a:r>
              <a:rPr lang="en-GB" sz="1800" dirty="0"/>
              <a:t>Make use of Internet web front ends</a:t>
            </a:r>
          </a:p>
          <a:p>
            <a:pPr lvl="1" eaLnBrk="1" hangingPunct="1">
              <a:lnSpc>
                <a:spcPct val="110000"/>
              </a:lnSpc>
            </a:pPr>
            <a:r>
              <a:rPr lang="en-GB" sz="1800" dirty="0"/>
              <a:t>Reduce dependency on application programmers </a:t>
            </a:r>
          </a:p>
          <a:p>
            <a:pPr eaLnBrk="1" hangingPunct="1">
              <a:lnSpc>
                <a:spcPct val="110000"/>
              </a:lnSpc>
            </a:pPr>
            <a:r>
              <a:rPr lang="en-GB" sz="2100" dirty="0"/>
              <a:t>DBA must enforce procedures and standards</a:t>
            </a:r>
          </a:p>
          <a:p>
            <a:pPr eaLnBrk="1" hangingPunct="1">
              <a:lnSpc>
                <a:spcPct val="80000"/>
              </a:lnSpc>
            </a:pPr>
            <a:endParaRPr lang="en-US" sz="2000" dirty="0"/>
          </a:p>
        </p:txBody>
      </p:sp>
    </p:spTree>
    <p:custDataLst>
      <p:tags r:id="rId1"/>
    </p:custDataLst>
  </p:cSld>
  <p:clrMapOvr>
    <a:masterClrMapping/>
  </p:clrMapOvr>
  <p:transition advTm="218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0051">
                                            <p:txEl>
                                              <p:pRg st="0" end="0"/>
                                            </p:txEl>
                                          </p:spTgt>
                                        </p:tgtEl>
                                        <p:attrNameLst>
                                          <p:attrName>style.visibility</p:attrName>
                                        </p:attrNameLst>
                                      </p:cBhvr>
                                      <p:to>
                                        <p:strVal val="visible"/>
                                      </p:to>
                                    </p:set>
                                    <p:animEffect transition="in" filter="blinds(horizontal)">
                                      <p:cBhvr>
                                        <p:cTn id="7" dur="500"/>
                                        <p:tgtEl>
                                          <p:spTgt spid="1300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0051">
                                            <p:txEl>
                                              <p:pRg st="1" end="1"/>
                                            </p:txEl>
                                          </p:spTgt>
                                        </p:tgtEl>
                                        <p:attrNameLst>
                                          <p:attrName>style.visibility</p:attrName>
                                        </p:attrNameLst>
                                      </p:cBhvr>
                                      <p:to>
                                        <p:strVal val="visible"/>
                                      </p:to>
                                    </p:set>
                                    <p:animEffect transition="in" filter="blinds(horizontal)">
                                      <p:cBhvr>
                                        <p:cTn id="12" dur="500"/>
                                        <p:tgtEl>
                                          <p:spTgt spid="1300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0051">
                                            <p:txEl>
                                              <p:pRg st="2" end="2"/>
                                            </p:txEl>
                                          </p:spTgt>
                                        </p:tgtEl>
                                        <p:attrNameLst>
                                          <p:attrName>style.visibility</p:attrName>
                                        </p:attrNameLst>
                                      </p:cBhvr>
                                      <p:to>
                                        <p:strVal val="visible"/>
                                      </p:to>
                                    </p:set>
                                    <p:animEffect transition="in" filter="blinds(horizontal)">
                                      <p:cBhvr>
                                        <p:cTn id="17" dur="500"/>
                                        <p:tgtEl>
                                          <p:spTgt spid="130051">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30051">
                                            <p:txEl>
                                              <p:pRg st="3" end="3"/>
                                            </p:txEl>
                                          </p:spTgt>
                                        </p:tgtEl>
                                        <p:attrNameLst>
                                          <p:attrName>style.visibility</p:attrName>
                                        </p:attrNameLst>
                                      </p:cBhvr>
                                      <p:to>
                                        <p:strVal val="visible"/>
                                      </p:to>
                                    </p:set>
                                    <p:animEffect transition="in" filter="blinds(horizontal)">
                                      <p:cBhvr>
                                        <p:cTn id="20" dur="500"/>
                                        <p:tgtEl>
                                          <p:spTgt spid="130051">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30051">
                                            <p:txEl>
                                              <p:pRg st="4" end="4"/>
                                            </p:txEl>
                                          </p:spTgt>
                                        </p:tgtEl>
                                        <p:attrNameLst>
                                          <p:attrName>style.visibility</p:attrName>
                                        </p:attrNameLst>
                                      </p:cBhvr>
                                      <p:to>
                                        <p:strVal val="visible"/>
                                      </p:to>
                                    </p:set>
                                    <p:animEffect transition="in" filter="blinds(horizontal)">
                                      <p:cBhvr>
                                        <p:cTn id="23" dur="500"/>
                                        <p:tgtEl>
                                          <p:spTgt spid="130051">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30051">
                                            <p:txEl>
                                              <p:pRg st="5" end="5"/>
                                            </p:txEl>
                                          </p:spTgt>
                                        </p:tgtEl>
                                        <p:attrNameLst>
                                          <p:attrName>style.visibility</p:attrName>
                                        </p:attrNameLst>
                                      </p:cBhvr>
                                      <p:to>
                                        <p:strVal val="visible"/>
                                      </p:to>
                                    </p:set>
                                    <p:animEffect transition="in" filter="blinds(horizontal)">
                                      <p:cBhvr>
                                        <p:cTn id="26" dur="500"/>
                                        <p:tgtEl>
                                          <p:spTgt spid="130051">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30051">
                                            <p:txEl>
                                              <p:pRg st="6" end="6"/>
                                            </p:txEl>
                                          </p:spTgt>
                                        </p:tgtEl>
                                        <p:attrNameLst>
                                          <p:attrName>style.visibility</p:attrName>
                                        </p:attrNameLst>
                                      </p:cBhvr>
                                      <p:to>
                                        <p:strVal val="visible"/>
                                      </p:to>
                                    </p:set>
                                    <p:animEffect transition="in" filter="blinds(horizontal)">
                                      <p:cBhvr>
                                        <p:cTn id="31" dur="500"/>
                                        <p:tgtEl>
                                          <p:spTgt spid="1300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GB" sz="3200" dirty="0"/>
              <a:t>Design and Implementation of Databases and Applications</a:t>
            </a:r>
            <a:endParaRPr lang="en-US" sz="3200" dirty="0"/>
          </a:p>
        </p:txBody>
      </p:sp>
      <p:sp>
        <p:nvSpPr>
          <p:cNvPr id="132099" name="Rectangle 3"/>
          <p:cNvSpPr>
            <a:spLocks noGrp="1" noChangeArrowheads="1"/>
          </p:cNvSpPr>
          <p:nvPr>
            <p:ph idx="1"/>
          </p:nvPr>
        </p:nvSpPr>
        <p:spPr/>
        <p:txBody>
          <a:bodyPr/>
          <a:lstStyle/>
          <a:p>
            <a:pPr eaLnBrk="1" hangingPunct="1">
              <a:lnSpc>
                <a:spcPct val="90000"/>
              </a:lnSpc>
            </a:pPr>
            <a:r>
              <a:rPr lang="en-GB" sz="2800"/>
              <a:t>DBA provides data modelling and design services to the end-user community</a:t>
            </a:r>
          </a:p>
          <a:p>
            <a:pPr eaLnBrk="1" hangingPunct="1">
              <a:lnSpc>
                <a:spcPct val="90000"/>
              </a:lnSpc>
            </a:pPr>
            <a:r>
              <a:rPr lang="en-GB" sz="2800"/>
              <a:t>Implementation of the physical database</a:t>
            </a:r>
          </a:p>
          <a:p>
            <a:pPr eaLnBrk="1" hangingPunct="1">
              <a:lnSpc>
                <a:spcPct val="90000"/>
              </a:lnSpc>
            </a:pPr>
            <a:r>
              <a:rPr lang="en-GB" sz="2800"/>
              <a:t>Develop test and implement the operational procedures required by new system</a:t>
            </a:r>
          </a:p>
          <a:p>
            <a:pPr lvl="1" eaLnBrk="1" hangingPunct="1">
              <a:lnSpc>
                <a:spcPct val="90000"/>
              </a:lnSpc>
            </a:pPr>
            <a:r>
              <a:rPr lang="en-GB" sz="2600"/>
              <a:t>Training, security and backup and recovery plans</a:t>
            </a:r>
          </a:p>
          <a:p>
            <a:pPr lvl="1" eaLnBrk="1" hangingPunct="1">
              <a:lnSpc>
                <a:spcPct val="90000"/>
              </a:lnSpc>
            </a:pPr>
            <a:r>
              <a:rPr lang="en-GB" sz="2600"/>
              <a:t>Assigning responsibility for database control and maintenance</a:t>
            </a:r>
          </a:p>
          <a:p>
            <a:pPr lvl="1" eaLnBrk="1" hangingPunct="1">
              <a:lnSpc>
                <a:spcPct val="90000"/>
              </a:lnSpc>
            </a:pPr>
            <a:r>
              <a:rPr lang="en-GB" sz="2600"/>
              <a:t>Authorise application of users to access database</a:t>
            </a:r>
          </a:p>
          <a:p>
            <a:pPr lvl="1" eaLnBrk="1" hangingPunct="1">
              <a:lnSpc>
                <a:spcPct val="90000"/>
              </a:lnSpc>
            </a:pPr>
            <a:r>
              <a:rPr lang="en-GB" sz="2600"/>
              <a:t>Fine tuning and/or reconfiguration of DBMS</a:t>
            </a:r>
          </a:p>
          <a:p>
            <a:pPr eaLnBrk="1" hangingPunct="1">
              <a:lnSpc>
                <a:spcPct val="90000"/>
              </a:lnSpc>
            </a:pPr>
            <a:endParaRPr lang="en-US"/>
          </a:p>
        </p:txBody>
      </p:sp>
    </p:spTree>
    <p:custDataLst>
      <p:tags r:id="rId1"/>
    </p:custDataLst>
  </p:cSld>
  <p:clrMapOvr>
    <a:masterClrMapping/>
  </p:clrMapOvr>
  <p:transition advTm="218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2099">
                                            <p:txEl>
                                              <p:pRg st="0" end="0"/>
                                            </p:txEl>
                                          </p:spTgt>
                                        </p:tgtEl>
                                        <p:attrNameLst>
                                          <p:attrName>style.visibility</p:attrName>
                                        </p:attrNameLst>
                                      </p:cBhvr>
                                      <p:to>
                                        <p:strVal val="visible"/>
                                      </p:to>
                                    </p:set>
                                    <p:animEffect transition="in" filter="blinds(horizontal)">
                                      <p:cBhvr>
                                        <p:cTn id="7" dur="500"/>
                                        <p:tgtEl>
                                          <p:spTgt spid="132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2099">
                                            <p:txEl>
                                              <p:pRg st="1" end="1"/>
                                            </p:txEl>
                                          </p:spTgt>
                                        </p:tgtEl>
                                        <p:attrNameLst>
                                          <p:attrName>style.visibility</p:attrName>
                                        </p:attrNameLst>
                                      </p:cBhvr>
                                      <p:to>
                                        <p:strVal val="visible"/>
                                      </p:to>
                                    </p:set>
                                    <p:animEffect transition="in" filter="blinds(horizontal)">
                                      <p:cBhvr>
                                        <p:cTn id="12" dur="500"/>
                                        <p:tgtEl>
                                          <p:spTgt spid="132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2099">
                                            <p:txEl>
                                              <p:pRg st="2" end="2"/>
                                            </p:txEl>
                                          </p:spTgt>
                                        </p:tgtEl>
                                        <p:attrNameLst>
                                          <p:attrName>style.visibility</p:attrName>
                                        </p:attrNameLst>
                                      </p:cBhvr>
                                      <p:to>
                                        <p:strVal val="visible"/>
                                      </p:to>
                                    </p:set>
                                    <p:animEffect transition="in" filter="blinds(horizontal)">
                                      <p:cBhvr>
                                        <p:cTn id="17" dur="500"/>
                                        <p:tgtEl>
                                          <p:spTgt spid="132099">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32099">
                                            <p:txEl>
                                              <p:pRg st="3" end="3"/>
                                            </p:txEl>
                                          </p:spTgt>
                                        </p:tgtEl>
                                        <p:attrNameLst>
                                          <p:attrName>style.visibility</p:attrName>
                                        </p:attrNameLst>
                                      </p:cBhvr>
                                      <p:to>
                                        <p:strVal val="visible"/>
                                      </p:to>
                                    </p:set>
                                    <p:animEffect transition="in" filter="blinds(horizontal)">
                                      <p:cBhvr>
                                        <p:cTn id="20" dur="500"/>
                                        <p:tgtEl>
                                          <p:spTgt spid="132099">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32099">
                                            <p:txEl>
                                              <p:pRg st="4" end="4"/>
                                            </p:txEl>
                                          </p:spTgt>
                                        </p:tgtEl>
                                        <p:attrNameLst>
                                          <p:attrName>style.visibility</p:attrName>
                                        </p:attrNameLst>
                                      </p:cBhvr>
                                      <p:to>
                                        <p:strVal val="visible"/>
                                      </p:to>
                                    </p:set>
                                    <p:animEffect transition="in" filter="blinds(horizontal)">
                                      <p:cBhvr>
                                        <p:cTn id="23" dur="500"/>
                                        <p:tgtEl>
                                          <p:spTgt spid="132099">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32099">
                                            <p:txEl>
                                              <p:pRg st="5" end="5"/>
                                            </p:txEl>
                                          </p:spTgt>
                                        </p:tgtEl>
                                        <p:attrNameLst>
                                          <p:attrName>style.visibility</p:attrName>
                                        </p:attrNameLst>
                                      </p:cBhvr>
                                      <p:to>
                                        <p:strVal val="visible"/>
                                      </p:to>
                                    </p:set>
                                    <p:animEffect transition="in" filter="blinds(horizontal)">
                                      <p:cBhvr>
                                        <p:cTn id="26" dur="500"/>
                                        <p:tgtEl>
                                          <p:spTgt spid="132099">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32099">
                                            <p:txEl>
                                              <p:pRg st="6" end="6"/>
                                            </p:txEl>
                                          </p:spTgt>
                                        </p:tgtEl>
                                        <p:attrNameLst>
                                          <p:attrName>style.visibility</p:attrName>
                                        </p:attrNameLst>
                                      </p:cBhvr>
                                      <p:to>
                                        <p:strVal val="visible"/>
                                      </p:to>
                                    </p:set>
                                    <p:animEffect transition="in" filter="blinds(horizontal)">
                                      <p:cBhvr>
                                        <p:cTn id="29" dur="500"/>
                                        <p:tgtEl>
                                          <p:spTgt spid="1320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GB"/>
              <a:t>Authorisation Management</a:t>
            </a:r>
            <a:endParaRPr lang="en-US"/>
          </a:p>
        </p:txBody>
      </p:sp>
      <p:sp>
        <p:nvSpPr>
          <p:cNvPr id="133123" name="Rectangle 3"/>
          <p:cNvSpPr>
            <a:spLocks noGrp="1" noChangeArrowheads="1"/>
          </p:cNvSpPr>
          <p:nvPr>
            <p:ph idx="1"/>
          </p:nvPr>
        </p:nvSpPr>
        <p:spPr/>
        <p:txBody>
          <a:bodyPr/>
          <a:lstStyle/>
          <a:p>
            <a:pPr eaLnBrk="1" hangingPunct="1">
              <a:lnSpc>
                <a:spcPct val="90000"/>
              </a:lnSpc>
            </a:pPr>
            <a:r>
              <a:rPr lang="en-GB" sz="2000"/>
              <a:t>User Access Management </a:t>
            </a:r>
          </a:p>
          <a:p>
            <a:pPr lvl="1" eaLnBrk="1" hangingPunct="1">
              <a:lnSpc>
                <a:spcPct val="90000"/>
              </a:lnSpc>
            </a:pPr>
            <a:r>
              <a:rPr lang="en-GB" sz="1800"/>
              <a:t>Define each user to the database</a:t>
            </a:r>
          </a:p>
          <a:p>
            <a:pPr lvl="1" eaLnBrk="1" hangingPunct="1">
              <a:lnSpc>
                <a:spcPct val="90000"/>
              </a:lnSpc>
            </a:pPr>
            <a:r>
              <a:rPr lang="en-GB" sz="1800"/>
              <a:t>Assign passwords to each user</a:t>
            </a:r>
          </a:p>
          <a:p>
            <a:pPr lvl="1" eaLnBrk="1" hangingPunct="1">
              <a:lnSpc>
                <a:spcPct val="90000"/>
              </a:lnSpc>
            </a:pPr>
            <a:r>
              <a:rPr lang="en-GB" sz="1800"/>
              <a:t>Define user groups</a:t>
            </a:r>
          </a:p>
          <a:p>
            <a:pPr lvl="1" eaLnBrk="1" hangingPunct="1">
              <a:lnSpc>
                <a:spcPct val="90000"/>
              </a:lnSpc>
            </a:pPr>
            <a:r>
              <a:rPr lang="en-GB" sz="1800"/>
              <a:t>Assign access privileges</a:t>
            </a:r>
          </a:p>
          <a:p>
            <a:pPr lvl="1" eaLnBrk="1" hangingPunct="1">
              <a:lnSpc>
                <a:spcPct val="90000"/>
              </a:lnSpc>
            </a:pPr>
            <a:r>
              <a:rPr lang="en-GB" sz="1800"/>
              <a:t>Physical access control</a:t>
            </a:r>
          </a:p>
          <a:p>
            <a:pPr eaLnBrk="1" hangingPunct="1">
              <a:lnSpc>
                <a:spcPct val="90000"/>
              </a:lnSpc>
            </a:pPr>
            <a:r>
              <a:rPr lang="en-GB" sz="2000"/>
              <a:t>View definition</a:t>
            </a:r>
          </a:p>
          <a:p>
            <a:pPr lvl="1" eaLnBrk="1" hangingPunct="1">
              <a:lnSpc>
                <a:spcPct val="90000"/>
              </a:lnSpc>
            </a:pPr>
            <a:r>
              <a:rPr lang="en-GB" sz="1800"/>
              <a:t>Define data views to protect and control the scope of the data that are accessible to users</a:t>
            </a:r>
          </a:p>
          <a:p>
            <a:pPr eaLnBrk="1" hangingPunct="1">
              <a:lnSpc>
                <a:spcPct val="90000"/>
              </a:lnSpc>
            </a:pPr>
            <a:r>
              <a:rPr lang="en-GB" sz="2000"/>
              <a:t>DBMS utilities access control</a:t>
            </a:r>
          </a:p>
          <a:p>
            <a:pPr lvl="1" eaLnBrk="1" hangingPunct="1">
              <a:lnSpc>
                <a:spcPct val="90000"/>
              </a:lnSpc>
            </a:pPr>
            <a:r>
              <a:rPr lang="en-GB" sz="1800"/>
              <a:t>Placing limits on the use of query and reporting tools</a:t>
            </a:r>
          </a:p>
          <a:p>
            <a:pPr eaLnBrk="1" hangingPunct="1">
              <a:lnSpc>
                <a:spcPct val="90000"/>
              </a:lnSpc>
            </a:pPr>
            <a:r>
              <a:rPr lang="en-GB" sz="2000"/>
              <a:t>DBMS usage monitoring</a:t>
            </a:r>
          </a:p>
          <a:p>
            <a:pPr lvl="1" eaLnBrk="1" hangingPunct="1">
              <a:lnSpc>
                <a:spcPct val="90000"/>
              </a:lnSpc>
            </a:pPr>
            <a:r>
              <a:rPr lang="en-GB" sz="1800"/>
              <a:t>Audit the use of the data in the database. </a:t>
            </a:r>
          </a:p>
          <a:p>
            <a:pPr lvl="1" eaLnBrk="1" hangingPunct="1">
              <a:lnSpc>
                <a:spcPct val="90000"/>
              </a:lnSpc>
            </a:pPr>
            <a:r>
              <a:rPr lang="en-GB" sz="1800"/>
              <a:t>Create an audit log</a:t>
            </a:r>
          </a:p>
          <a:p>
            <a:pPr eaLnBrk="1" hangingPunct="1">
              <a:lnSpc>
                <a:spcPct val="90000"/>
              </a:lnSpc>
            </a:pPr>
            <a:endParaRPr lang="en-US" sz="2400"/>
          </a:p>
        </p:txBody>
      </p:sp>
    </p:spTree>
    <p:custDataLst>
      <p:tags r:id="rId1"/>
    </p:custDataLst>
  </p:cSld>
  <p:clrMapOvr>
    <a:masterClrMapping/>
  </p:clrMapOvr>
  <p:transition advTm="296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animEffect transition="in" filter="blinds(horizontal)">
                                      <p:cBhvr>
                                        <p:cTn id="7" dur="500"/>
                                        <p:tgtEl>
                                          <p:spTgt spid="13312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3123">
                                            <p:txEl>
                                              <p:pRg st="1" end="1"/>
                                            </p:txEl>
                                          </p:spTgt>
                                        </p:tgtEl>
                                        <p:attrNameLst>
                                          <p:attrName>style.visibility</p:attrName>
                                        </p:attrNameLst>
                                      </p:cBhvr>
                                      <p:to>
                                        <p:strVal val="visible"/>
                                      </p:to>
                                    </p:set>
                                    <p:animEffect transition="in" filter="blinds(horizontal)">
                                      <p:cBhvr>
                                        <p:cTn id="10" dur="500"/>
                                        <p:tgtEl>
                                          <p:spTgt spid="13312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33123">
                                            <p:txEl>
                                              <p:pRg st="2" end="2"/>
                                            </p:txEl>
                                          </p:spTgt>
                                        </p:tgtEl>
                                        <p:attrNameLst>
                                          <p:attrName>style.visibility</p:attrName>
                                        </p:attrNameLst>
                                      </p:cBhvr>
                                      <p:to>
                                        <p:strVal val="visible"/>
                                      </p:to>
                                    </p:set>
                                    <p:animEffect transition="in" filter="blinds(horizontal)">
                                      <p:cBhvr>
                                        <p:cTn id="13" dur="500"/>
                                        <p:tgtEl>
                                          <p:spTgt spid="13312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33123">
                                            <p:txEl>
                                              <p:pRg st="3" end="3"/>
                                            </p:txEl>
                                          </p:spTgt>
                                        </p:tgtEl>
                                        <p:attrNameLst>
                                          <p:attrName>style.visibility</p:attrName>
                                        </p:attrNameLst>
                                      </p:cBhvr>
                                      <p:to>
                                        <p:strVal val="visible"/>
                                      </p:to>
                                    </p:set>
                                    <p:animEffect transition="in" filter="blinds(horizontal)">
                                      <p:cBhvr>
                                        <p:cTn id="16" dur="500"/>
                                        <p:tgtEl>
                                          <p:spTgt spid="133123">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33123">
                                            <p:txEl>
                                              <p:pRg st="4" end="4"/>
                                            </p:txEl>
                                          </p:spTgt>
                                        </p:tgtEl>
                                        <p:attrNameLst>
                                          <p:attrName>style.visibility</p:attrName>
                                        </p:attrNameLst>
                                      </p:cBhvr>
                                      <p:to>
                                        <p:strVal val="visible"/>
                                      </p:to>
                                    </p:set>
                                    <p:animEffect transition="in" filter="blinds(horizontal)">
                                      <p:cBhvr>
                                        <p:cTn id="19" dur="500"/>
                                        <p:tgtEl>
                                          <p:spTgt spid="133123">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33123">
                                            <p:txEl>
                                              <p:pRg st="5" end="5"/>
                                            </p:txEl>
                                          </p:spTgt>
                                        </p:tgtEl>
                                        <p:attrNameLst>
                                          <p:attrName>style.visibility</p:attrName>
                                        </p:attrNameLst>
                                      </p:cBhvr>
                                      <p:to>
                                        <p:strVal val="visible"/>
                                      </p:to>
                                    </p:set>
                                    <p:animEffect transition="in" filter="blinds(horizontal)">
                                      <p:cBhvr>
                                        <p:cTn id="22" dur="500"/>
                                        <p:tgtEl>
                                          <p:spTgt spid="13312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3123">
                                            <p:txEl>
                                              <p:pRg st="6" end="6"/>
                                            </p:txEl>
                                          </p:spTgt>
                                        </p:tgtEl>
                                        <p:attrNameLst>
                                          <p:attrName>style.visibility</p:attrName>
                                        </p:attrNameLst>
                                      </p:cBhvr>
                                      <p:to>
                                        <p:strVal val="visible"/>
                                      </p:to>
                                    </p:set>
                                    <p:animEffect transition="in" filter="blinds(horizontal)">
                                      <p:cBhvr>
                                        <p:cTn id="27" dur="500"/>
                                        <p:tgtEl>
                                          <p:spTgt spid="133123">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33123">
                                            <p:txEl>
                                              <p:pRg st="7" end="7"/>
                                            </p:txEl>
                                          </p:spTgt>
                                        </p:tgtEl>
                                        <p:attrNameLst>
                                          <p:attrName>style.visibility</p:attrName>
                                        </p:attrNameLst>
                                      </p:cBhvr>
                                      <p:to>
                                        <p:strVal val="visible"/>
                                      </p:to>
                                    </p:set>
                                    <p:animEffect transition="in" filter="blinds(horizontal)">
                                      <p:cBhvr>
                                        <p:cTn id="30" dur="500"/>
                                        <p:tgtEl>
                                          <p:spTgt spid="13312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33123">
                                            <p:txEl>
                                              <p:pRg st="8" end="8"/>
                                            </p:txEl>
                                          </p:spTgt>
                                        </p:tgtEl>
                                        <p:attrNameLst>
                                          <p:attrName>style.visibility</p:attrName>
                                        </p:attrNameLst>
                                      </p:cBhvr>
                                      <p:to>
                                        <p:strVal val="visible"/>
                                      </p:to>
                                    </p:set>
                                    <p:animEffect transition="in" filter="blinds(horizontal)">
                                      <p:cBhvr>
                                        <p:cTn id="35" dur="500"/>
                                        <p:tgtEl>
                                          <p:spTgt spid="133123">
                                            <p:txEl>
                                              <p:pRg st="8" end="8"/>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33123">
                                            <p:txEl>
                                              <p:pRg st="9" end="9"/>
                                            </p:txEl>
                                          </p:spTgt>
                                        </p:tgtEl>
                                        <p:attrNameLst>
                                          <p:attrName>style.visibility</p:attrName>
                                        </p:attrNameLst>
                                      </p:cBhvr>
                                      <p:to>
                                        <p:strVal val="visible"/>
                                      </p:to>
                                    </p:set>
                                    <p:animEffect transition="in" filter="blinds(horizontal)">
                                      <p:cBhvr>
                                        <p:cTn id="38" dur="500"/>
                                        <p:tgtEl>
                                          <p:spTgt spid="133123">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33123">
                                            <p:txEl>
                                              <p:pRg st="10" end="10"/>
                                            </p:txEl>
                                          </p:spTgt>
                                        </p:tgtEl>
                                        <p:attrNameLst>
                                          <p:attrName>style.visibility</p:attrName>
                                        </p:attrNameLst>
                                      </p:cBhvr>
                                      <p:to>
                                        <p:strVal val="visible"/>
                                      </p:to>
                                    </p:set>
                                    <p:animEffect transition="in" filter="blinds(horizontal)">
                                      <p:cBhvr>
                                        <p:cTn id="43" dur="500"/>
                                        <p:tgtEl>
                                          <p:spTgt spid="133123">
                                            <p:txEl>
                                              <p:pRg st="10" end="10"/>
                                            </p:txEl>
                                          </p:spTgt>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33123">
                                            <p:txEl>
                                              <p:pRg st="11" end="11"/>
                                            </p:txEl>
                                          </p:spTgt>
                                        </p:tgtEl>
                                        <p:attrNameLst>
                                          <p:attrName>style.visibility</p:attrName>
                                        </p:attrNameLst>
                                      </p:cBhvr>
                                      <p:to>
                                        <p:strVal val="visible"/>
                                      </p:to>
                                    </p:set>
                                    <p:animEffect transition="in" filter="blinds(horizontal)">
                                      <p:cBhvr>
                                        <p:cTn id="46" dur="500"/>
                                        <p:tgtEl>
                                          <p:spTgt spid="133123">
                                            <p:txEl>
                                              <p:pRg st="11" end="11"/>
                                            </p:txEl>
                                          </p:spTgt>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33123">
                                            <p:txEl>
                                              <p:pRg st="12" end="12"/>
                                            </p:txEl>
                                          </p:spTgt>
                                        </p:tgtEl>
                                        <p:attrNameLst>
                                          <p:attrName>style.visibility</p:attrName>
                                        </p:attrNameLst>
                                      </p:cBhvr>
                                      <p:to>
                                        <p:strVal val="visible"/>
                                      </p:to>
                                    </p:set>
                                    <p:animEffect transition="in" filter="blinds(horizontal)">
                                      <p:cBhvr>
                                        <p:cTn id="49" dur="500"/>
                                        <p:tgtEl>
                                          <p:spTgt spid="13312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GB" sz="3200"/>
              <a:t>Contrasting DA and DBA Activities and Characteristics</a:t>
            </a:r>
            <a:endParaRPr lang="en-US" sz="3200"/>
          </a:p>
        </p:txBody>
      </p:sp>
      <p:graphicFrame>
        <p:nvGraphicFramePr>
          <p:cNvPr id="116770" name="Group 34"/>
          <p:cNvGraphicFramePr>
            <a:graphicFrameLocks noGrp="1"/>
          </p:cNvGraphicFramePr>
          <p:nvPr>
            <p:ph type="tbl" idx="1"/>
          </p:nvPr>
        </p:nvGraphicFramePr>
        <p:xfrm>
          <a:off x="2011363" y="1697038"/>
          <a:ext cx="8229600" cy="4525962"/>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413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200" b="1" i="0" u="none" strike="noStrike" cap="none" normalizeH="0" baseline="0">
                          <a:ln>
                            <a:noFill/>
                          </a:ln>
                          <a:solidFill>
                            <a:schemeClr val="tx1"/>
                          </a:solidFill>
                          <a:effectLst/>
                          <a:latin typeface="Arial" charset="0"/>
                        </a:rPr>
                        <a:t>DA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200" b="1" i="0" u="none" strike="noStrike" cap="none" normalizeH="0" baseline="0">
                          <a:ln>
                            <a:noFill/>
                          </a:ln>
                          <a:solidFill>
                            <a:schemeClr val="tx1"/>
                          </a:solidFill>
                          <a:effectLst/>
                          <a:latin typeface="Arial" charset="0"/>
                        </a:rPr>
                        <a:t>DBA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13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Strategic planning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Control and supervision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13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Sets long term goals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Executes plans to reach goals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Sets policies and standards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Enforces policies and procedures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Enforces programming standards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13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Broad scope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Narrow scope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82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Long term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Short term focus on daily operations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13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Managerial Orientation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Technical orientation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413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DBMS independent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Arial" charset="0"/>
                        </a:rPr>
                        <a:t>DBMS specific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ransition advTm="822"/>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0056" y="1378880"/>
            <a:ext cx="7934325" cy="3744685"/>
          </a:xfrm>
        </p:spPr>
        <p:txBody>
          <a:bodyPr/>
          <a:lstStyle/>
          <a:p>
            <a:r>
              <a:rPr lang="en-US" sz="9600" dirty="0"/>
              <a:t>Q &amp; A</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9|1.2|2|1.4|.8|.9"/>
</p:tagLst>
</file>

<file path=ppt/tags/tag2.xml><?xml version="1.0" encoding="utf-8"?>
<p:tagLst xmlns:a="http://schemas.openxmlformats.org/drawingml/2006/main" xmlns:r="http://schemas.openxmlformats.org/officeDocument/2006/relationships" xmlns:p="http://schemas.openxmlformats.org/presentationml/2006/main">
  <p:tag name="TIMING" val="|.6|.5|.8"/>
</p:tagLst>
</file>

<file path=ppt/tags/tag3.xml><?xml version="1.0" encoding="utf-8"?>
<p:tagLst xmlns:a="http://schemas.openxmlformats.org/drawingml/2006/main" xmlns:r="http://schemas.openxmlformats.org/officeDocument/2006/relationships" xmlns:p="http://schemas.openxmlformats.org/presentationml/2006/main">
  <p:tag name="TIMING" val="|.6"/>
</p:tagLst>
</file>

<file path=ppt/tags/tag4.xml><?xml version="1.0" encoding="utf-8"?>
<p:tagLst xmlns:a="http://schemas.openxmlformats.org/drawingml/2006/main" xmlns:r="http://schemas.openxmlformats.org/officeDocument/2006/relationships" xmlns:p="http://schemas.openxmlformats.org/presentationml/2006/main">
  <p:tag name="TIMING" val="|.6|.8|.8|.7"/>
</p:tagLst>
</file>

<file path=ppt/tags/tag5.xml><?xml version="1.0" encoding="utf-8"?>
<p:tagLst xmlns:a="http://schemas.openxmlformats.org/drawingml/2006/main" xmlns:r="http://schemas.openxmlformats.org/officeDocument/2006/relationships" xmlns:p="http://schemas.openxmlformats.org/presentationml/2006/main">
  <p:tag name="TIMING" val="|.8|.7|.9|1.2"/>
</p:tagLst>
</file>

<file path=ppt/tags/tag6.xml><?xml version="1.0" encoding="utf-8"?>
<p:tagLst xmlns:a="http://schemas.openxmlformats.org/drawingml/2006/main" xmlns:r="http://schemas.openxmlformats.org/officeDocument/2006/relationships" xmlns:p="http://schemas.openxmlformats.org/presentationml/2006/main">
  <p:tag name="TIMING" val="|.5|1.1|1.1"/>
</p:tagLst>
</file>

<file path=ppt/tags/tag7.xml><?xml version="1.0" encoding="utf-8"?>
<p:tagLst xmlns:a="http://schemas.openxmlformats.org/drawingml/2006/main" xmlns:r="http://schemas.openxmlformats.org/officeDocument/2006/relationships" xmlns:p="http://schemas.openxmlformats.org/presentationml/2006/main">
  <p:tag name="TIMING" val="|.5|.7|.9"/>
</p:tagLst>
</file>

<file path=ppt/tags/tag8.xml><?xml version="1.0" encoding="utf-8"?>
<p:tagLst xmlns:a="http://schemas.openxmlformats.org/drawingml/2006/main" xmlns:r="http://schemas.openxmlformats.org/officeDocument/2006/relationships" xmlns:p="http://schemas.openxmlformats.org/presentationml/2006/main">
  <p:tag name="TIMING" val="|.4|.6|.6|.5|.5|.6|.6|1|1"/>
</p:tagLst>
</file>

<file path=ppt/tags/tag9.xml><?xml version="1.0" encoding="utf-8"?>
<p:tagLst xmlns:a="http://schemas.openxmlformats.org/drawingml/2006/main" xmlns:r="http://schemas.openxmlformats.org/officeDocument/2006/relationships" xmlns:p="http://schemas.openxmlformats.org/presentationml/2006/main">
  <p:tag name="TIMING" val="|.4|.5|.9|.6"/>
</p:tagLst>
</file>

<file path=ppt/tags/tag10.xml><?xml version="1.0" encoding="utf-8"?>
<p:tagLst xmlns:a="http://schemas.openxmlformats.org/drawingml/2006/main" xmlns:r="http://schemas.openxmlformats.org/officeDocument/2006/relationships" xmlns:p="http://schemas.openxmlformats.org/presentationml/2006/main">
  <p:tag name="TIMING" val="|.7"/>
</p:tagLst>
</file>

<file path=ppt/tags/tag11.xml><?xml version="1.0" encoding="utf-8"?>
<p:tagLst xmlns:a="http://schemas.openxmlformats.org/drawingml/2006/main" xmlns:r="http://schemas.openxmlformats.org/officeDocument/2006/relationships" xmlns:p="http://schemas.openxmlformats.org/presentationml/2006/main">
  <p:tag name="TIMING" val="|.3"/>
</p:tagLst>
</file>

<file path=ppt/tags/tag12.xml><?xml version="1.0" encoding="utf-8"?>
<p:tagLst xmlns:a="http://schemas.openxmlformats.org/drawingml/2006/main" xmlns:r="http://schemas.openxmlformats.org/officeDocument/2006/relationships" xmlns:p="http://schemas.openxmlformats.org/presentationml/2006/main">
  <p:tag name="TIMING" val="|.6|1.1|1.6|.6|.6|.7"/>
</p:tagLst>
</file>

<file path=ppt/tags/tag13.xml><?xml version="1.0" encoding="utf-8"?>
<p:tagLst xmlns:a="http://schemas.openxmlformats.org/drawingml/2006/main" xmlns:r="http://schemas.openxmlformats.org/officeDocument/2006/relationships" xmlns:p="http://schemas.openxmlformats.org/presentationml/2006/main">
  <p:tag name="TIMING" val="|.4"/>
</p:tagLst>
</file>

<file path=ppt/tags/tag14.xml><?xml version="1.0" encoding="utf-8"?>
<p:tagLst xmlns:a="http://schemas.openxmlformats.org/drawingml/2006/main" xmlns:r="http://schemas.openxmlformats.org/officeDocument/2006/relationships" xmlns:p="http://schemas.openxmlformats.org/presentationml/2006/main">
  <p:tag name="TIMING" val="|.5|.6|.5|.5"/>
</p:tagLst>
</file>

<file path=ppt/tags/tag15.xml><?xml version="1.0" encoding="utf-8"?>
<p:tagLst xmlns:a="http://schemas.openxmlformats.org/drawingml/2006/main" xmlns:r="http://schemas.openxmlformats.org/officeDocument/2006/relationships" xmlns:p="http://schemas.openxmlformats.org/presentationml/2006/main">
  <p:tag name="TIMING" val="|.4|.5|.6|72.8|1.3|4.8"/>
</p:tagLst>
</file>

<file path=ppt/tags/tag16.xml><?xml version="1.0" encoding="utf-8"?>
<p:tagLst xmlns:a="http://schemas.openxmlformats.org/drawingml/2006/main" xmlns:r="http://schemas.openxmlformats.org/officeDocument/2006/relationships" xmlns:p="http://schemas.openxmlformats.org/presentationml/2006/main">
  <p:tag name="TIMING" val="|.4|.1|.3|.5"/>
</p:tagLst>
</file>

<file path=ppt/tags/tag17.xml><?xml version="1.0" encoding="utf-8"?>
<p:tagLst xmlns:a="http://schemas.openxmlformats.org/drawingml/2006/main" xmlns:r="http://schemas.openxmlformats.org/officeDocument/2006/relationships" xmlns:p="http://schemas.openxmlformats.org/presentationml/2006/main">
  <p:tag name="TIMING" val="|.3|.4|.5"/>
</p:tagLst>
</file>

<file path=ppt/tags/tag18.xml><?xml version="1.0" encoding="utf-8"?>
<p:tagLst xmlns:a="http://schemas.openxmlformats.org/drawingml/2006/main" xmlns:r="http://schemas.openxmlformats.org/officeDocument/2006/relationships" xmlns:p="http://schemas.openxmlformats.org/presentationml/2006/main">
  <p:tag name="TIMING" val="|0|.5|.9|.5"/>
</p:tagLst>
</file>

<file path=ppt/theme/theme1.xml><?xml version="1.0" encoding="utf-8"?>
<a:theme xmlns:a="http://schemas.openxmlformats.org/drawingml/2006/main" name="UCTI-Template-foundation-level">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APU-2023">
      <a:dk1>
        <a:srgbClr val="081929"/>
      </a:dk1>
      <a:lt1>
        <a:srgbClr val="FFFFFF"/>
      </a:lt1>
      <a:dk2>
        <a:srgbClr val="0070C0"/>
      </a:dk2>
      <a:lt2>
        <a:srgbClr val="FFFFFF"/>
      </a:lt2>
      <a:accent1>
        <a:srgbClr val="00B0F0"/>
      </a:accent1>
      <a:accent2>
        <a:srgbClr val="99CC00"/>
      </a:accent2>
      <a:accent3>
        <a:srgbClr val="FF9966"/>
      </a:accent3>
      <a:accent4>
        <a:srgbClr val="45D7EA"/>
      </a:accent4>
      <a:accent5>
        <a:srgbClr val="CC66FF"/>
      </a:accent5>
      <a:accent6>
        <a:srgbClr val="FCE456"/>
      </a:accent6>
      <a:hlink>
        <a:srgbClr val="B7C6FE"/>
      </a:hlink>
      <a:folHlink>
        <a:srgbClr val="00B0F0"/>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0C09830CF6CB84B8D12D02B69700FAF" ma:contentTypeVersion="14" ma:contentTypeDescription="Create a new document." ma:contentTypeScope="" ma:versionID="91bb3fc2fda44f6dca498e4986d3c34f">
  <xsd:schema xmlns:xsd="http://www.w3.org/2001/XMLSchema" xmlns:xs="http://www.w3.org/2001/XMLSchema" xmlns:p="http://schemas.microsoft.com/office/2006/metadata/properties" xmlns:ns3="c0f90a4e-2534-4174-991f-0eb794d5b859" xmlns:ns4="d2981e9c-0c44-4237-a41f-50944ddb2e5d" targetNamespace="http://schemas.microsoft.com/office/2006/metadata/properties" ma:root="true" ma:fieldsID="d346f1bbf5bc0d23fe733b73729b7857" ns3:_="" ns4:_="">
    <xsd:import namespace="c0f90a4e-2534-4174-991f-0eb794d5b859"/>
    <xsd:import namespace="d2981e9c-0c44-4237-a41f-50944ddb2e5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OCR" minOccurs="0"/>
                <xsd:element ref="ns3:MediaServiceLocation"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f90a4e-2534-4174-991f-0eb794d5b8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981e9c-0c44-4237-a41f-50944ddb2e5d"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6039F5-814C-4C5B-A6B0-438D9C48FD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f90a4e-2534-4174-991f-0eb794d5b859"/>
    <ds:schemaRef ds:uri="d2981e9c-0c44-4237-a41f-50944ddb2e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ED3909F-E191-4C23-B23C-BA46B5ADDDA2}">
  <ds:schemaRefs>
    <ds:schemaRef ds:uri="http://purl.org/dc/terms/"/>
    <ds:schemaRef ds:uri="http://schemas.microsoft.com/office/2006/documentManagement/types"/>
    <ds:schemaRef ds:uri="d2981e9c-0c44-4237-a41f-50944ddb2e5d"/>
    <ds:schemaRef ds:uri="http://schemas.microsoft.com/office/infopath/2007/PartnerControls"/>
    <ds:schemaRef ds:uri="http://purl.org/dc/elements/1.1/"/>
    <ds:schemaRef ds:uri="http://schemas.microsoft.com/office/2006/metadata/properties"/>
    <ds:schemaRef ds:uri="c0f90a4e-2534-4174-991f-0eb794d5b859"/>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0374C82B-844E-4C6D-B41E-036AD4E59A6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1421</TotalTime>
  <Pages>11</Pages>
  <Words>2076</Words>
  <Application>Microsoft Office PowerPoint</Application>
  <PresentationFormat>Widescreen</PresentationFormat>
  <Paragraphs>251</Paragraphs>
  <Slides>21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Book Antiqua</vt:lpstr>
      <vt:lpstr>Calibri</vt:lpstr>
      <vt:lpstr>Montserrat</vt:lpstr>
      <vt:lpstr>PT Sans</vt:lpstr>
      <vt:lpstr>UCTI-Template-foundation-level</vt:lpstr>
      <vt:lpstr>PowerPoint Presentation</vt:lpstr>
      <vt:lpstr>Database Administration</vt:lpstr>
      <vt:lpstr>Database Administration</vt:lpstr>
      <vt:lpstr>Technological aspect</vt:lpstr>
      <vt:lpstr>Managerial Aspect</vt:lpstr>
      <vt:lpstr>Cultural Impact</vt:lpstr>
      <vt:lpstr>Evolution of the Database Administration Function</vt:lpstr>
      <vt:lpstr>Data and Database Administration</vt:lpstr>
      <vt:lpstr>Data Administrator (DA) Responsibilities </vt:lpstr>
      <vt:lpstr>Database Administrator - DBA</vt:lpstr>
      <vt:lpstr>DBA’s Responsibilities </vt:lpstr>
      <vt:lpstr>Selection of DBMS, Utilities and Hardware</vt:lpstr>
      <vt:lpstr>End User Support</vt:lpstr>
      <vt:lpstr>Policies, Procedures and Standards</vt:lpstr>
      <vt:lpstr>Data Security, Privacy and Integrity</vt:lpstr>
      <vt:lpstr>Data Backup and Recovery</vt:lpstr>
      <vt:lpstr>Data Distribution and Use</vt:lpstr>
      <vt:lpstr>Design and Implementation of Databases and Applications</vt:lpstr>
      <vt:lpstr>Authorisation Management</vt:lpstr>
      <vt:lpstr>Contrasting DA and DBA Activities and Characteristics</vt:lpstr>
      <vt:lpstr>Q &amp; A</vt:lpstr>
    </vt:vector>
  </TitlesOfParts>
  <Company>APU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Teaching Slides</dc:subject>
  <dc:creator>DBB</dc:creator>
  <cp:keywords>2023</cp:keywords>
  <cp:lastModifiedBy>Lai Chew Ping</cp:lastModifiedBy>
  <cp:revision>332</cp:revision>
  <cp:lastPrinted>2023-02-03T03:07:34Z</cp:lastPrinted>
  <dcterms:created xsi:type="dcterms:W3CDTF">2005-08-02T10:18:20Z</dcterms:created>
  <dcterms:modified xsi:type="dcterms:W3CDTF">2024-11-13T02:38:27Z</dcterms:modified>
  <cp:category>Teaching Slides</cp:category>
  <cp:contentStatus>2023 Version</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0x01010050C09830CF6CB84B8D12D02B69700FAF</vt:lpwstr>
  </property>
</Properties>
</file>