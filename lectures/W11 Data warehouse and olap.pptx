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4"/>
  </p:sldMasterIdLst>
  <p:notesMasterIdLst>
    <p:notesMasterId r:id="rId25"/>
  </p:notesMasterIdLst>
  <p:handoutMasterIdLst>
    <p:handoutMasterId r:id="rId26"/>
  </p:handoutMasterIdLst>
  <p:sldIdLst>
    <p:sldId id="695" r:id="rId5"/>
    <p:sldId id="697" r:id="rId6"/>
    <p:sldId id="698" r:id="rId7"/>
    <p:sldId id="559" r:id="rId8"/>
    <p:sldId id="560" r:id="rId9"/>
    <p:sldId id="561" r:id="rId10"/>
    <p:sldId id="562" r:id="rId11"/>
    <p:sldId id="564" r:id="rId12"/>
    <p:sldId id="563" r:id="rId13"/>
    <p:sldId id="699" r:id="rId14"/>
    <p:sldId id="455" r:id="rId15"/>
    <p:sldId id="565" r:id="rId16"/>
    <p:sldId id="680" r:id="rId17"/>
    <p:sldId id="700" r:id="rId18"/>
    <p:sldId id="701" r:id="rId19"/>
    <p:sldId id="588" r:id="rId20"/>
    <p:sldId id="681" r:id="rId21"/>
    <p:sldId id="703" r:id="rId22"/>
    <p:sldId id="630" r:id="rId23"/>
    <p:sldId id="696" r:id="rId24"/>
  </p:sldIdLst>
  <p:sldSz cx="12192000" cy="6858000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ekly Intro - White BG" id="{B4587B1E-BB88-4173-8339-2929187587A5}">
          <p14:sldIdLst>
            <p14:sldId id="695"/>
            <p14:sldId id="697"/>
            <p14:sldId id="698"/>
            <p14:sldId id="559"/>
            <p14:sldId id="560"/>
            <p14:sldId id="561"/>
            <p14:sldId id="562"/>
            <p14:sldId id="564"/>
            <p14:sldId id="563"/>
            <p14:sldId id="699"/>
            <p14:sldId id="455"/>
            <p14:sldId id="565"/>
            <p14:sldId id="680"/>
            <p14:sldId id="700"/>
            <p14:sldId id="701"/>
            <p14:sldId id="588"/>
            <p14:sldId id="681"/>
            <p14:sldId id="703"/>
            <p14:sldId id="630"/>
            <p14:sldId id="6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F1449"/>
    <a:srgbClr val="001B4D"/>
    <a:srgbClr val="FB6B53"/>
    <a:srgbClr val="FF6600"/>
    <a:srgbClr val="A2C1FE"/>
    <a:srgbClr val="A2FFA3"/>
    <a:srgbClr val="FFFF99"/>
    <a:srgbClr val="FFFF66"/>
    <a:srgbClr val="FCFEB9"/>
    <a:srgbClr val="CEC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79" autoAdjust="0"/>
    <p:restoredTop sz="94249" autoAdjust="0"/>
  </p:normalViewPr>
  <p:slideViewPr>
    <p:cSldViewPr snapToGrid="0">
      <p:cViewPr varScale="1">
        <p:scale>
          <a:sx n="81" d="100"/>
          <a:sy n="81" d="100"/>
        </p:scale>
        <p:origin x="739" y="53"/>
      </p:cViewPr>
      <p:guideLst/>
    </p:cSldViewPr>
  </p:slideViewPr>
  <p:outlineViewPr>
    <p:cViewPr>
      <p:scale>
        <a:sx n="33" d="100"/>
        <a:sy n="33" d="100"/>
      </p:scale>
      <p:origin x="0" y="-40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08"/>
    </p:cViewPr>
  </p:sorterViewPr>
  <p:notesViewPr>
    <p:cSldViewPr snapToGrid="0">
      <p:cViewPr varScale="1">
        <p:scale>
          <a:sx n="52" d="100"/>
          <a:sy n="52" d="100"/>
        </p:scale>
        <p:origin x="3006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DAC38E3-5144-412F-83AC-38A5B9DE5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608D27AB-67B4-4693-A97B-2BDB09DB8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3127" y="9192936"/>
            <a:ext cx="394340" cy="305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defRPr/>
            </a:pPr>
            <a:fld id="{A20BED86-76BB-4410-9008-061BF87713AB}" type="slidenum">
              <a:rPr lang="en-GB" altLang="en-US" sz="1400" smtClean="0"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defRPr/>
              </a:pPr>
              <a:t>‹#›</a:t>
            </a:fld>
            <a:endParaRPr lang="en-GB" altLang="en-US" sz="14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>
            <a:extLst>
              <a:ext uri="{FF2B5EF4-FFF2-40B4-BE49-F238E27FC236}">
                <a16:creationId xmlns:a16="http://schemas.microsoft.com/office/drawing/2014/main" id="{71953E81-BBEF-44F9-89AF-8D785172E0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4" y="103053"/>
            <a:ext cx="7247466" cy="30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altLang="en-US" sz="1400">
                <a:latin typeface="Calibri" panose="020F0502020204030204" pitchFamily="34" charset="0"/>
                <a:cs typeface="Calibri" panose="020F0502020204030204" pitchFamily="34" charset="0"/>
              </a:rPr>
              <a:t>Asia Pacific University of Technology and Innovation</a:t>
            </a:r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7839FB2E-0CEB-4E99-ABDC-42A6B27BD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Notes Placeholder 9">
            <a:extLst>
              <a:ext uri="{FF2B5EF4-FFF2-40B4-BE49-F238E27FC236}">
                <a16:creationId xmlns:a16="http://schemas.microsoft.com/office/drawing/2014/main" id="{4B6ACB56-54E0-4171-9443-B2E55073F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520" y="4620549"/>
            <a:ext cx="5852160" cy="378030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1DBCDF8-B37C-47C2-B6B1-4B2635759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588" y="9119503"/>
            <a:ext cx="3169920" cy="4816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30D94D-E1CF-4942-9670-7567F4F44871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Calibri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DD588D6-6FB4-489D-9CDD-4F95C32F13C0}" type="slidenum">
              <a:rPr lang="en-US"/>
              <a:pPr/>
              <a:t>5</a:t>
            </a:fld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“Then, what exactly is a data warehouse?” Data warehouses have been </a:t>
            </a:r>
            <a:r>
              <a:rPr lang="en-US" dirty="0" err="1"/>
              <a:t>deﬁned</a:t>
            </a:r>
            <a:r>
              <a:rPr lang="en-US" dirty="0"/>
              <a:t> in many</a:t>
            </a:r>
          </a:p>
          <a:p>
            <a:r>
              <a:rPr lang="en-US" dirty="0"/>
              <a:t>ways, making it </a:t>
            </a:r>
            <a:r>
              <a:rPr lang="en-US" dirty="0" err="1"/>
              <a:t>difﬁcult</a:t>
            </a:r>
            <a:r>
              <a:rPr lang="en-US" dirty="0"/>
              <a:t> to formulate a rigorous </a:t>
            </a:r>
            <a:r>
              <a:rPr lang="en-US" dirty="0" err="1"/>
              <a:t>deﬁnition</a:t>
            </a:r>
            <a:r>
              <a:rPr lang="en-US" dirty="0"/>
              <a:t>. Loosely speaking, a data</a:t>
            </a:r>
          </a:p>
          <a:p>
            <a:r>
              <a:rPr lang="en-US" dirty="0"/>
              <a:t>warehouse refers to a database that is maintained separately from an organization’s </a:t>
            </a:r>
            <a:r>
              <a:rPr lang="en-US" dirty="0" err="1"/>
              <a:t>oper</a:t>
            </a:r>
            <a:r>
              <a:rPr lang="en-US" dirty="0"/>
              <a:t>-</a:t>
            </a:r>
          </a:p>
          <a:p>
            <a:r>
              <a:rPr lang="en-US" dirty="0" err="1"/>
              <a:t>ational</a:t>
            </a:r>
            <a:r>
              <a:rPr lang="en-US" dirty="0"/>
              <a:t> databases. Data warehouse systems allow for the integration of a variety of </a:t>
            </a:r>
            <a:r>
              <a:rPr lang="en-US" dirty="0" err="1"/>
              <a:t>appli</a:t>
            </a:r>
            <a:r>
              <a:rPr lang="en-US" dirty="0"/>
              <a:t>-</a:t>
            </a:r>
          </a:p>
          <a:p>
            <a:r>
              <a:rPr lang="en-US" dirty="0" err="1"/>
              <a:t>cation</a:t>
            </a:r>
            <a:r>
              <a:rPr lang="en-US" dirty="0"/>
              <a:t> systems. They support information processing by providing a solid platform of</a:t>
            </a:r>
          </a:p>
          <a:p>
            <a:r>
              <a:rPr lang="en-US" dirty="0"/>
              <a:t>consolidated historical data for analysis.</a:t>
            </a:r>
          </a:p>
          <a:p>
            <a:endParaRPr lang="en-US" dirty="0"/>
          </a:p>
          <a:p>
            <a:r>
              <a:rPr lang="en-US" dirty="0"/>
              <a:t>In sum, a data warehouse is a semantically consistent data store that serves as a phys-</a:t>
            </a:r>
          </a:p>
          <a:p>
            <a:r>
              <a:rPr lang="en-US" dirty="0" err="1"/>
              <a:t>ical</a:t>
            </a:r>
            <a:r>
              <a:rPr lang="en-US" dirty="0"/>
              <a:t> implementation of a decision support data model and stores the information on</a:t>
            </a:r>
          </a:p>
          <a:p>
            <a:r>
              <a:rPr lang="en-US" dirty="0"/>
              <a:t>which an enterprise needs to make strategic decisions. A data warehouse is also often</a:t>
            </a:r>
          </a:p>
          <a:p>
            <a:r>
              <a:rPr lang="en-US" dirty="0"/>
              <a:t>viewed as an architecture, constructed by integrating data from multiple heterogeneous</a:t>
            </a:r>
          </a:p>
          <a:p>
            <a:r>
              <a:rPr lang="en-US" dirty="0"/>
              <a:t>sources to support structured and/or ad hoc queries, analytical reporting, and decision</a:t>
            </a:r>
          </a:p>
          <a:p>
            <a:r>
              <a:rPr lang="en-US" dirty="0"/>
              <a:t>making.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784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A 2-D view of sales data for </a:t>
            </a:r>
            <a:r>
              <a:rPr lang="en-US" dirty="0" err="1"/>
              <a:t>AllElectronics</a:t>
            </a:r>
            <a:r>
              <a:rPr lang="en-US" dirty="0"/>
              <a:t> according to the dimensions time and item,</a:t>
            </a:r>
          </a:p>
          <a:p>
            <a:r>
              <a:rPr lang="en-US" dirty="0"/>
              <a:t>where the sales are from branches located in the city of Vancouver. The measure </a:t>
            </a:r>
            <a:r>
              <a:rPr lang="en-US" dirty="0" err="1"/>
              <a:t>dis</a:t>
            </a:r>
            <a:r>
              <a:rPr lang="en-US" dirty="0"/>
              <a:t>-</a:t>
            </a:r>
          </a:p>
          <a:p>
            <a:r>
              <a:rPr lang="en-US" dirty="0"/>
              <a:t>played is dollars sold (in thousands).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942D3-F4AE-4F3F-A518-5563027D619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94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Now, suppose that we would like to view the sales data with a third dimension. For</a:t>
            </a:r>
          </a:p>
          <a:p>
            <a:r>
              <a:rPr lang="en-US" dirty="0"/>
              <a:t>instance, suppose we would like to view the data according to time and item, as well as</a:t>
            </a:r>
          </a:p>
          <a:p>
            <a:r>
              <a:rPr lang="en-US" dirty="0"/>
              <a:t>location for the cities Chicago, New York, Toronto, and Vancouver.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9942D3-F4AE-4F3F-A518-5563027D6190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476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53F15-08D8-4B8B-B2B5-BAC51B46552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9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BAE07D-1A0D-460B-8739-8053CD270577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E87F31-FA75-006F-00CD-B701AA25BE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96608" y="2200276"/>
            <a:ext cx="9006416" cy="1470025"/>
          </a:xfrm>
        </p:spPr>
        <p:txBody>
          <a:bodyPr/>
          <a:lstStyle>
            <a:lvl1pPr algn="r">
              <a:defRPr>
                <a:solidFill>
                  <a:schemeClr val="accent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70206" y="3879851"/>
            <a:ext cx="6913767" cy="1752600"/>
          </a:xfrm>
        </p:spPr>
        <p:txBody>
          <a:bodyPr/>
          <a:lstStyle>
            <a:lvl1pPr marL="0" indent="0" algn="r">
              <a:buFontTx/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A01C7C8E-F6F3-0FA5-D100-E4D22106013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09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900D48-6E21-4217-3CC3-BFF1E0D918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5567" b="5568"/>
          <a:stretch/>
        </p:blipFill>
        <p:spPr>
          <a:xfrm flipH="1" flipV="1">
            <a:off x="-2" y="1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87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2BECE40-B9F8-5238-73EB-2221EFFF70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4734"/>
          <a:stretch/>
        </p:blipFill>
        <p:spPr>
          <a:xfrm>
            <a:off x="0" y="-87085"/>
            <a:ext cx="12192000" cy="661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127002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95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08C35BC7-E310-108C-B8C4-672091E1D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113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684" y="3685880"/>
            <a:ext cx="9821030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6684" y="5148453"/>
            <a:ext cx="9821030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82A26D2-4216-FF76-6392-C88F8808F0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589575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3220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ctr">
              <a:defRPr sz="3000" b="1" cap="all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 algn="ctr">
              <a:buNone/>
              <a:defRPr sz="2500">
                <a:solidFill>
                  <a:schemeClr val="bg1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3079C5E1-25DB-A4A6-EC23-BE511C9604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21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B0135-B9A4-80F3-C5A0-025E67654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F2E1CC-7F1D-6CF8-6A38-2EE36FC9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684" y="127002"/>
            <a:ext cx="9349316" cy="1362075"/>
          </a:xfrm>
        </p:spPr>
        <p:txBody>
          <a:bodyPr anchor="b"/>
          <a:lstStyle>
            <a:lvl1pPr algn="l">
              <a:defRPr sz="3000" b="1" cap="all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71BCF8-2B27-BEA0-B962-D2EE1DB65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684" y="1589575"/>
            <a:ext cx="9349316" cy="1500187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accent6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FCDEFE03-E507-9264-8C2B-2E78DD2EA1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326" y="229077"/>
            <a:ext cx="1254698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1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383451EB-63F4-DFF6-8522-1522FB643F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44417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8F54A5F-F810-96A4-5910-A7F80EDAE6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F68BB6B-7571-DB8A-80FB-F7C3AD2610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78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D43B7469-696D-D5B3-7497-03AB7CFB3F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5350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>
            <a:extLst>
              <a:ext uri="{FF2B5EF4-FFF2-40B4-BE49-F238E27FC236}">
                <a16:creationId xmlns:a16="http://schemas.microsoft.com/office/drawing/2014/main" id="{BBB11AA0-4CFB-DDD2-980D-D195C9DD8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163C07D3-0112-1601-B752-FDBF091DDE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838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6" name="Picture 10" descr="APU Logo Final-medium.jpg">
            <a:extLst>
              <a:ext uri="{FF2B5EF4-FFF2-40B4-BE49-F238E27FC236}">
                <a16:creationId xmlns:a16="http://schemas.microsoft.com/office/drawing/2014/main" id="{0802BECB-EBD7-EAF2-F449-AA70E28039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311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352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817" y="1697038"/>
            <a:ext cx="5384800" cy="4525962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4980A499-972D-DEC1-0CDD-C8C7AF0063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9CBCAFAD-0874-A920-E7D5-68A99F5090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0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59460E12-C28F-6F47-C8AD-1B01DC7DB1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7172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5352" y="1535113"/>
            <a:ext cx="570116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5352" y="2174875"/>
            <a:ext cx="570116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2DAC53-88F1-5536-6538-48E550FD8C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7C10021-D30B-49A3-9775-E4B018058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984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0677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581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131C5456-E521-C7D4-FB88-68A63787FD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12999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04DC0352-F5ED-1918-1F8A-8B80BB6E8C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544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AA1C13FB-D1A7-194E-A332-391C492A0C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2689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C3D40C30-8297-E054-688C-7A1636F33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9247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53C3B966-D4E4-30D5-4A13-103486C2EB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6462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5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88157A30-7FA7-829E-6D9C-4DCC0CDCA7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447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10" descr="APU Logo Final-medium.jpg">
            <a:extLst>
              <a:ext uri="{FF2B5EF4-FFF2-40B4-BE49-F238E27FC236}">
                <a16:creationId xmlns:a16="http://schemas.microsoft.com/office/drawing/2014/main" id="{82C331B9-CEE5-20AD-DD62-DCC7F9E24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99797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D5BC53-2816-4210-4970-4FC239BFDB5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192213"/>
            <a:ext cx="12192000" cy="2824162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2000"/>
            </a:lvl1pPr>
          </a:lstStyle>
          <a:p>
            <a:endParaRPr lang="en-MY" dirty="0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40F80C67-7C47-1046-B1B1-5649F52F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4213781"/>
            <a:ext cx="11623250" cy="19584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ED178921-E6EB-89FB-1721-8D340F832C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81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10" descr="APU Logo Final-medium.jpg">
            <a:extLst>
              <a:ext uri="{FF2B5EF4-FFF2-40B4-BE49-F238E27FC236}">
                <a16:creationId xmlns:a16="http://schemas.microsoft.com/office/drawing/2014/main" id="{9186F32B-2E23-EAE7-28F5-E2FCF5E3DF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1940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4F7A2FB-3692-7374-ECE6-3DDD8A007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73377" y="1132114"/>
            <a:ext cx="11623250" cy="165462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0E2C0782-CF15-D587-F209-76A369475B0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117C0E03-AD57-26BD-EFAD-135B4185F3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91543"/>
            <a:ext cx="6096000" cy="3413665"/>
          </a:xfrm>
          <a:prstGeom prst="rect">
            <a:avLst/>
          </a:prstGeom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10178BF3-0C44-7F6F-9A93-FAD4F3ED2C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60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4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60D7C342-4D59-30CD-6ECC-0731D5E447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C6F56718-5153-BA4C-1652-9EFB47DA6C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75778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90AFE7E0-13D0-FC56-5802-BC4E161A01B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2300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85E21580-F245-B670-F787-BF63FAB4B46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890838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B93E3A1-F86B-5848-E0D8-9B910D2CF8D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76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1A60634-D380-05B9-A200-4BC09F63215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7914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FB27992A-9435-FF68-91D5-AB177C86FC7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96452" y="160020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F1E11ABA-2F6F-AD00-6622-96402AE8B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2300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E9A3798F-F75E-B413-49AE-B6F4D96322F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90838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614A16FD-3307-D7FB-6483-52A5C31098D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76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EEA5B065-0239-646D-0C09-0596844EF55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27914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9972B1E5-9F94-B5C2-796B-D18122CA92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696452" y="3752850"/>
            <a:ext cx="1828801" cy="18288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sz="1500"/>
            </a:lvl1pPr>
          </a:lstStyle>
          <a:p>
            <a:endParaRPr lang="en-US"/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E97445D-AA3E-4FF1-5C3D-A2CF07C45D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D4643407-354C-EF13-0031-A2AB96E23A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09964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1451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842000" cy="5016369"/>
          </a:xfrm>
          <a:solidFill>
            <a:schemeClr val="tx1">
              <a:lumMod val="95000"/>
            </a:schemeClr>
          </a:solid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8F4BC8B8-56DE-CC45-EB9C-7BE8295CB9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08564" y="1"/>
            <a:ext cx="5783436" cy="6223000"/>
          </a:xfrm>
          <a:prstGeom prst="rect">
            <a:avLst/>
          </a:prstGeom>
          <a:solidFill>
            <a:schemeClr val="tx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j-lt"/>
                <a:ea typeface="Lato Light" charset="0"/>
                <a:cs typeface="Lato Light" charset="0"/>
              </a:defRPr>
            </a:lvl1pPr>
          </a:lstStyle>
          <a:p>
            <a:endParaRPr lang="en-US" dirty="0"/>
          </a:p>
        </p:txBody>
      </p:sp>
      <p:pic>
        <p:nvPicPr>
          <p:cNvPr id="3" name="Picture 2" descr="Logo, company name&#10;&#10;Description automatically generated">
            <a:extLst>
              <a:ext uri="{FF2B5EF4-FFF2-40B4-BE49-F238E27FC236}">
                <a16:creationId xmlns:a16="http://schemas.microsoft.com/office/drawing/2014/main" id="{894E1089-2642-1F16-6D34-0AA470DAB4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14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pic>
        <p:nvPicPr>
          <p:cNvPr id="4" name="Picture 10" descr="APU Logo Final-medium.jpg">
            <a:extLst>
              <a:ext uri="{FF2B5EF4-FFF2-40B4-BE49-F238E27FC236}">
                <a16:creationId xmlns:a16="http://schemas.microsoft.com/office/drawing/2014/main" id="{C97ADB29-0190-8E6A-A68B-AEBB217C0E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EAE3BF1D-7538-D216-ADA6-8A61272CEC0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793A658E-0EDC-3F4C-BFB3-E8CA966F34D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Picture Placeholder 13">
            <a:extLst>
              <a:ext uri="{FF2B5EF4-FFF2-40B4-BE49-F238E27FC236}">
                <a16:creationId xmlns:a16="http://schemas.microsoft.com/office/drawing/2014/main" id="{A1C42F19-22A5-A6AA-F9A6-B990F2E4BD4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3F88012-5D39-66F9-BCBC-E3DED4808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71734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61A374B0-731A-1D13-1D15-DEB568D14E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0485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6DD384CD-5B1D-00AA-C88E-51863CE859A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609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6" name="Picture Placeholder 13">
            <a:extLst>
              <a:ext uri="{FF2B5EF4-FFF2-40B4-BE49-F238E27FC236}">
                <a16:creationId xmlns:a16="http://schemas.microsoft.com/office/drawing/2014/main" id="{C0E62B52-2676-DD95-FD76-B834BA0270EA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73396" y="1923410"/>
            <a:ext cx="2143404" cy="40562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>
            <a:normAutofit/>
          </a:bodyPr>
          <a:lstStyle>
            <a:lvl1pPr marL="0" indent="0">
              <a:buNone/>
              <a:defRPr sz="2000" b="0" i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latin typeface="+mn-lt"/>
                <a:ea typeface="Poppins Light" charset="0"/>
                <a:cs typeface="Poppins Light" charset="0"/>
              </a:defRPr>
            </a:lvl1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74EF56-AF27-D8AD-DACE-E5CE66A7D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1" y="1697038"/>
            <a:ext cx="4775200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9" name="Picture 8" descr="Logo, company name&#10;&#10;Description automatically generated">
            <a:extLst>
              <a:ext uri="{FF2B5EF4-FFF2-40B4-BE49-F238E27FC236}">
                <a16:creationId xmlns:a16="http://schemas.microsoft.com/office/drawing/2014/main" id="{890E9656-A63D-02CF-0218-527AB2D4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5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5" name="Picture 10" descr="APU Logo Final-medium.jpg">
            <a:extLst>
              <a:ext uri="{FF2B5EF4-FFF2-40B4-BE49-F238E27FC236}">
                <a16:creationId xmlns:a16="http://schemas.microsoft.com/office/drawing/2014/main" id="{1CD8D465-41A1-E0A8-A8B4-C64FB4642D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14828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6F99F1D5-796D-B18C-4706-ECD5827DB6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1" y="27044"/>
            <a:ext cx="977178" cy="981307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580153-B4CE-E166-7ACE-F92FEF0DC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206631"/>
            <a:ext cx="5277005" cy="50163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51188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0" descr="APU Logo Final-medium.jpg">
            <a:extLst>
              <a:ext uri="{FF2B5EF4-FFF2-40B4-BE49-F238E27FC236}">
                <a16:creationId xmlns:a16="http://schemas.microsoft.com/office/drawing/2014/main" id="{E3F9F65D-AB78-8571-A238-B3743684A64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4169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Picture with Caption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2CC42D-17CB-E638-B81A-110B1B3F2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00" y="1697038"/>
            <a:ext cx="5277005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B45A787-9C75-0736-994E-7B094F400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708675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pPr lvl="0"/>
            <a:r>
              <a:rPr lang="en-GB" altLang="en-US" dirty="0"/>
              <a:t>Click to edit Master title style</a:t>
            </a:r>
          </a:p>
        </p:txBody>
      </p:sp>
      <p:pic>
        <p:nvPicPr>
          <p:cNvPr id="2" name="Picture 1" descr="Logo, company name&#10;&#10;Description automatically generated">
            <a:extLst>
              <a:ext uri="{FF2B5EF4-FFF2-40B4-BE49-F238E27FC236}">
                <a16:creationId xmlns:a16="http://schemas.microsoft.com/office/drawing/2014/main" id="{EDC140F1-7C93-36F2-49E9-260DAC6B7E2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1622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458D67BC-08A8-B641-2D7F-240DC17CDE3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91A76DD4-43F7-C972-85EA-CAFDE2FA041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10D0C3E1-B2D7-E36D-87E0-ECAB470B2D2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62331960-A4CD-E907-ACF8-2904680BADA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7A9D95-A204-E92E-A5F8-1E263A7A8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  <a:lvl2pPr>
              <a:defRPr sz="2800">
                <a:solidFill>
                  <a:schemeClr val="accent6"/>
                </a:solidFill>
              </a:defRPr>
            </a:lvl2pPr>
            <a:lvl3pPr>
              <a:defRPr sz="24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40362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14576114-4EE3-A4A4-76CC-B9B2275D1E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52140" y="0"/>
            <a:ext cx="2066602" cy="2902857"/>
          </a:xfrm>
          <a:custGeom>
            <a:avLst/>
            <a:gdLst>
              <a:gd name="connsiteX0" fmla="*/ 0 w 2066602"/>
              <a:gd name="connsiteY0" fmla="*/ 0 h 2902857"/>
              <a:gd name="connsiteX1" fmla="*/ 2066602 w 2066602"/>
              <a:gd name="connsiteY1" fmla="*/ 0 h 2902857"/>
              <a:gd name="connsiteX2" fmla="*/ 2066602 w 2066602"/>
              <a:gd name="connsiteY2" fmla="*/ 2902857 h 2902857"/>
              <a:gd name="connsiteX3" fmla="*/ 0 w 2066602"/>
              <a:gd name="connsiteY3" fmla="*/ 2902857 h 2902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902857">
                <a:moveTo>
                  <a:pt x="0" y="0"/>
                </a:moveTo>
                <a:lnTo>
                  <a:pt x="2066602" y="0"/>
                </a:lnTo>
                <a:lnTo>
                  <a:pt x="2066602" y="2902857"/>
                </a:lnTo>
                <a:lnTo>
                  <a:pt x="0" y="29028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3B5096E-B439-B90B-5317-2550E3B656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52140" y="3033601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6" name="Picture Placeholder 11">
            <a:extLst>
              <a:ext uri="{FF2B5EF4-FFF2-40B4-BE49-F238E27FC236}">
                <a16:creationId xmlns:a16="http://schemas.microsoft.com/office/drawing/2014/main" id="{7E850367-FBF9-B7B1-9E76-EC298218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7027" y="798286"/>
            <a:ext cx="2066602" cy="3316398"/>
          </a:xfrm>
          <a:custGeom>
            <a:avLst/>
            <a:gdLst>
              <a:gd name="connsiteX0" fmla="*/ 0 w 2066602"/>
              <a:gd name="connsiteY0" fmla="*/ 0 h 3316398"/>
              <a:gd name="connsiteX1" fmla="*/ 2066602 w 2066602"/>
              <a:gd name="connsiteY1" fmla="*/ 0 h 3316398"/>
              <a:gd name="connsiteX2" fmla="*/ 2066602 w 2066602"/>
              <a:gd name="connsiteY2" fmla="*/ 3316398 h 3316398"/>
              <a:gd name="connsiteX3" fmla="*/ 0 w 2066602"/>
              <a:gd name="connsiteY3" fmla="*/ 3316398 h 3316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3316398">
                <a:moveTo>
                  <a:pt x="0" y="0"/>
                </a:moveTo>
                <a:lnTo>
                  <a:pt x="2066602" y="0"/>
                </a:lnTo>
                <a:lnTo>
                  <a:pt x="2066602" y="3316398"/>
                </a:lnTo>
                <a:lnTo>
                  <a:pt x="0" y="3316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/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B7999D6D-BA9E-A93A-5AB4-A94911B24D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7027" y="4277251"/>
            <a:ext cx="2066602" cy="2072748"/>
          </a:xfrm>
          <a:custGeom>
            <a:avLst/>
            <a:gdLst>
              <a:gd name="connsiteX0" fmla="*/ 0 w 2066602"/>
              <a:gd name="connsiteY0" fmla="*/ 0 h 2072748"/>
              <a:gd name="connsiteX1" fmla="*/ 2066602 w 2066602"/>
              <a:gd name="connsiteY1" fmla="*/ 0 h 2072748"/>
              <a:gd name="connsiteX2" fmla="*/ 2066602 w 2066602"/>
              <a:gd name="connsiteY2" fmla="*/ 2072748 h 2072748"/>
              <a:gd name="connsiteX3" fmla="*/ 0 w 2066602"/>
              <a:gd name="connsiteY3" fmla="*/ 2072748 h 207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602" h="2072748">
                <a:moveTo>
                  <a:pt x="0" y="0"/>
                </a:moveTo>
                <a:lnTo>
                  <a:pt x="2066602" y="0"/>
                </a:lnTo>
                <a:lnTo>
                  <a:pt x="2066602" y="2072748"/>
                </a:lnTo>
                <a:lnTo>
                  <a:pt x="0" y="20727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/>
            </a:lvl1pPr>
          </a:lstStyle>
          <a:p>
            <a:endParaRPr lang="en-ID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6F213A9-305D-2AFC-FF34-19434A2D9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533" y="273051"/>
            <a:ext cx="6815667" cy="5853113"/>
          </a:xfrm>
        </p:spPr>
        <p:txBody>
          <a:bodyPr/>
          <a:lstStyle>
            <a:lvl1pPr>
              <a:defRPr sz="3200">
                <a:solidFill>
                  <a:schemeClr val="accent5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6137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3" name="Picture 10" descr="APU Logo Final-medium.jpg">
            <a:extLst>
              <a:ext uri="{FF2B5EF4-FFF2-40B4-BE49-F238E27FC236}">
                <a16:creationId xmlns:a16="http://schemas.microsoft.com/office/drawing/2014/main" id="{C388C33F-8C44-39F0-8C2F-7CF690D3C1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2000" y="0"/>
            <a:ext cx="1080000" cy="1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74900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bg>
      <p:bgPr>
        <a:solidFill>
          <a:srgbClr val="00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4">
            <a:extLst>
              <a:ext uri="{FF2B5EF4-FFF2-40B4-BE49-F238E27FC236}">
                <a16:creationId xmlns:a16="http://schemas.microsoft.com/office/drawing/2014/main" id="{098A0508-16C0-1CB1-9EB2-E710C774CB8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60EB9AD5-7DDC-2BFA-AF2C-9962B35D0E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8358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F2B4AB36-8724-FDDC-F151-CBD3C7917C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67161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7807B4DD-82EF-E592-BE1A-58254BBE34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250740" y="3744686"/>
            <a:ext cx="2941261" cy="2467428"/>
          </a:xfrm>
          <a:custGeom>
            <a:avLst/>
            <a:gdLst>
              <a:gd name="connsiteX0" fmla="*/ 0 w 2941261"/>
              <a:gd name="connsiteY0" fmla="*/ 0 h 2467428"/>
              <a:gd name="connsiteX1" fmla="*/ 2941261 w 2941261"/>
              <a:gd name="connsiteY1" fmla="*/ 0 h 2467428"/>
              <a:gd name="connsiteX2" fmla="*/ 2941261 w 2941261"/>
              <a:gd name="connsiteY2" fmla="*/ 2467428 h 2467428"/>
              <a:gd name="connsiteX3" fmla="*/ 0 w 2941261"/>
              <a:gd name="connsiteY3" fmla="*/ 2467428 h 2467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41261" h="2467428">
                <a:moveTo>
                  <a:pt x="0" y="0"/>
                </a:moveTo>
                <a:lnTo>
                  <a:pt x="2941261" y="0"/>
                </a:lnTo>
                <a:lnTo>
                  <a:pt x="2941261" y="2467428"/>
                </a:lnTo>
                <a:lnTo>
                  <a:pt x="0" y="246742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>
            <a:lvl1pPr>
              <a:defRPr sz="1200">
                <a:latin typeface="+mn-lt"/>
              </a:defRPr>
            </a:lvl1pPr>
          </a:lstStyle>
          <a:p>
            <a:endParaRPr lang="en-ID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78BA4D9-57E1-A80D-3014-2BD0F878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352" y="274638"/>
            <a:ext cx="10457373" cy="1143000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45A25BC-C7C5-6433-D8E4-A5DF23106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352" y="1417638"/>
            <a:ext cx="11601296" cy="45259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4" name="Picture 3" descr="Logo, company name&#10;&#10;Description automatically generated">
            <a:extLst>
              <a:ext uri="{FF2B5EF4-FFF2-40B4-BE49-F238E27FC236}">
                <a16:creationId xmlns:a16="http://schemas.microsoft.com/office/drawing/2014/main" id="{13D2297B-429D-D242-496A-D8036CC69E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943" y="27044"/>
            <a:ext cx="1045812" cy="98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29512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685800"/>
            <a:ext cx="103907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769600" cy="4495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3200" y="6324600"/>
            <a:ext cx="2540000" cy="5334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82B23E04-F919-4594-9A42-B8E8FF00F3FF}" type="datetime4">
              <a:rPr lang="en-US"/>
              <a:pPr/>
              <a:t>January 22,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67200" y="6324600"/>
            <a:ext cx="3860800" cy="533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Data Mining: Concepts and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E46A66D-0963-4DE9-AFA3-A697DF3C84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882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microsoft.com/office/2007/relationships/hdphoto" Target="../media/hdphoto1.wdp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outdoor object, honeycomb&#10;&#10;Description automatically generated">
            <a:extLst>
              <a:ext uri="{FF2B5EF4-FFF2-40B4-BE49-F238E27FC236}">
                <a16:creationId xmlns:a16="http://schemas.microsoft.com/office/drawing/2014/main" id="{ECC693F6-F024-A3A9-24FB-E8ED5704B6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4">
            <a:extLst>
              <a:ext uri="{BEBA8EAE-BF5A-486C-A8C5-ECC9F3942E4B}">
                <a14:imgProps xmlns:a14="http://schemas.microsoft.com/office/drawing/2010/main">
                  <a14:imgLayer r:embed="rId4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94815"/>
          <a:stretch/>
        </p:blipFill>
        <p:spPr>
          <a:xfrm>
            <a:off x="0" y="6502398"/>
            <a:ext cx="12192000" cy="355601"/>
          </a:xfrm>
          <a:prstGeom prst="rect">
            <a:avLst/>
          </a:prstGeom>
        </p:spPr>
      </p:pic>
      <p:sp>
        <p:nvSpPr>
          <p:cNvPr id="1028" name="Rectangle 4">
            <a:extLst>
              <a:ext uri="{FF2B5EF4-FFF2-40B4-BE49-F238E27FC236}">
                <a16:creationId xmlns:a16="http://schemas.microsoft.com/office/drawing/2014/main" id="{B623752B-4505-458A-8F13-B97CEB0BB8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54000" y="1697038"/>
            <a:ext cx="117475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text styles</a:t>
            </a:r>
          </a:p>
          <a:p>
            <a:pPr lvl="1"/>
            <a:r>
              <a:rPr lang="en-GB" altLang="en-US" dirty="0"/>
              <a:t>Second level</a:t>
            </a:r>
          </a:p>
          <a:p>
            <a:pPr lvl="2"/>
            <a:r>
              <a:rPr lang="en-GB" altLang="en-US" dirty="0"/>
              <a:t>Third level</a:t>
            </a:r>
          </a:p>
          <a:p>
            <a:pPr lvl="3"/>
            <a:r>
              <a:rPr lang="en-GB" altLang="en-US" dirty="0"/>
              <a:t>Fourth level</a:t>
            </a:r>
          </a:p>
          <a:p>
            <a:pPr lvl="4"/>
            <a:r>
              <a:rPr lang="en-GB" altLang="en-US" dirty="0"/>
              <a:t>Fifth level</a:t>
            </a:r>
          </a:p>
        </p:txBody>
      </p:sp>
      <p:sp>
        <p:nvSpPr>
          <p:cNvPr id="1029" name="Rectangle 6">
            <a:extLst>
              <a:ext uri="{FF2B5EF4-FFF2-40B4-BE49-F238E27FC236}">
                <a16:creationId xmlns:a16="http://schemas.microsoft.com/office/drawing/2014/main" id="{4D7F5865-615B-424A-A375-A8F1EEAE7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5352" y="274638"/>
            <a:ext cx="10457373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48569D-7387-4D30-B100-DC94E7D1863E}"/>
              </a:ext>
            </a:extLst>
          </p:cNvPr>
          <p:cNvSpPr txBox="1"/>
          <p:nvPr userDrawn="1"/>
        </p:nvSpPr>
        <p:spPr>
          <a:xfrm>
            <a:off x="10859590" y="6588371"/>
            <a:ext cx="15501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</a:t>
            </a:r>
            <a:fld id="{7E7DF8DA-2BBC-4974-99EF-62657F72EFE3}" type="slidenum">
              <a:rPr lang="en-US" sz="800" smtClean="0">
                <a:solidFill>
                  <a:schemeClr val="bg2"/>
                </a:solidFill>
                <a:latin typeface="Montserrat" panose="00000500000000000000" pitchFamily="2" charset="0"/>
              </a:rPr>
              <a:pPr algn="ctr"/>
              <a:t>‹#›</a:t>
            </a:fld>
            <a:endParaRPr lang="en-US" sz="800" dirty="0">
              <a:solidFill>
                <a:schemeClr val="bg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DC117F-9549-84AD-C279-A42AEB20D920}"/>
              </a:ext>
            </a:extLst>
          </p:cNvPr>
          <p:cNvSpPr txBox="1"/>
          <p:nvPr userDrawn="1"/>
        </p:nvSpPr>
        <p:spPr>
          <a:xfrm>
            <a:off x="39175" y="6588371"/>
            <a:ext cx="237745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Module Code &amp; Module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D054F-4D2B-C683-DC2F-88927DD0A10B}"/>
              </a:ext>
            </a:extLst>
          </p:cNvPr>
          <p:cNvSpPr txBox="1"/>
          <p:nvPr userDrawn="1"/>
        </p:nvSpPr>
        <p:spPr>
          <a:xfrm>
            <a:off x="4480560" y="6572476"/>
            <a:ext cx="33963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bg2"/>
                </a:solidFill>
                <a:latin typeface="Montserrat" panose="00000500000000000000" pitchFamily="2" charset="0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53" r:id="rId2"/>
    <p:sldLayoutId id="2147483729" r:id="rId3"/>
    <p:sldLayoutId id="2147483757" r:id="rId4"/>
    <p:sldLayoutId id="2147483758" r:id="rId5"/>
    <p:sldLayoutId id="2147483720" r:id="rId6"/>
    <p:sldLayoutId id="2147483756" r:id="rId7"/>
    <p:sldLayoutId id="2147483719" r:id="rId8"/>
    <p:sldLayoutId id="2147483737" r:id="rId9"/>
    <p:sldLayoutId id="2147483723" r:id="rId10"/>
    <p:sldLayoutId id="2147483739" r:id="rId11"/>
    <p:sldLayoutId id="2147483721" r:id="rId12"/>
    <p:sldLayoutId id="2147483744" r:id="rId13"/>
    <p:sldLayoutId id="2147483722" r:id="rId14"/>
    <p:sldLayoutId id="2147483745" r:id="rId15"/>
    <p:sldLayoutId id="2147483731" r:id="rId16"/>
    <p:sldLayoutId id="2147483724" r:id="rId17"/>
    <p:sldLayoutId id="2147483730" r:id="rId18"/>
    <p:sldLayoutId id="2147483735" r:id="rId19"/>
    <p:sldLayoutId id="2147483725" r:id="rId20"/>
    <p:sldLayoutId id="2147483743" r:id="rId21"/>
    <p:sldLayoutId id="2147483726" r:id="rId22"/>
    <p:sldLayoutId id="2147483740" r:id="rId23"/>
    <p:sldLayoutId id="2147483732" r:id="rId24"/>
    <p:sldLayoutId id="2147483742" r:id="rId25"/>
    <p:sldLayoutId id="2147483749" r:id="rId26"/>
    <p:sldLayoutId id="2147483750" r:id="rId27"/>
    <p:sldLayoutId id="2147483741" r:id="rId28"/>
    <p:sldLayoutId id="2147483734" r:id="rId29"/>
    <p:sldLayoutId id="2147483733" r:id="rId30"/>
    <p:sldLayoutId id="2147483752" r:id="rId31"/>
    <p:sldLayoutId id="2147483727" r:id="rId32"/>
    <p:sldLayoutId id="2147483738" r:id="rId33"/>
    <p:sldLayoutId id="2147483751" r:id="rId34"/>
    <p:sldLayoutId id="2147483747" r:id="rId35"/>
    <p:sldLayoutId id="2147483736" r:id="rId36"/>
    <p:sldLayoutId id="2147483748" r:id="rId37"/>
    <p:sldLayoutId id="2147483728" r:id="rId38"/>
    <p:sldLayoutId id="2147483746" r:id="rId39"/>
    <p:sldLayoutId id="2147483754" r:id="rId40"/>
    <p:sldLayoutId id="2147483755" r:id="rId41"/>
    <p:sldLayoutId id="2147483759" r:id="rId4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500">
          <a:solidFill>
            <a:schemeClr val="tx1"/>
          </a:solidFill>
          <a:latin typeface="+mj-lt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j-lt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j-lt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j-lt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875229" y="3616022"/>
            <a:ext cx="6769100" cy="1752600"/>
          </a:xfrm>
        </p:spPr>
        <p:txBody>
          <a:bodyPr/>
          <a:lstStyle/>
          <a:p>
            <a:r>
              <a:rPr lang="en-US" dirty="0"/>
              <a:t>Data Warehouse and OLAP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81CBFF-049E-4403-8AC3-805E64AF4989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latin typeface="CG Times" charset="0"/>
              </a:rPr>
              <a:t>Optimization Strategy</a:t>
            </a:r>
            <a:endParaRPr lang="en-MY" dirty="0"/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By the end of this lecture, YOU should be able to:</a:t>
            </a:r>
          </a:p>
          <a:p>
            <a:r>
              <a:rPr lang="en-US" dirty="0"/>
              <a:t>Explain data warehouse and OLAP concepts</a:t>
            </a:r>
          </a:p>
          <a:p>
            <a:r>
              <a:rPr lang="en-US" dirty="0"/>
              <a:t>Explain the data warehouse architecture and schemes</a:t>
            </a:r>
          </a:p>
          <a:p>
            <a:r>
              <a:rPr lang="en-US" dirty="0"/>
              <a:t>Introduce the concept of OLAP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Key Terms you must be able to use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/>
              <a:t>If you have mastered this topic, you should be able to use the following terms correctly in your assignments and exams: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OLTP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OLAP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Data Cube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Star Scheme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  <a:p>
            <a:pPr lvl="1" eaLnBrk="1" hangingPunct="1">
              <a:lnSpc>
                <a:spcPct val="90000"/>
              </a:lnSpc>
            </a:pPr>
            <a:endParaRPr lang="en-US" sz="2400" dirty="0"/>
          </a:p>
        </p:txBody>
      </p:sp>
      <p:sp>
        <p:nvSpPr>
          <p:cNvPr id="6146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Data Mining: Concepts and Techniques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60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304800"/>
            <a:ext cx="7467600" cy="914400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Data Warehousing and OLAP</a:t>
            </a:r>
          </a:p>
        </p:txBody>
      </p:sp>
      <p:sp>
        <p:nvSpPr>
          <p:cNvPr id="793603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981200"/>
            <a:ext cx="8077200" cy="449580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70000"/>
              </a:lnSpc>
            </a:pPr>
            <a:r>
              <a:rPr lang="en-US" sz="2400" dirty="0">
                <a:solidFill>
                  <a:srgbClr val="CC3300"/>
                </a:solidFill>
              </a:rPr>
              <a:t>What is a data warehouse? </a:t>
            </a:r>
            <a:endParaRPr lang="en-US" sz="2400" dirty="0"/>
          </a:p>
          <a:p>
            <a:pPr>
              <a:lnSpc>
                <a:spcPct val="170000"/>
              </a:lnSpc>
            </a:pPr>
            <a:r>
              <a:rPr lang="en-US" sz="2400" dirty="0"/>
              <a:t>A multi-dimensional data model</a:t>
            </a:r>
          </a:p>
        </p:txBody>
      </p:sp>
    </p:spTree>
  </p:cSld>
  <p:clrMapOvr>
    <a:masterClrMapping/>
  </p:clrMapOvr>
  <p:transition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304800"/>
            <a:ext cx="6781800" cy="1143000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What is Data Warehouse?</a:t>
            </a:r>
            <a:endParaRPr lang="en-US" sz="3200" dirty="0"/>
          </a:p>
        </p:txBody>
      </p:sp>
      <p:sp>
        <p:nvSpPr>
          <p:cNvPr id="794627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752600"/>
            <a:ext cx="8229600" cy="480060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Defined in many different ways, but not strictly.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 decision support database that is maintained </a:t>
            </a:r>
            <a:r>
              <a:rPr lang="en-US" sz="2400" dirty="0">
                <a:solidFill>
                  <a:schemeClr val="hlink"/>
                </a:solidFill>
              </a:rPr>
              <a:t>separately </a:t>
            </a:r>
            <a:r>
              <a:rPr lang="en-US" sz="2400" dirty="0"/>
              <a:t>from the organization’s operational database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Support </a:t>
            </a:r>
            <a:r>
              <a:rPr lang="en-US" sz="2400" dirty="0">
                <a:solidFill>
                  <a:schemeClr val="hlink"/>
                </a:solidFill>
              </a:rPr>
              <a:t>information processing</a:t>
            </a:r>
            <a:r>
              <a:rPr lang="en-US" sz="2400" dirty="0"/>
              <a:t> by providing a solid platform of consolidated, historical data for analysis.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rgbClr val="157573"/>
                </a:solidFill>
              </a:rPr>
              <a:t>“A data warehouse is a</a:t>
            </a:r>
            <a:r>
              <a:rPr lang="en-US" sz="2400" dirty="0"/>
              <a:t> </a:t>
            </a:r>
            <a:r>
              <a:rPr lang="en-US" sz="2400" u="sng" dirty="0">
                <a:solidFill>
                  <a:schemeClr val="hlink"/>
                </a:solidFill>
              </a:rPr>
              <a:t>subject-oriented</a:t>
            </a:r>
            <a:r>
              <a:rPr lang="en-US" sz="2400" dirty="0"/>
              <a:t>,</a:t>
            </a:r>
            <a:r>
              <a:rPr lang="en-US" sz="2400" u="sng" dirty="0">
                <a:solidFill>
                  <a:schemeClr val="hlink"/>
                </a:solidFill>
              </a:rPr>
              <a:t> integrated</a:t>
            </a:r>
            <a:r>
              <a:rPr lang="en-US" sz="2400" dirty="0"/>
              <a:t>, </a:t>
            </a:r>
            <a:r>
              <a:rPr lang="en-US" sz="2400" u="sng" dirty="0">
                <a:solidFill>
                  <a:schemeClr val="hlink"/>
                </a:solidFill>
              </a:rPr>
              <a:t>time-variant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157573"/>
                </a:solidFill>
              </a:rPr>
              <a:t>and </a:t>
            </a:r>
            <a:r>
              <a:rPr lang="en-US" sz="2400" u="sng" dirty="0">
                <a:solidFill>
                  <a:schemeClr val="hlink"/>
                </a:solidFill>
              </a:rPr>
              <a:t>nonvolatile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157573"/>
                </a:solidFill>
              </a:rPr>
              <a:t>collection of data in support of management’s decision-making process.”—W. H. </a:t>
            </a:r>
            <a:r>
              <a:rPr lang="en-US" sz="2400" dirty="0" err="1">
                <a:solidFill>
                  <a:srgbClr val="157573"/>
                </a:solidFill>
              </a:rPr>
              <a:t>Inmon</a:t>
            </a:r>
            <a:endParaRPr lang="en-US" sz="2400" dirty="0">
              <a:solidFill>
                <a:srgbClr val="157573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2400" dirty="0"/>
              <a:t>Data warehousing: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The process of constructing and using data warehouses</a:t>
            </a:r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54250" y="381000"/>
            <a:ext cx="7042150" cy="1143000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Data Warehouse—Subject-Oriented</a:t>
            </a:r>
            <a:endParaRPr lang="en-US" sz="3200" dirty="0"/>
          </a:p>
        </p:txBody>
      </p:sp>
      <p:sp>
        <p:nvSpPr>
          <p:cNvPr id="79667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2017713"/>
            <a:ext cx="8269288" cy="411480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30000"/>
              </a:lnSpc>
            </a:pPr>
            <a:r>
              <a:rPr lang="en-US" sz="2400"/>
              <a:t>Organized around major subjects, such as </a:t>
            </a:r>
            <a:r>
              <a:rPr lang="en-US" sz="2400">
                <a:solidFill>
                  <a:schemeClr val="hlink"/>
                </a:solidFill>
              </a:rPr>
              <a:t>customer, product, sales</a:t>
            </a:r>
            <a:r>
              <a:rPr lang="en-US" sz="2400"/>
              <a:t>.</a:t>
            </a:r>
          </a:p>
          <a:p>
            <a:pPr>
              <a:lnSpc>
                <a:spcPct val="130000"/>
              </a:lnSpc>
            </a:pPr>
            <a:r>
              <a:rPr lang="en-US" sz="2400"/>
              <a:t>Focusing on the modeling and analysis of data for decision makers, not on daily operations or transaction processing.</a:t>
            </a:r>
          </a:p>
          <a:p>
            <a:pPr>
              <a:lnSpc>
                <a:spcPct val="130000"/>
              </a:lnSpc>
            </a:pPr>
            <a:r>
              <a:rPr lang="en-US" sz="2400"/>
              <a:t>Provide </a:t>
            </a:r>
            <a:r>
              <a:rPr lang="en-US" sz="2400">
                <a:solidFill>
                  <a:schemeClr val="hlink"/>
                </a:solidFill>
              </a:rPr>
              <a:t>a simple and concise</a:t>
            </a:r>
            <a:r>
              <a:rPr lang="en-US" sz="2400"/>
              <a:t> view around particular subject issues by </a:t>
            </a:r>
            <a:r>
              <a:rPr lang="en-US" sz="2400">
                <a:solidFill>
                  <a:schemeClr val="hlink"/>
                </a:solidFill>
              </a:rPr>
              <a:t>excluding data that are not useful in the decision support process</a:t>
            </a:r>
            <a:r>
              <a:rPr lang="en-US" sz="2400"/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69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/>
              <a:t>Data Warehouse—Integrated</a:t>
            </a:r>
          </a:p>
        </p:txBody>
      </p:sp>
      <p:sp>
        <p:nvSpPr>
          <p:cNvPr id="797699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752600"/>
            <a:ext cx="8077200" cy="464820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400"/>
              <a:t>Constructed by integrating multiple, heterogeneous data sources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relational databases, flat files, on-line transaction records</a:t>
            </a:r>
          </a:p>
          <a:p>
            <a:pPr>
              <a:lnSpc>
                <a:spcPct val="90000"/>
              </a:lnSpc>
            </a:pPr>
            <a:r>
              <a:rPr lang="en-US" sz="2400"/>
              <a:t>Data cleaning and data integration techniques are applied.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Ensure consistency in naming conventions, encoding structures, attribute measures, etc. among different data sources</a:t>
            </a:r>
          </a:p>
          <a:p>
            <a:pPr lvl="2">
              <a:lnSpc>
                <a:spcPct val="90000"/>
              </a:lnSpc>
            </a:pPr>
            <a:r>
              <a:rPr lang="en-US" sz="2000"/>
              <a:t>E.g., Hotel price: currency, tax, breakfast covered, etc.</a:t>
            </a:r>
          </a:p>
          <a:p>
            <a:pPr lvl="1">
              <a:lnSpc>
                <a:spcPct val="90000"/>
              </a:lnSpc>
            </a:pPr>
            <a:r>
              <a:rPr lang="en-US" sz="2400"/>
              <a:t>When data is moved to the warehouse, it is converted.  </a:t>
            </a:r>
          </a:p>
        </p:txBody>
      </p:sp>
    </p:spTree>
  </p:cSld>
  <p:clrMapOvr>
    <a:masterClrMapping/>
  </p:clrMapOvr>
  <p:transition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/>
              <a:t>Data Warehouse—Time Variant</a:t>
            </a:r>
          </a:p>
        </p:txBody>
      </p:sp>
      <p:sp>
        <p:nvSpPr>
          <p:cNvPr id="799747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828800"/>
            <a:ext cx="8382000" cy="457200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The time horizon for the data warehouse is significantly longer than that of operational systems.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Operational database: current value data.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Data warehouse data: provide information from a historical perspective (e.g., past 5-10 years)</a:t>
            </a:r>
          </a:p>
          <a:p>
            <a:pPr>
              <a:lnSpc>
                <a:spcPct val="120000"/>
              </a:lnSpc>
            </a:pPr>
            <a:r>
              <a:rPr lang="en-US" sz="2400" dirty="0"/>
              <a:t>Every key structure in the data warehouse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Contains an element of time, explicitly or implicitly</a:t>
            </a:r>
          </a:p>
          <a:p>
            <a:pPr lvl="1">
              <a:lnSpc>
                <a:spcPct val="120000"/>
              </a:lnSpc>
            </a:pPr>
            <a:r>
              <a:rPr lang="en-US" sz="2400" dirty="0"/>
              <a:t>But the key of operational data may or may not contain “time element”.</a:t>
            </a:r>
          </a:p>
          <a:p>
            <a:pPr lvl="1">
              <a:lnSpc>
                <a:spcPct val="110000"/>
              </a:lnSpc>
            </a:pPr>
            <a:endParaRPr lang="en-US" sz="2200" dirty="0"/>
          </a:p>
        </p:txBody>
      </p:sp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22" name="Rectangle 1026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/>
              <a:t>Data Warehouse—Non-Volatile</a:t>
            </a:r>
          </a:p>
        </p:txBody>
      </p:sp>
      <p:sp>
        <p:nvSpPr>
          <p:cNvPr id="798723" name="Rectangle 1027"/>
          <p:cNvSpPr>
            <a:spLocks noGrp="1" noChangeArrowheads="1"/>
          </p:cNvSpPr>
          <p:nvPr>
            <p:ph idx="1"/>
          </p:nvPr>
        </p:nvSpPr>
        <p:spPr>
          <a:xfrm>
            <a:off x="2057400" y="1828800"/>
            <a:ext cx="8153400" cy="441960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30000"/>
              </a:lnSpc>
            </a:pPr>
            <a:r>
              <a:rPr lang="en-US" sz="2400"/>
              <a:t>A </a:t>
            </a:r>
            <a:r>
              <a:rPr lang="en-US" sz="2400">
                <a:solidFill>
                  <a:schemeClr val="hlink"/>
                </a:solidFill>
              </a:rPr>
              <a:t>physically separate store</a:t>
            </a:r>
            <a:r>
              <a:rPr lang="en-US" sz="2400"/>
              <a:t> of data transformed from the operational environment.</a:t>
            </a:r>
          </a:p>
          <a:p>
            <a:pPr>
              <a:lnSpc>
                <a:spcPct val="130000"/>
              </a:lnSpc>
            </a:pPr>
            <a:r>
              <a:rPr lang="en-US" sz="2400"/>
              <a:t>Operational </a:t>
            </a:r>
            <a:r>
              <a:rPr lang="en-US" sz="2400">
                <a:solidFill>
                  <a:schemeClr val="hlink"/>
                </a:solidFill>
              </a:rPr>
              <a:t>update of data does not occur</a:t>
            </a:r>
            <a:r>
              <a:rPr lang="en-US" sz="2400"/>
              <a:t> in the data warehouse environment.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Does not require transaction processing, recovery, and concurrency control mechanisms</a:t>
            </a:r>
          </a:p>
          <a:p>
            <a:pPr lvl="1">
              <a:lnSpc>
                <a:spcPct val="130000"/>
              </a:lnSpc>
            </a:pPr>
            <a:r>
              <a:rPr lang="en-US" sz="2400"/>
              <a:t>Requires only two operations in data accessing: </a:t>
            </a:r>
          </a:p>
          <a:p>
            <a:pPr lvl="2">
              <a:lnSpc>
                <a:spcPct val="130000"/>
              </a:lnSpc>
            </a:pPr>
            <a:r>
              <a:rPr lang="en-US" i="1">
                <a:solidFill>
                  <a:schemeClr val="hlink"/>
                </a:solidFill>
              </a:rPr>
              <a:t>initial loading of data</a:t>
            </a:r>
            <a:r>
              <a:rPr lang="en-US"/>
              <a:t> and </a:t>
            </a:r>
            <a:r>
              <a:rPr lang="en-US" i="1">
                <a:solidFill>
                  <a:schemeClr val="hlink"/>
                </a:solidFill>
              </a:rPr>
              <a:t>access of data</a:t>
            </a:r>
            <a:r>
              <a:rPr lang="en-US"/>
              <a:t>.</a:t>
            </a:r>
          </a:p>
        </p:txBody>
      </p:sp>
    </p:spTree>
  </p:cSld>
  <p:clrMapOvr>
    <a:masterClrMapping/>
  </p:clrMapOvr>
  <p:transition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How are organizations using the information from data warehouses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Many organizations use this information to support business decision making activities:</a:t>
            </a:r>
          </a:p>
          <a:p>
            <a:endParaRPr lang="en-US" sz="2400" dirty="0"/>
          </a:p>
          <a:p>
            <a:r>
              <a:rPr lang="en-US" sz="2400" dirty="0"/>
              <a:t>Increasing customer focus, which includes the analysis of customer buying patterns (such as buying preference, buying time, budget cycles, and appetites for spending).</a:t>
            </a:r>
          </a:p>
          <a:p>
            <a:endParaRPr lang="en-US" sz="2400" dirty="0"/>
          </a:p>
          <a:p>
            <a:r>
              <a:rPr lang="en-US" sz="2400" dirty="0"/>
              <a:t>Repositioning products and managing product portfolios by comparing the performance of sales by quarter, by year, and by geographic regions in order to </a:t>
            </a:r>
            <a:r>
              <a:rPr lang="en-US" sz="2400" dirty="0" err="1"/>
              <a:t>ﬁne</a:t>
            </a:r>
            <a:r>
              <a:rPr lang="en-US" sz="2400" dirty="0"/>
              <a:t>-tune production strategies.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Data Mining: Concepts and Techniques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85800"/>
            <a:ext cx="7793038" cy="609600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OLTP vs. OLAP</a:t>
            </a:r>
          </a:p>
        </p:txBody>
      </p:sp>
      <p:graphicFrame>
        <p:nvGraphicFramePr>
          <p:cNvPr id="547843" name="Object 3"/>
          <p:cNvGraphicFramePr>
            <a:graphicFrameLocks noGrp="1"/>
          </p:cNvGraphicFramePr>
          <p:nvPr>
            <p:ph type="tbl" idx="1"/>
          </p:nvPr>
        </p:nvGraphicFramePr>
        <p:xfrm>
          <a:off x="1786732" y="1661147"/>
          <a:ext cx="8639175" cy="5173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Document" r:id="rId3" imgW="11519207" imgH="6897122" progId="Word.Document.8">
                  <p:embed/>
                </p:oleObj>
              </mc:Choice>
              <mc:Fallback>
                <p:oleObj name="Document" r:id="rId3" imgW="11519207" imgH="6897122" progId="Word.Document.8">
                  <p:embed/>
                  <p:pic>
                    <p:nvPicPr>
                      <p:cNvPr id="547843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6732" y="1661147"/>
                        <a:ext cx="8639175" cy="5173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7845" name="Line 5"/>
          <p:cNvSpPr>
            <a:spLocks noChangeShapeType="1"/>
          </p:cNvSpPr>
          <p:nvPr/>
        </p:nvSpPr>
        <p:spPr bwMode="auto">
          <a:xfrm flipH="1">
            <a:off x="2209800" y="6400800"/>
            <a:ext cx="205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ransition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770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133600" y="685800"/>
            <a:ext cx="7793038" cy="554038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Why Separate Data Warehouse?</a:t>
            </a:r>
          </a:p>
        </p:txBody>
      </p:sp>
      <p:sp>
        <p:nvSpPr>
          <p:cNvPr id="800771" name="Rectangle 2051"/>
          <p:cNvSpPr>
            <a:spLocks noGrp="1" noChangeArrowheads="1"/>
          </p:cNvSpPr>
          <p:nvPr>
            <p:ph idx="1"/>
          </p:nvPr>
        </p:nvSpPr>
        <p:spPr>
          <a:xfrm>
            <a:off x="1981200" y="1524000"/>
            <a:ext cx="8382000" cy="510540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High performance for both systems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DBMS— tuned for OLTP: access methods, indexing, concurrency control, recovery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Warehouse—tuned for OLAP: complex OLAP queries, multidimensional view, consolidation.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Different functions and different data:</a:t>
            </a:r>
          </a:p>
          <a:p>
            <a:pPr lvl="1">
              <a:lnSpc>
                <a:spcPct val="90000"/>
              </a:lnSpc>
            </a:pPr>
            <a:r>
              <a:rPr lang="en-US" sz="2400" u="sng" dirty="0">
                <a:solidFill>
                  <a:schemeClr val="hlink"/>
                </a:solidFill>
              </a:rPr>
              <a:t>missing data</a:t>
            </a:r>
            <a:r>
              <a:rPr lang="en-US" sz="2400" dirty="0"/>
              <a:t>: Decision support requires historical data which operational DBs do not typically maintain</a:t>
            </a:r>
          </a:p>
          <a:p>
            <a:pPr lvl="1">
              <a:lnSpc>
                <a:spcPct val="90000"/>
              </a:lnSpc>
            </a:pPr>
            <a:r>
              <a:rPr lang="en-US" sz="2400" u="sng" dirty="0">
                <a:solidFill>
                  <a:schemeClr val="hlink"/>
                </a:solidFill>
              </a:rPr>
              <a:t>data consolidation</a:t>
            </a:r>
            <a:r>
              <a:rPr lang="en-US" sz="2400" dirty="0"/>
              <a:t>:  DS requires consolidation (aggregation, summarization) of data from heterogeneous sources</a:t>
            </a:r>
          </a:p>
          <a:p>
            <a:pPr lvl="1">
              <a:lnSpc>
                <a:spcPct val="90000"/>
              </a:lnSpc>
            </a:pPr>
            <a:r>
              <a:rPr lang="en-US" sz="2400" u="sng" dirty="0">
                <a:solidFill>
                  <a:schemeClr val="hlink"/>
                </a:solidFill>
              </a:rPr>
              <a:t>data quality</a:t>
            </a:r>
            <a:r>
              <a:rPr lang="en-US" sz="2400" dirty="0"/>
              <a:t>: different sources typically use inconsistent data representations, codes and formats which have to be reconciled</a:t>
            </a:r>
          </a:p>
        </p:txBody>
      </p:sp>
    </p:spTree>
  </p:cSld>
  <p:clrMapOvr>
    <a:masterClrMapping/>
  </p:clrMapOvr>
  <p:transition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8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09800" y="304800"/>
            <a:ext cx="7467600" cy="914400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Data Warehousing and OLAP</a:t>
            </a:r>
          </a:p>
        </p:txBody>
      </p:sp>
      <p:sp>
        <p:nvSpPr>
          <p:cNvPr id="930819" name="Rectangle 1027"/>
          <p:cNvSpPr>
            <a:spLocks noGrp="1" noChangeArrowheads="1"/>
          </p:cNvSpPr>
          <p:nvPr>
            <p:ph idx="1"/>
          </p:nvPr>
        </p:nvSpPr>
        <p:spPr>
          <a:xfrm>
            <a:off x="2286000" y="1981200"/>
            <a:ext cx="8077200" cy="449580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70000"/>
              </a:lnSpc>
            </a:pPr>
            <a:r>
              <a:rPr lang="en-US" sz="2400" dirty="0"/>
              <a:t>What is a data warehouse? </a:t>
            </a:r>
          </a:p>
          <a:p>
            <a:pPr>
              <a:lnSpc>
                <a:spcPct val="170000"/>
              </a:lnSpc>
            </a:pPr>
            <a:r>
              <a:rPr lang="en-US" sz="2400" dirty="0">
                <a:solidFill>
                  <a:schemeClr val="hlink"/>
                </a:solidFill>
              </a:rPr>
              <a:t>A multi-dimensional data model</a:t>
            </a:r>
          </a:p>
          <a:p>
            <a:pPr>
              <a:lnSpc>
                <a:spcPct val="170000"/>
              </a:lnSpc>
            </a:pPr>
            <a:r>
              <a:rPr lang="en-US" sz="2400" dirty="0"/>
              <a:t>Data warehouse architecture</a:t>
            </a:r>
          </a:p>
          <a:p>
            <a:pPr>
              <a:lnSpc>
                <a:spcPct val="170000"/>
              </a:lnSpc>
              <a:buNone/>
            </a:pPr>
            <a:endParaRPr lang="en-US" sz="2400" dirty="0"/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2-D view of sales data for </a:t>
            </a:r>
            <a:r>
              <a:rPr lang="en-US" dirty="0" err="1"/>
              <a:t>AllElectronics</a:t>
            </a:r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Data Mining: Concepts and Techniques</a:t>
            </a:r>
          </a:p>
        </p:txBody>
      </p:sp>
      <p:pic>
        <p:nvPicPr>
          <p:cNvPr id="5744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4274" y="2624138"/>
            <a:ext cx="8492727" cy="3243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50800"/>
            <a:ext cx="7346950" cy="838200"/>
          </a:xfrm>
        </p:spPr>
        <p:txBody>
          <a:bodyPr/>
          <a:lstStyle/>
          <a:p>
            <a:r>
              <a:rPr lang="en-US" sz="3200" dirty="0"/>
              <a:t>3-D view of sales data for </a:t>
            </a:r>
            <a:r>
              <a:rPr lang="en-US" sz="3200" dirty="0" err="1"/>
              <a:t>AllElectronics</a:t>
            </a:r>
            <a:endParaRPr lang="en-US" sz="3200" dirty="0"/>
          </a:p>
        </p:txBody>
      </p:sp>
      <p:pic>
        <p:nvPicPr>
          <p:cNvPr id="5754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7962" y="914400"/>
            <a:ext cx="7911324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Data Mining: Concepts and Techniques</a:t>
            </a:r>
          </a:p>
        </p:txBody>
      </p:sp>
      <p:cxnSp>
        <p:nvCxnSpPr>
          <p:cNvPr id="6" name="Straight Connector 5"/>
          <p:cNvCxnSpPr/>
          <p:nvPr/>
        </p:nvCxnSpPr>
        <p:spPr bwMode="auto">
          <a:xfrm rot="5400000">
            <a:off x="3048794" y="2438400"/>
            <a:ext cx="1828006" cy="79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 rot="5400000">
            <a:off x="6706394" y="2437606"/>
            <a:ext cx="1828006" cy="79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 rot="5400000">
            <a:off x="4953794" y="2437606"/>
            <a:ext cx="1828006" cy="79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 rot="5400000">
            <a:off x="1397794" y="2437606"/>
            <a:ext cx="1828006" cy="794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Rectangle 11"/>
          <p:cNvSpPr/>
          <p:nvPr/>
        </p:nvSpPr>
        <p:spPr bwMode="auto">
          <a:xfrm>
            <a:off x="7696200" y="2286000"/>
            <a:ext cx="1600200" cy="9906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5943600" y="2235200"/>
            <a:ext cx="1600200" cy="3048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127500" y="2247900"/>
            <a:ext cx="1600200" cy="3048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324100" y="2260600"/>
            <a:ext cx="1600200" cy="3048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 rot="16200000">
            <a:off x="6858000" y="2628900"/>
            <a:ext cx="1066800" cy="3048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 rot="16200000">
            <a:off x="3244850" y="2597150"/>
            <a:ext cx="1016000" cy="342900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 rot="16200000">
            <a:off x="5010150" y="2609851"/>
            <a:ext cx="1130300" cy="330199"/>
          </a:xfrm>
          <a:prstGeom prst="rect">
            <a:avLst/>
          </a:prstGeom>
          <a:solidFill>
            <a:schemeClr val="accent1">
              <a:alpha val="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381000"/>
            <a:ext cx="6477000" cy="838200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 dirty="0"/>
              <a:t>From Tables and Spreadsheets to Data Cubes</a:t>
            </a:r>
          </a:p>
        </p:txBody>
      </p:sp>
      <p:sp>
        <p:nvSpPr>
          <p:cNvPr id="826371" name="Rectangle 3"/>
          <p:cNvSpPr>
            <a:spLocks noGrp="1" noChangeArrowheads="1"/>
          </p:cNvSpPr>
          <p:nvPr>
            <p:ph idx="1"/>
          </p:nvPr>
        </p:nvSpPr>
        <p:spPr>
          <a:xfrm>
            <a:off x="2286000" y="1828800"/>
            <a:ext cx="8153400" cy="462915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A data warehouse is based on a </a:t>
            </a:r>
            <a:r>
              <a:rPr lang="en-US" sz="2000" dirty="0">
                <a:solidFill>
                  <a:schemeClr val="hlink"/>
                </a:solidFill>
              </a:rPr>
              <a:t>multidimensional data model</a:t>
            </a:r>
            <a:r>
              <a:rPr lang="en-US" sz="2000" dirty="0"/>
              <a:t> which views data in the form of a data cube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A data cube, such as </a:t>
            </a:r>
            <a:r>
              <a:rPr lang="en-US" sz="2000" dirty="0">
                <a:solidFill>
                  <a:schemeClr val="folHlink"/>
                </a:solidFill>
              </a:rPr>
              <a:t>sales</a:t>
            </a:r>
            <a:r>
              <a:rPr lang="en-US" sz="2000" dirty="0"/>
              <a:t>, allows data to be modeled and viewed in multiple dimensions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Dimension tables, such as </a:t>
            </a:r>
            <a:r>
              <a:rPr lang="en-US" dirty="0">
                <a:solidFill>
                  <a:schemeClr val="folHlink"/>
                </a:solidFill>
              </a:rPr>
              <a:t>item (</a:t>
            </a:r>
            <a:r>
              <a:rPr lang="en-US" dirty="0" err="1">
                <a:solidFill>
                  <a:schemeClr val="folHlink"/>
                </a:solidFill>
              </a:rPr>
              <a:t>item_name</a:t>
            </a:r>
            <a:r>
              <a:rPr lang="en-US" dirty="0">
                <a:solidFill>
                  <a:schemeClr val="folHlink"/>
                </a:solidFill>
              </a:rPr>
              <a:t>, brand, type), </a:t>
            </a:r>
            <a:r>
              <a:rPr lang="en-US" dirty="0"/>
              <a:t>or</a:t>
            </a:r>
            <a:r>
              <a:rPr lang="en-US" dirty="0">
                <a:solidFill>
                  <a:schemeClr val="folHlink"/>
                </a:solidFill>
              </a:rPr>
              <a:t> time(day, week, month, quarter, year)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Fact table contains measures (such as </a:t>
            </a:r>
            <a:r>
              <a:rPr lang="en-US" dirty="0" err="1">
                <a:solidFill>
                  <a:schemeClr val="folHlink"/>
                </a:solidFill>
              </a:rPr>
              <a:t>dollars_sold</a:t>
            </a:r>
            <a:r>
              <a:rPr lang="en-US" dirty="0"/>
              <a:t>) and keys to each of the related dimension tables</a:t>
            </a:r>
          </a:p>
          <a:p>
            <a:pPr>
              <a:lnSpc>
                <a:spcPct val="120000"/>
              </a:lnSpc>
            </a:pPr>
            <a:r>
              <a:rPr lang="en-US" sz="2000" dirty="0"/>
              <a:t>In data warehousing literature, an n-D base cube is called a </a:t>
            </a:r>
            <a:r>
              <a:rPr lang="en-US" sz="2000" dirty="0">
                <a:solidFill>
                  <a:schemeClr val="hlink"/>
                </a:solidFill>
              </a:rPr>
              <a:t>base </a:t>
            </a:r>
            <a:r>
              <a:rPr lang="en-US" sz="2000" dirty="0" err="1">
                <a:solidFill>
                  <a:schemeClr val="hlink"/>
                </a:solidFill>
              </a:rPr>
              <a:t>cuboid</a:t>
            </a:r>
            <a:r>
              <a:rPr lang="en-US" sz="2000" dirty="0"/>
              <a:t>. The top most 0-D </a:t>
            </a:r>
            <a:r>
              <a:rPr lang="en-US" sz="2000" dirty="0" err="1"/>
              <a:t>cuboid</a:t>
            </a:r>
            <a:r>
              <a:rPr lang="en-US" sz="2000" dirty="0"/>
              <a:t>, which holds the highest-level of summarization, is called the </a:t>
            </a:r>
            <a:r>
              <a:rPr lang="en-US" sz="2000" dirty="0">
                <a:solidFill>
                  <a:schemeClr val="hlink"/>
                </a:solidFill>
              </a:rPr>
              <a:t>apex </a:t>
            </a:r>
            <a:r>
              <a:rPr lang="en-US" sz="2000" dirty="0" err="1">
                <a:solidFill>
                  <a:schemeClr val="hlink"/>
                </a:solidFill>
              </a:rPr>
              <a:t>cuboid</a:t>
            </a:r>
            <a:r>
              <a:rPr lang="en-US" sz="2000" dirty="0"/>
              <a:t>.  The lattice of cuboids forms a </a:t>
            </a:r>
            <a:r>
              <a:rPr lang="en-US" sz="2000" dirty="0">
                <a:solidFill>
                  <a:schemeClr val="hlink"/>
                </a:solidFill>
              </a:rPr>
              <a:t>data cube.</a:t>
            </a:r>
          </a:p>
        </p:txBody>
      </p:sp>
    </p:spTree>
  </p:cSld>
  <p:clrMapOvr>
    <a:masterClrMapping/>
  </p:clrMapOvr>
  <p:transition>
    <p:wipe dir="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42" name="Rectangle 2"/>
          <p:cNvSpPr>
            <a:spLocks noGrp="1" noChangeArrowheads="1"/>
          </p:cNvSpPr>
          <p:nvPr>
            <p:ph type="title"/>
          </p:nvPr>
        </p:nvSpPr>
        <p:spPr>
          <a:xfrm>
            <a:off x="3200400" y="381000"/>
            <a:ext cx="5486400" cy="838200"/>
          </a:xfrm>
          <a:noFill/>
          <a:ln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r>
              <a:rPr lang="en-US"/>
              <a:t>Conceptual Modeling of Data Warehouses</a:t>
            </a:r>
          </a:p>
        </p:txBody>
      </p:sp>
      <p:sp>
        <p:nvSpPr>
          <p:cNvPr id="931843" name="Rectangle 3"/>
          <p:cNvSpPr>
            <a:spLocks noGrp="1" noChangeArrowheads="1"/>
          </p:cNvSpPr>
          <p:nvPr>
            <p:ph idx="1"/>
          </p:nvPr>
        </p:nvSpPr>
        <p:spPr>
          <a:xfrm>
            <a:off x="2057400" y="1600200"/>
            <a:ext cx="8382000" cy="4857750"/>
          </a:xfrm>
          <a:noFill/>
          <a:ln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30000"/>
              </a:lnSpc>
            </a:pPr>
            <a:r>
              <a:rPr lang="en-US" sz="2400" dirty="0"/>
              <a:t>Modeling data warehouses: dimensions &amp; measures</a:t>
            </a:r>
          </a:p>
          <a:p>
            <a:pPr lvl="1">
              <a:lnSpc>
                <a:spcPct val="130000"/>
              </a:lnSpc>
              <a:spcBef>
                <a:spcPct val="10000"/>
              </a:spcBef>
            </a:pPr>
            <a:r>
              <a:rPr lang="en-US" sz="2400" u="sng" dirty="0">
                <a:solidFill>
                  <a:schemeClr val="hlink"/>
                </a:solidFill>
              </a:rPr>
              <a:t>Star schema</a:t>
            </a:r>
            <a:r>
              <a:rPr lang="en-US" sz="2400" dirty="0"/>
              <a:t>: </a:t>
            </a:r>
            <a:r>
              <a:rPr lang="en-US" sz="2400" dirty="0">
                <a:solidFill>
                  <a:srgbClr val="006666"/>
                </a:solidFill>
              </a:rPr>
              <a:t>A fact table in the middle connected to a set of dimension tables </a:t>
            </a:r>
          </a:p>
          <a:p>
            <a:pPr lvl="1">
              <a:lnSpc>
                <a:spcPct val="130000"/>
              </a:lnSpc>
              <a:spcBef>
                <a:spcPct val="10000"/>
              </a:spcBef>
            </a:pPr>
            <a:r>
              <a:rPr lang="en-US" sz="2400" u="sng" dirty="0">
                <a:solidFill>
                  <a:schemeClr val="hlink"/>
                </a:solidFill>
              </a:rPr>
              <a:t>Snowflake schema</a:t>
            </a:r>
            <a:r>
              <a:rPr lang="en-US" sz="2400" dirty="0"/>
              <a:t>:  </a:t>
            </a:r>
            <a:r>
              <a:rPr lang="en-US" sz="2400" dirty="0">
                <a:solidFill>
                  <a:srgbClr val="006666"/>
                </a:solidFill>
              </a:rPr>
              <a:t>A refinement of star schema where some dimensional hierarchy is </a:t>
            </a:r>
            <a:r>
              <a:rPr lang="en-US" sz="2400" dirty="0">
                <a:solidFill>
                  <a:schemeClr val="folHlink"/>
                </a:solidFill>
              </a:rPr>
              <a:t>normalized</a:t>
            </a:r>
            <a:r>
              <a:rPr lang="en-US" sz="2400" dirty="0">
                <a:solidFill>
                  <a:srgbClr val="006666"/>
                </a:solidFill>
              </a:rPr>
              <a:t> into a set of smaller dimension tables</a:t>
            </a:r>
            <a:r>
              <a:rPr lang="en-US" sz="2400" dirty="0"/>
              <a:t>, forming a shape similar to snowflake</a:t>
            </a:r>
          </a:p>
          <a:p>
            <a:pPr lvl="1">
              <a:lnSpc>
                <a:spcPct val="130000"/>
              </a:lnSpc>
              <a:spcBef>
                <a:spcPct val="10000"/>
              </a:spcBef>
            </a:pPr>
            <a:r>
              <a:rPr lang="en-US" sz="2400" u="sng" dirty="0">
                <a:solidFill>
                  <a:schemeClr val="hlink"/>
                </a:solidFill>
              </a:rPr>
              <a:t>Fact constellations</a:t>
            </a:r>
            <a:r>
              <a:rPr lang="en-US" sz="2400" dirty="0"/>
              <a:t>:  </a:t>
            </a:r>
            <a:r>
              <a:rPr lang="en-US" sz="2400" dirty="0">
                <a:solidFill>
                  <a:srgbClr val="006666"/>
                </a:solidFill>
              </a:rPr>
              <a:t>Multiple fact tables share dimension tables</a:t>
            </a:r>
            <a:r>
              <a:rPr lang="en-US" sz="2400" dirty="0"/>
              <a:t>, viewed as a collection of stars, therefore called </a:t>
            </a:r>
            <a:r>
              <a:rPr lang="en-US" sz="2400" dirty="0">
                <a:solidFill>
                  <a:schemeClr val="folHlink"/>
                </a:solidFill>
              </a:rPr>
              <a:t>galaxy schema</a:t>
            </a:r>
            <a:r>
              <a:rPr lang="en-US" sz="2400" dirty="0"/>
              <a:t> or fact constellation</a:t>
            </a:r>
            <a:r>
              <a:rPr lang="en-US" dirty="0"/>
              <a:t> </a:t>
            </a:r>
          </a:p>
        </p:txBody>
      </p:sp>
    </p:spTree>
  </p:cSld>
  <p:clrMapOvr>
    <a:masterClrMapping/>
  </p:clrMapOvr>
  <p:transition>
    <p:wipe dir="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1363" y="1219200"/>
            <a:ext cx="8229600" cy="4525962"/>
          </a:xfrm>
        </p:spPr>
        <p:txBody>
          <a:bodyPr/>
          <a:lstStyle/>
          <a:p>
            <a:r>
              <a:rPr lang="en-US" sz="2800" dirty="0"/>
              <a:t>The most common modeling paradigm is the star schema, in which the data warehouse contains :</a:t>
            </a:r>
          </a:p>
          <a:p>
            <a:r>
              <a:rPr lang="en-US" sz="2800" dirty="0"/>
              <a:t>(1) a large central table (fact table) containing the bulk of the data, with no redundancy, and </a:t>
            </a:r>
          </a:p>
          <a:p>
            <a:endParaRPr lang="en-US" sz="2800" dirty="0"/>
          </a:p>
          <a:p>
            <a:r>
              <a:rPr lang="en-US" sz="2800" dirty="0"/>
              <a:t>(2) a set of smaller attendant tables (dimension tables), one for each dimension. The schema graph resembles a starburst, with the dimension tables displayed in a radial pattern around the central fact table.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8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800" kern="1200">
                <a:solidFill>
                  <a:schemeClr val="tx1"/>
                </a:solidFill>
                <a:latin typeface="Tahoma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Data Mining: Concepts and Techniques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362200" y="471488"/>
            <a:ext cx="7226300" cy="442912"/>
          </a:xfrm>
        </p:spPr>
        <p:txBody>
          <a:bodyPr/>
          <a:lstStyle/>
          <a:p>
            <a:r>
              <a:rPr lang="en-US" dirty="0"/>
              <a:t>Example of Star Schema</a:t>
            </a:r>
          </a:p>
        </p:txBody>
      </p:sp>
      <p:sp>
        <p:nvSpPr>
          <p:cNvPr id="875523" name="Rectangle 3"/>
          <p:cNvSpPr>
            <a:spLocks noGrp="1" noChangeArrowheads="1"/>
          </p:cNvSpPr>
          <p:nvPr>
            <p:ph idx="1"/>
          </p:nvPr>
        </p:nvSpPr>
        <p:spPr>
          <a:xfrm>
            <a:off x="7943850" y="1676400"/>
            <a:ext cx="2495550" cy="430530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/>
              <a:t>   </a:t>
            </a:r>
          </a:p>
        </p:txBody>
      </p:sp>
      <p:sp>
        <p:nvSpPr>
          <p:cNvPr id="875525" name="Rectangle 5"/>
          <p:cNvSpPr>
            <a:spLocks noChangeArrowheads="1"/>
          </p:cNvSpPr>
          <p:nvPr/>
        </p:nvSpPr>
        <p:spPr bwMode="auto">
          <a:xfrm>
            <a:off x="5072064" y="3162300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75526" name="Group 6"/>
          <p:cNvGrpSpPr>
            <a:grpSpLocks/>
          </p:cNvGrpSpPr>
          <p:nvPr/>
        </p:nvGrpSpPr>
        <p:grpSpPr bwMode="auto">
          <a:xfrm>
            <a:off x="1828801" y="1295401"/>
            <a:ext cx="1819275" cy="2163763"/>
            <a:chOff x="277" y="1164"/>
            <a:chExt cx="1133" cy="1341"/>
          </a:xfrm>
        </p:grpSpPr>
        <p:sp>
          <p:nvSpPr>
            <p:cNvPr id="875527" name="Rectangle 7"/>
            <p:cNvSpPr>
              <a:spLocks noChangeArrowheads="1"/>
            </p:cNvSpPr>
            <p:nvPr/>
          </p:nvSpPr>
          <p:spPr bwMode="auto"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>
                  <a:latin typeface="Times New Roman" pitchFamily="18" charset="0"/>
                </a:rPr>
                <a:t>time_key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day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day_of_the_week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month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quarter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year</a:t>
              </a:r>
            </a:p>
          </p:txBody>
        </p:sp>
        <p:sp>
          <p:nvSpPr>
            <p:cNvPr id="875528" name="Rectangle 8"/>
            <p:cNvSpPr>
              <a:spLocks noChangeArrowheads="1"/>
            </p:cNvSpPr>
            <p:nvPr/>
          </p:nvSpPr>
          <p:spPr bwMode="auto"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latin typeface="Times New Roman" pitchFamily="18" charset="0"/>
                </a:rPr>
                <a:t>time</a:t>
              </a:r>
            </a:p>
          </p:txBody>
        </p:sp>
      </p:grpSp>
      <p:grpSp>
        <p:nvGrpSpPr>
          <p:cNvPr id="875529" name="Group 9"/>
          <p:cNvGrpSpPr>
            <a:grpSpLocks/>
          </p:cNvGrpSpPr>
          <p:nvPr/>
        </p:nvGrpSpPr>
        <p:grpSpPr bwMode="auto">
          <a:xfrm>
            <a:off x="8128001" y="3867151"/>
            <a:ext cx="1908175" cy="1884363"/>
            <a:chOff x="684" y="2196"/>
            <a:chExt cx="1189" cy="1168"/>
          </a:xfrm>
        </p:grpSpPr>
        <p:sp>
          <p:nvSpPr>
            <p:cNvPr id="875530" name="Rectangle 10"/>
            <p:cNvSpPr>
              <a:spLocks noChangeArrowheads="1"/>
            </p:cNvSpPr>
            <p:nvPr/>
          </p:nvSpPr>
          <p:spPr bwMode="auto">
            <a:xfrm>
              <a:off x="684" y="2450"/>
              <a:ext cx="1189" cy="91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>
                  <a:latin typeface="Times New Roman" pitchFamily="18" charset="0"/>
                </a:rPr>
                <a:t>location_key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street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city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province_or_street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country</a:t>
              </a:r>
            </a:p>
          </p:txBody>
        </p:sp>
        <p:sp>
          <p:nvSpPr>
            <p:cNvPr id="875531" name="Rectangle 11"/>
            <p:cNvSpPr>
              <a:spLocks noChangeArrowheads="1"/>
            </p:cNvSpPr>
            <p:nvPr/>
          </p:nvSpPr>
          <p:spPr bwMode="auto">
            <a:xfrm>
              <a:off x="684" y="2196"/>
              <a:ext cx="630" cy="25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 sz="2000">
                  <a:latin typeface="Times New Roman" pitchFamily="18" charset="0"/>
                </a:rPr>
                <a:t>location</a:t>
              </a:r>
            </a:p>
          </p:txBody>
        </p:sp>
      </p:grpSp>
      <p:sp>
        <p:nvSpPr>
          <p:cNvPr id="875532" name="Rectangle 12"/>
          <p:cNvSpPr>
            <a:spLocks noChangeArrowheads="1"/>
          </p:cNvSpPr>
          <p:nvPr/>
        </p:nvSpPr>
        <p:spPr bwMode="auto">
          <a:xfrm>
            <a:off x="4975225" y="2279650"/>
            <a:ext cx="1856214" cy="400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Sales Fact Table</a:t>
            </a:r>
          </a:p>
        </p:txBody>
      </p:sp>
      <p:sp>
        <p:nvSpPr>
          <p:cNvPr id="875533" name="Rectangle 13"/>
          <p:cNvSpPr>
            <a:spLocks noChangeArrowheads="1"/>
          </p:cNvSpPr>
          <p:nvPr/>
        </p:nvSpPr>
        <p:spPr bwMode="auto">
          <a:xfrm>
            <a:off x="5072064" y="2697164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34" name="Rectangle 14"/>
          <p:cNvSpPr>
            <a:spLocks noChangeArrowheads="1"/>
          </p:cNvSpPr>
          <p:nvPr/>
        </p:nvSpPr>
        <p:spPr bwMode="auto">
          <a:xfrm>
            <a:off x="5105400" y="2743200"/>
            <a:ext cx="2057400" cy="400752"/>
          </a:xfrm>
          <a:prstGeom prst="rect">
            <a:avLst/>
          </a:prstGeom>
          <a:solidFill>
            <a:srgbClr val="00FF99"/>
          </a:solidFill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eaLnBrk="0" hangingPunct="0"/>
            <a:r>
              <a:rPr lang="en-US" sz="2000">
                <a:latin typeface="Times New Roman" pitchFamily="18" charset="0"/>
              </a:rPr>
              <a:t>           time_key</a:t>
            </a:r>
          </a:p>
        </p:txBody>
      </p:sp>
      <p:sp>
        <p:nvSpPr>
          <p:cNvPr id="875535" name="Rectangle 15"/>
          <p:cNvSpPr>
            <a:spLocks noChangeArrowheads="1"/>
          </p:cNvSpPr>
          <p:nvPr/>
        </p:nvSpPr>
        <p:spPr bwMode="auto">
          <a:xfrm>
            <a:off x="5106988" y="3192463"/>
            <a:ext cx="2035814" cy="400752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   item_key</a:t>
            </a:r>
          </a:p>
        </p:txBody>
      </p:sp>
      <p:sp>
        <p:nvSpPr>
          <p:cNvPr id="875536" name="Rectangle 16"/>
          <p:cNvSpPr>
            <a:spLocks noChangeArrowheads="1"/>
          </p:cNvSpPr>
          <p:nvPr/>
        </p:nvSpPr>
        <p:spPr bwMode="auto">
          <a:xfrm>
            <a:off x="5072064" y="3627438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37" name="Rectangle 17"/>
          <p:cNvSpPr>
            <a:spLocks noChangeArrowheads="1"/>
          </p:cNvSpPr>
          <p:nvPr/>
        </p:nvSpPr>
        <p:spPr bwMode="auto">
          <a:xfrm>
            <a:off x="5106988" y="3638550"/>
            <a:ext cx="2087110" cy="400752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branch_key</a:t>
            </a:r>
          </a:p>
        </p:txBody>
      </p:sp>
      <p:sp>
        <p:nvSpPr>
          <p:cNvPr id="875538" name="Rectangle 18"/>
          <p:cNvSpPr>
            <a:spLocks noChangeArrowheads="1"/>
          </p:cNvSpPr>
          <p:nvPr/>
        </p:nvSpPr>
        <p:spPr bwMode="auto">
          <a:xfrm>
            <a:off x="5072064" y="4090989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39" name="Rectangle 19"/>
          <p:cNvSpPr>
            <a:spLocks noChangeArrowheads="1"/>
          </p:cNvSpPr>
          <p:nvPr/>
        </p:nvSpPr>
        <p:spPr bwMode="auto">
          <a:xfrm>
            <a:off x="5105401" y="4114800"/>
            <a:ext cx="2085507" cy="400752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location_key</a:t>
            </a:r>
          </a:p>
        </p:txBody>
      </p:sp>
      <p:sp>
        <p:nvSpPr>
          <p:cNvPr id="875540" name="Rectangle 20"/>
          <p:cNvSpPr>
            <a:spLocks noChangeArrowheads="1"/>
          </p:cNvSpPr>
          <p:nvPr/>
        </p:nvSpPr>
        <p:spPr bwMode="auto">
          <a:xfrm>
            <a:off x="5072064" y="4556125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41" name="Rectangle 21"/>
          <p:cNvSpPr>
            <a:spLocks noChangeArrowheads="1"/>
          </p:cNvSpPr>
          <p:nvPr/>
        </p:nvSpPr>
        <p:spPr bwMode="auto">
          <a:xfrm>
            <a:off x="5106988" y="4606925"/>
            <a:ext cx="2006960" cy="400752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 units_sold</a:t>
            </a:r>
          </a:p>
        </p:txBody>
      </p:sp>
      <p:sp>
        <p:nvSpPr>
          <p:cNvPr id="875542" name="Rectangle 22"/>
          <p:cNvSpPr>
            <a:spLocks noChangeArrowheads="1"/>
          </p:cNvSpPr>
          <p:nvPr/>
        </p:nvSpPr>
        <p:spPr bwMode="auto">
          <a:xfrm>
            <a:off x="5072064" y="5021263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43" name="Rectangle 23"/>
          <p:cNvSpPr>
            <a:spLocks noChangeArrowheads="1"/>
          </p:cNvSpPr>
          <p:nvPr/>
        </p:nvSpPr>
        <p:spPr bwMode="auto">
          <a:xfrm>
            <a:off x="5106988" y="5051425"/>
            <a:ext cx="2013372" cy="400752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dollars_sold</a:t>
            </a:r>
          </a:p>
        </p:txBody>
      </p:sp>
      <p:sp>
        <p:nvSpPr>
          <p:cNvPr id="875544" name="Rectangle 24"/>
          <p:cNvSpPr>
            <a:spLocks noChangeArrowheads="1"/>
          </p:cNvSpPr>
          <p:nvPr/>
        </p:nvSpPr>
        <p:spPr bwMode="auto">
          <a:xfrm>
            <a:off x="5072064" y="5486400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45" name="Rectangle 25"/>
          <p:cNvSpPr>
            <a:spLocks noChangeArrowheads="1"/>
          </p:cNvSpPr>
          <p:nvPr/>
        </p:nvSpPr>
        <p:spPr bwMode="auto">
          <a:xfrm>
            <a:off x="5087939" y="5497513"/>
            <a:ext cx="2014975" cy="400752"/>
          </a:xfrm>
          <a:prstGeom prst="rect">
            <a:avLst/>
          </a:prstGeom>
          <a:solidFill>
            <a:srgbClr val="FF99CC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eaLnBrk="0" hangingPunct="0"/>
            <a:r>
              <a:rPr lang="en-US" sz="2000">
                <a:latin typeface="Times New Roman" pitchFamily="18" charset="0"/>
              </a:rPr>
              <a:t>             avg_sales</a:t>
            </a:r>
          </a:p>
        </p:txBody>
      </p:sp>
      <p:sp>
        <p:nvSpPr>
          <p:cNvPr id="875546" name="Rectangle 26"/>
          <p:cNvSpPr>
            <a:spLocks noChangeArrowheads="1"/>
          </p:cNvSpPr>
          <p:nvPr/>
        </p:nvSpPr>
        <p:spPr bwMode="auto">
          <a:xfrm>
            <a:off x="3581400" y="59055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>
                <a:latin typeface="Times New Roman" pitchFamily="18" charset="0"/>
              </a:rPr>
              <a:t>Measures</a:t>
            </a:r>
          </a:p>
        </p:txBody>
      </p:sp>
      <p:sp>
        <p:nvSpPr>
          <p:cNvPr id="875547" name="Line 27"/>
          <p:cNvSpPr>
            <a:spLocks noChangeShapeType="1"/>
          </p:cNvSpPr>
          <p:nvPr/>
        </p:nvSpPr>
        <p:spPr bwMode="auto">
          <a:xfrm flipV="1">
            <a:off x="4295775" y="478155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48" name="Line 28"/>
          <p:cNvSpPr>
            <a:spLocks noChangeShapeType="1"/>
          </p:cNvSpPr>
          <p:nvPr/>
        </p:nvSpPr>
        <p:spPr bwMode="auto">
          <a:xfrm flipV="1">
            <a:off x="4276725" y="5324476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49" name="Line 29"/>
          <p:cNvSpPr>
            <a:spLocks noChangeShapeType="1"/>
          </p:cNvSpPr>
          <p:nvPr/>
        </p:nvSpPr>
        <p:spPr bwMode="auto">
          <a:xfrm flipV="1">
            <a:off x="4276726" y="569277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50" name="Line 30"/>
          <p:cNvSpPr>
            <a:spLocks noChangeShapeType="1"/>
          </p:cNvSpPr>
          <p:nvPr/>
        </p:nvSpPr>
        <p:spPr bwMode="auto">
          <a:xfrm flipH="1">
            <a:off x="3852863" y="3949701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51" name="Line 31"/>
          <p:cNvSpPr>
            <a:spLocks noChangeShapeType="1"/>
          </p:cNvSpPr>
          <p:nvPr/>
        </p:nvSpPr>
        <p:spPr bwMode="auto">
          <a:xfrm flipH="1" flipV="1">
            <a:off x="3657601" y="2514601"/>
            <a:ext cx="1446213" cy="485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52" name="Line 32"/>
          <p:cNvSpPr>
            <a:spLocks noChangeShapeType="1"/>
          </p:cNvSpPr>
          <p:nvPr/>
        </p:nvSpPr>
        <p:spPr bwMode="auto">
          <a:xfrm>
            <a:off x="7104063" y="4356100"/>
            <a:ext cx="1039812" cy="38735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75553" name="Line 33"/>
          <p:cNvSpPr>
            <a:spLocks noChangeShapeType="1"/>
          </p:cNvSpPr>
          <p:nvPr/>
        </p:nvSpPr>
        <p:spPr bwMode="auto">
          <a:xfrm flipV="1">
            <a:off x="7104063" y="2709863"/>
            <a:ext cx="1077912" cy="677862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ffectLst/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75554" name="Group 34"/>
          <p:cNvGrpSpPr>
            <a:grpSpLocks/>
          </p:cNvGrpSpPr>
          <p:nvPr/>
        </p:nvGrpSpPr>
        <p:grpSpPr bwMode="auto">
          <a:xfrm>
            <a:off x="8134351" y="1600200"/>
            <a:ext cx="1438275" cy="1925638"/>
            <a:chOff x="3796" y="983"/>
            <a:chExt cx="896" cy="1194"/>
          </a:xfrm>
        </p:grpSpPr>
        <p:sp>
          <p:nvSpPr>
            <p:cNvPr id="875555" name="Rectangle 35"/>
            <p:cNvSpPr>
              <a:spLocks noChangeArrowheads="1"/>
            </p:cNvSpPr>
            <p:nvPr/>
          </p:nvSpPr>
          <p:spPr bwMode="auto">
            <a:xfrm>
              <a:off x="3796" y="1262"/>
              <a:ext cx="896" cy="91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>
                  <a:latin typeface="Times New Roman" pitchFamily="18" charset="0"/>
                </a:rPr>
                <a:t>item_key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item_name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brand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type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supplier_type</a:t>
              </a:r>
            </a:p>
          </p:txBody>
        </p:sp>
        <p:sp>
          <p:nvSpPr>
            <p:cNvPr id="875556" name="Text Box 36"/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item</a:t>
              </a:r>
            </a:p>
          </p:txBody>
        </p:sp>
      </p:grpSp>
      <p:grpSp>
        <p:nvGrpSpPr>
          <p:cNvPr id="875557" name="Group 37"/>
          <p:cNvGrpSpPr>
            <a:grpSpLocks/>
          </p:cNvGrpSpPr>
          <p:nvPr/>
        </p:nvGrpSpPr>
        <p:grpSpPr bwMode="auto">
          <a:xfrm>
            <a:off x="2362201" y="3886201"/>
            <a:ext cx="1509713" cy="1393825"/>
            <a:chOff x="3844" y="2426"/>
            <a:chExt cx="939" cy="864"/>
          </a:xfrm>
        </p:grpSpPr>
        <p:sp>
          <p:nvSpPr>
            <p:cNvPr id="875558" name="Rectangle 38"/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2075" tIns="46038" rIns="92075" bIns="46038">
              <a:spAutoFit/>
            </a:bodyPr>
            <a:lstStyle/>
            <a:p>
              <a:pPr eaLnBrk="0" hangingPunct="0"/>
              <a:r>
                <a:rPr lang="en-US">
                  <a:latin typeface="Times New Roman" pitchFamily="18" charset="0"/>
                </a:rPr>
                <a:t>branch_key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branch_name</a:t>
              </a:r>
            </a:p>
            <a:p>
              <a:pPr eaLnBrk="0" hangingPunct="0"/>
              <a:r>
                <a:rPr lang="en-US">
                  <a:latin typeface="Times New Roman" pitchFamily="18" charset="0"/>
                </a:rPr>
                <a:t>branch_type</a:t>
              </a:r>
            </a:p>
          </p:txBody>
        </p:sp>
        <p:sp>
          <p:nvSpPr>
            <p:cNvPr id="875559" name="Text Box 39"/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400">
                  <a:latin typeface="Times New Roman" pitchFamily="18" charset="0"/>
                </a:rPr>
                <a:t>branch</a:t>
              </a:r>
            </a:p>
          </p:txBody>
        </p:sp>
      </p:grpSp>
    </p:spTree>
  </p:cSld>
  <p:clrMapOvr>
    <a:masterClrMapping/>
  </p:clrMapOvr>
  <p:transition>
    <p:wipe dir="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2514600"/>
            <a:ext cx="8229600" cy="1600200"/>
          </a:xfrm>
        </p:spPr>
        <p:txBody>
          <a:bodyPr/>
          <a:lstStyle/>
          <a:p>
            <a:pPr algn="ctr">
              <a:buNone/>
            </a:pPr>
            <a:r>
              <a:rPr lang="en-US" sz="9600" dirty="0"/>
              <a:t>Q &amp; A</a:t>
            </a:r>
          </a:p>
          <a:p>
            <a:pPr algn="ctr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APU-2023">
      <a:dk1>
        <a:srgbClr val="082F50"/>
      </a:dk1>
      <a:lt1>
        <a:srgbClr val="FFFFFF"/>
      </a:lt1>
      <a:dk2>
        <a:srgbClr val="0070C0"/>
      </a:dk2>
      <a:lt2>
        <a:srgbClr val="C0F9FC"/>
      </a:lt2>
      <a:accent1>
        <a:srgbClr val="00B0F0"/>
      </a:accent1>
      <a:accent2>
        <a:srgbClr val="079244"/>
      </a:accent2>
      <a:accent3>
        <a:srgbClr val="E02C32"/>
      </a:accent3>
      <a:accent4>
        <a:srgbClr val="45D7EA"/>
      </a:accent4>
      <a:accent5>
        <a:srgbClr val="FAC41B"/>
      </a:accent5>
      <a:accent6>
        <a:srgbClr val="082F50"/>
      </a:accent6>
      <a:hlink>
        <a:srgbClr val="9AB1D0"/>
      </a:hlink>
      <a:folHlink>
        <a:srgbClr val="0D3358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PU-2023">
      <a:dk1>
        <a:srgbClr val="081929"/>
      </a:dk1>
      <a:lt1>
        <a:srgbClr val="FFFFFF"/>
      </a:lt1>
      <a:dk2>
        <a:srgbClr val="0070C0"/>
      </a:dk2>
      <a:lt2>
        <a:srgbClr val="FFFFFF"/>
      </a:lt2>
      <a:accent1>
        <a:srgbClr val="00B0F0"/>
      </a:accent1>
      <a:accent2>
        <a:srgbClr val="99CC00"/>
      </a:accent2>
      <a:accent3>
        <a:srgbClr val="FF9966"/>
      </a:accent3>
      <a:accent4>
        <a:srgbClr val="45D7EA"/>
      </a:accent4>
      <a:accent5>
        <a:srgbClr val="CC66FF"/>
      </a:accent5>
      <a:accent6>
        <a:srgbClr val="FCE456"/>
      </a:accent6>
      <a:hlink>
        <a:srgbClr val="B7C6FE"/>
      </a:hlink>
      <a:folHlink>
        <a:srgbClr val="00B0F0"/>
      </a:folHlink>
    </a:clrScheme>
    <a:fontScheme name="APU-2023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0C09830CF6CB84B8D12D02B69700FAF" ma:contentTypeVersion="14" ma:contentTypeDescription="Create a new document." ma:contentTypeScope="" ma:versionID="91bb3fc2fda44f6dca498e4986d3c34f">
  <xsd:schema xmlns:xsd="http://www.w3.org/2001/XMLSchema" xmlns:xs="http://www.w3.org/2001/XMLSchema" xmlns:p="http://schemas.microsoft.com/office/2006/metadata/properties" xmlns:ns3="c0f90a4e-2534-4174-991f-0eb794d5b859" xmlns:ns4="d2981e9c-0c44-4237-a41f-50944ddb2e5d" targetNamespace="http://schemas.microsoft.com/office/2006/metadata/properties" ma:root="true" ma:fieldsID="d346f1bbf5bc0d23fe733b73729b7857" ns3:_="" ns4:_="">
    <xsd:import namespace="c0f90a4e-2534-4174-991f-0eb794d5b859"/>
    <xsd:import namespace="d2981e9c-0c44-4237-a41f-50944ddb2e5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90a4e-2534-4174-991f-0eb794d5b8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981e9c-0c44-4237-a41f-50944ddb2e5d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D3909F-E191-4C23-B23C-BA46B5ADDDA2}">
  <ds:schemaRefs>
    <ds:schemaRef ds:uri="http://purl.org/dc/terms/"/>
    <ds:schemaRef ds:uri="http://schemas.microsoft.com/office/2006/documentManagement/types"/>
    <ds:schemaRef ds:uri="d2981e9c-0c44-4237-a41f-50944ddb2e5d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90a4e-2534-4174-991f-0eb794d5b859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374C82B-844E-4C6D-B41E-036AD4E59A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B6039F5-814C-4C5B-A6B0-438D9C48FD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f90a4e-2534-4174-991f-0eb794d5b859"/>
    <ds:schemaRef ds:uri="d2981e9c-0c44-4237-a41f-50944ddb2e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</TotalTime>
  <Pages>11</Pages>
  <Words>1327</Words>
  <Application>Microsoft Office PowerPoint</Application>
  <PresentationFormat>Widescreen</PresentationFormat>
  <Paragraphs>152</Paragraphs>
  <Slides>20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CG Times</vt:lpstr>
      <vt:lpstr>Arial</vt:lpstr>
      <vt:lpstr>Calibri</vt:lpstr>
      <vt:lpstr>Montserrat</vt:lpstr>
      <vt:lpstr>PT Sans</vt:lpstr>
      <vt:lpstr>Times New Roman</vt:lpstr>
      <vt:lpstr>Wingdings</vt:lpstr>
      <vt:lpstr>UCTI-Template-foundation-level</vt:lpstr>
      <vt:lpstr>Document</vt:lpstr>
      <vt:lpstr>PowerPoint Presentation</vt:lpstr>
      <vt:lpstr>Learning Outcomes</vt:lpstr>
      <vt:lpstr>Key Terms you must be able to use</vt:lpstr>
      <vt:lpstr>Data Warehousing and OLAP</vt:lpstr>
      <vt:lpstr>What is Data Warehouse?</vt:lpstr>
      <vt:lpstr>Data Warehouse—Subject-Oriented</vt:lpstr>
      <vt:lpstr>Data Warehouse—Integrated</vt:lpstr>
      <vt:lpstr>Data Warehouse—Time Variant</vt:lpstr>
      <vt:lpstr>Data Warehouse—Non-Volatile</vt:lpstr>
      <vt:lpstr>How are organizations using the information from data warehouses ?</vt:lpstr>
      <vt:lpstr>OLTP vs. OLAP</vt:lpstr>
      <vt:lpstr>Why Separate Data Warehouse?</vt:lpstr>
      <vt:lpstr>Data Warehousing and OLAP</vt:lpstr>
      <vt:lpstr>A 2-D view of sales data for AllElectronics </vt:lpstr>
      <vt:lpstr>3-D view of sales data for AllElectronics</vt:lpstr>
      <vt:lpstr>From Tables and Spreadsheets to Data Cubes</vt:lpstr>
      <vt:lpstr>Conceptual Modeling of Data Warehouses</vt:lpstr>
      <vt:lpstr>Star schema</vt:lpstr>
      <vt:lpstr>Example of Star Schema</vt:lpstr>
      <vt:lpstr>PowerPoint Presentation</vt:lpstr>
    </vt:vector>
  </TitlesOfParts>
  <Company>APU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Teaching Slides</dc:subject>
  <dc:creator>DBB</dc:creator>
  <cp:keywords>2023</cp:keywords>
  <cp:lastModifiedBy>Lai Chew Ping</cp:lastModifiedBy>
  <cp:revision>332</cp:revision>
  <cp:lastPrinted>2023-02-03T03:07:34Z</cp:lastPrinted>
  <dcterms:created xsi:type="dcterms:W3CDTF">2005-08-02T10:18:20Z</dcterms:created>
  <dcterms:modified xsi:type="dcterms:W3CDTF">2024-01-22T07:07:36Z</dcterms:modified>
  <cp:category>Teaching Slides</cp:category>
  <cp:contentStatus>2023 Version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0x01010050C09830CF6CB84B8D12D02B69700FAF</vt:lpwstr>
  </property>
</Properties>
</file>