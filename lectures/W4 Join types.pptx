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29"/>
  </p:notesMasterIdLst>
  <p:handoutMasterIdLst>
    <p:handoutMasterId r:id="rId30"/>
  </p:handoutMasterIdLst>
  <p:sldIdLst>
    <p:sldId id="409" r:id="rId5"/>
    <p:sldId id="410" r:id="rId6"/>
    <p:sldId id="411" r:id="rId7"/>
    <p:sldId id="386" r:id="rId8"/>
    <p:sldId id="387" r:id="rId9"/>
    <p:sldId id="389" r:id="rId10"/>
    <p:sldId id="390" r:id="rId11"/>
    <p:sldId id="391" r:id="rId12"/>
    <p:sldId id="394" r:id="rId13"/>
    <p:sldId id="395" r:id="rId14"/>
    <p:sldId id="396" r:id="rId15"/>
    <p:sldId id="397" r:id="rId16"/>
    <p:sldId id="400" r:id="rId17"/>
    <p:sldId id="401" r:id="rId18"/>
    <p:sldId id="403" r:id="rId19"/>
    <p:sldId id="404" r:id="rId20"/>
    <p:sldId id="405" r:id="rId21"/>
    <p:sldId id="398" r:id="rId22"/>
    <p:sldId id="408" r:id="rId23"/>
    <p:sldId id="399" r:id="rId24"/>
    <p:sldId id="393" r:id="rId25"/>
    <p:sldId id="406" r:id="rId26"/>
    <p:sldId id="407" r:id="rId27"/>
    <p:sldId id="413" r:id="rId28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409"/>
            <p14:sldId id="410"/>
            <p14:sldId id="411"/>
            <p14:sldId id="386"/>
            <p14:sldId id="387"/>
            <p14:sldId id="389"/>
            <p14:sldId id="390"/>
            <p14:sldId id="391"/>
            <p14:sldId id="394"/>
            <p14:sldId id="395"/>
            <p14:sldId id="396"/>
            <p14:sldId id="397"/>
            <p14:sldId id="400"/>
            <p14:sldId id="401"/>
            <p14:sldId id="403"/>
            <p14:sldId id="404"/>
            <p14:sldId id="405"/>
            <p14:sldId id="398"/>
            <p14:sldId id="408"/>
            <p14:sldId id="399"/>
            <p14:sldId id="393"/>
            <p14:sldId id="406"/>
            <p14:sldId id="407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CT004-3.5-3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Advanced Database Systems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SQL Join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dirty="0"/>
              <a:t>Topic &amp; Structure of Lesson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 dirty="0"/>
              <a:t>Simple join</a:t>
            </a:r>
          </a:p>
          <a:p>
            <a:pPr eaLnBrk="1" hangingPunct="1"/>
            <a:r>
              <a:rPr lang="en-GB" sz="2800" dirty="0"/>
              <a:t>Three Tables join</a:t>
            </a:r>
          </a:p>
          <a:p>
            <a:pPr eaLnBrk="1" hangingPunct="1"/>
            <a:r>
              <a:rPr lang="en-GB" sz="2800" dirty="0" err="1"/>
              <a:t>Multigrouping</a:t>
            </a:r>
            <a:r>
              <a:rPr lang="en-GB" sz="2800" dirty="0"/>
              <a:t> columns</a:t>
            </a:r>
          </a:p>
          <a:p>
            <a:pPr eaLnBrk="1" hangingPunct="1"/>
            <a:r>
              <a:rPr lang="en-GB" sz="2800" dirty="0"/>
              <a:t>Left outer join</a:t>
            </a:r>
          </a:p>
          <a:p>
            <a:pPr eaLnBrk="1" hangingPunct="1"/>
            <a:r>
              <a:rPr lang="en-GB" sz="2800" dirty="0"/>
              <a:t>Right outer join</a:t>
            </a:r>
          </a:p>
          <a:p>
            <a:pPr eaLnBrk="1" hangingPunct="1"/>
            <a:r>
              <a:rPr lang="en-GB" sz="2800" dirty="0"/>
              <a:t>Full outer join</a:t>
            </a:r>
          </a:p>
          <a:p>
            <a:pPr eaLnBrk="1" hangingPunct="1"/>
            <a:endParaRPr lang="en-GB" sz="2800" dirty="0"/>
          </a:p>
          <a:p>
            <a:pPr eaLnBrk="1" hangingPunct="1"/>
            <a:endParaRPr lang="en-GB" sz="2800" dirty="0"/>
          </a:p>
          <a:p>
            <a:pPr eaLnBrk="1" hangingPunct="1"/>
            <a:endParaRPr lang="en-GB" sz="2800" dirty="0"/>
          </a:p>
          <a:p>
            <a:pPr eaLnBrk="1" hangingPunct="1"/>
            <a:endParaRPr lang="en-GB" sz="2800" dirty="0"/>
          </a:p>
        </p:txBody>
      </p:sp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dirty="0"/>
              <a:t>Learning Outcomes</a:t>
            </a:r>
            <a:endParaRPr lang="en-US" sz="3200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2011363" y="1697038"/>
            <a:ext cx="8405812" cy="4525962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b="1" dirty="0">
                <a:cs typeface="Times New Roman" pitchFamily="18" charset="0"/>
              </a:rPr>
              <a:t>By the end of this lesson you should be able 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b="1" dirty="0">
              <a:cs typeface="Times New Roman" pitchFamily="18" charset="0"/>
            </a:endParaRPr>
          </a:p>
          <a:p>
            <a:pPr eaLnBrk="1" hangingPunct="1"/>
            <a:r>
              <a:rPr lang="en-GB" sz="2800" dirty="0"/>
              <a:t>Use simple join to retrieve information from more than one table</a:t>
            </a:r>
          </a:p>
          <a:p>
            <a:pPr eaLnBrk="1" hangingPunct="1"/>
            <a:r>
              <a:rPr lang="en-GB" sz="2800" dirty="0"/>
              <a:t>Understand the different types of joins, INNER JOIN, LEFT OUTER JOIN, RIGHT OUTER JOIN</a:t>
            </a:r>
          </a:p>
          <a:p>
            <a:pPr eaLnBrk="1" hangingPunct="1"/>
            <a:r>
              <a:rPr lang="en-GB" sz="2800" dirty="0"/>
              <a:t>AND FULL OUTER JOIN.</a:t>
            </a:r>
          </a:p>
          <a:p>
            <a:pPr eaLnBrk="1" hangingPunct="1"/>
            <a:endParaRPr lang="en-US" dirty="0"/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Simple Join</a:t>
            </a:r>
            <a:endParaRPr lang="en-US" b="1" dirty="0"/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>
          <a:xfrm>
            <a:off x="2043114" y="1557338"/>
            <a:ext cx="8085137" cy="41148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sz="2800" dirty="0"/>
              <a:t>	List names of all clients who have viewed a property along with any comment supplied.</a:t>
            </a:r>
          </a:p>
          <a:p>
            <a:pPr algn="just">
              <a:lnSpc>
                <a:spcPct val="6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>
              <a:buFont typeface="Monotype Sorts" pitchFamily="2" charset="2"/>
              <a:buNone/>
            </a:pPr>
            <a:r>
              <a:rPr lang="en-US" sz="2800" dirty="0"/>
              <a:t>	    SELECT </a:t>
            </a:r>
            <a:r>
              <a:rPr lang="en-US" sz="2800" dirty="0" err="1"/>
              <a:t>c.clientNo</a:t>
            </a:r>
            <a:r>
              <a:rPr lang="en-US" sz="2800" dirty="0"/>
              <a:t>, </a:t>
            </a:r>
            <a:r>
              <a:rPr lang="en-US" sz="2800" dirty="0" err="1"/>
              <a:t>fName</a:t>
            </a:r>
            <a:r>
              <a:rPr lang="en-US" sz="2800" dirty="0"/>
              <a:t>, </a:t>
            </a:r>
            <a:r>
              <a:rPr lang="en-US" sz="2800" dirty="0" err="1"/>
              <a:t>lName</a:t>
            </a:r>
            <a:r>
              <a:rPr lang="en-US" sz="2800" dirty="0"/>
              <a:t>,</a:t>
            </a:r>
          </a:p>
          <a:p>
            <a:pPr lvl="1" algn="just">
              <a:buFontTx/>
              <a:buNone/>
            </a:pPr>
            <a:r>
              <a:rPr lang="en-US" sz="2400" dirty="0"/>
              <a:t>                    </a:t>
            </a:r>
            <a:r>
              <a:rPr lang="en-US" sz="2400" dirty="0" err="1"/>
              <a:t>propertyNo</a:t>
            </a:r>
            <a:r>
              <a:rPr lang="en-US" sz="2400" dirty="0"/>
              <a:t>, comment</a:t>
            </a:r>
          </a:p>
          <a:p>
            <a:pPr lvl="1" algn="just">
              <a:buFontTx/>
              <a:buNone/>
            </a:pPr>
            <a:r>
              <a:rPr lang="en-US" sz="2400" dirty="0"/>
              <a:t>	FROM Client c, Viewing v</a:t>
            </a:r>
          </a:p>
          <a:p>
            <a:pPr lvl="1" algn="just">
              <a:buFontTx/>
              <a:buNone/>
            </a:pPr>
            <a:r>
              <a:rPr lang="en-US" sz="2400" dirty="0"/>
              <a:t>	WHERE </a:t>
            </a:r>
            <a:r>
              <a:rPr lang="en-US" sz="2400" dirty="0" err="1"/>
              <a:t>c.clientNo</a:t>
            </a:r>
            <a:r>
              <a:rPr lang="en-US" sz="2400" dirty="0"/>
              <a:t> = </a:t>
            </a:r>
            <a:r>
              <a:rPr lang="en-US" sz="2400" dirty="0" err="1"/>
              <a:t>v.clientNo</a:t>
            </a:r>
            <a:r>
              <a:rPr lang="en-US" sz="2400" dirty="0"/>
              <a:t>;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Simple Join</a:t>
            </a:r>
            <a:endParaRPr lang="en-US" b="1" dirty="0"/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001000" cy="4114800"/>
          </a:xfrm>
        </p:spPr>
        <p:txBody>
          <a:bodyPr/>
          <a:lstStyle/>
          <a:p>
            <a:pPr algn="just"/>
            <a:r>
              <a:rPr lang="en-US" sz="2800" dirty="0"/>
              <a:t>Only those rows from both tables that have identical values in the </a:t>
            </a:r>
            <a:r>
              <a:rPr lang="en-US" sz="2800" dirty="0" err="1"/>
              <a:t>clientNo</a:t>
            </a:r>
            <a:r>
              <a:rPr lang="en-US" sz="2800" dirty="0"/>
              <a:t> columns (</a:t>
            </a:r>
            <a:r>
              <a:rPr lang="en-US" sz="2800" dirty="0" err="1"/>
              <a:t>c.clientNo</a:t>
            </a:r>
            <a:r>
              <a:rPr lang="en-US" sz="2800" dirty="0"/>
              <a:t> = </a:t>
            </a:r>
            <a:r>
              <a:rPr lang="en-US" sz="2800" dirty="0" err="1"/>
              <a:t>v.clientNo</a:t>
            </a:r>
            <a:r>
              <a:rPr lang="en-US" sz="2800" dirty="0"/>
              <a:t>) are included in result. </a:t>
            </a:r>
          </a:p>
          <a:p>
            <a:pPr algn="just">
              <a:lnSpc>
                <a:spcPct val="40000"/>
              </a:lnSpc>
            </a:pPr>
            <a:endParaRPr lang="en-US" sz="2800" dirty="0"/>
          </a:p>
          <a:p>
            <a:pPr algn="just">
              <a:lnSpc>
                <a:spcPct val="60000"/>
              </a:lnSpc>
            </a:pPr>
            <a:r>
              <a:rPr lang="en-US" sz="2800" dirty="0"/>
              <a:t>Equivalent to </a:t>
            </a:r>
            <a:r>
              <a:rPr lang="en-US" sz="2800" dirty="0" err="1"/>
              <a:t>equi</a:t>
            </a:r>
            <a:r>
              <a:rPr lang="en-US" sz="2800" dirty="0"/>
              <a:t>-join in relational algebra.</a:t>
            </a:r>
          </a:p>
        </p:txBody>
      </p:sp>
      <p:pic>
        <p:nvPicPr>
          <p:cNvPr id="271364" name="Picture 4" descr="DS3-Table 05-2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24167" y="3657600"/>
            <a:ext cx="5813425" cy="2808288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Alternative JOIN Constructs</a:t>
            </a:r>
            <a:endParaRPr lang="en-US" b="1" dirty="0"/>
          </a:p>
        </p:txBody>
      </p:sp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>
          <a:xfrm>
            <a:off x="2038350" y="1557338"/>
            <a:ext cx="8305800" cy="4114800"/>
          </a:xfrm>
        </p:spPr>
        <p:txBody>
          <a:bodyPr/>
          <a:lstStyle/>
          <a:p>
            <a:pPr algn="just"/>
            <a:r>
              <a:rPr lang="en-US" sz="2800" dirty="0"/>
              <a:t>SQL provides alternative ways to specify joins:</a:t>
            </a:r>
          </a:p>
          <a:p>
            <a:pPr algn="just">
              <a:lnSpc>
                <a:spcPct val="40000"/>
              </a:lnSpc>
            </a:pPr>
            <a:endParaRPr lang="en-US" sz="2800" dirty="0"/>
          </a:p>
          <a:p>
            <a:pPr algn="just">
              <a:buFont typeface="Monotype Sorts" pitchFamily="2" charset="2"/>
              <a:buNone/>
            </a:pPr>
            <a:r>
              <a:rPr lang="en-US" sz="2800" dirty="0"/>
              <a:t>	FROM Client c JOIN Viewing v ON </a:t>
            </a:r>
            <a:r>
              <a:rPr lang="en-US" sz="2800" dirty="0" err="1"/>
              <a:t>c.clientNo</a:t>
            </a:r>
            <a:r>
              <a:rPr lang="en-US" sz="2800" dirty="0"/>
              <a:t> = </a:t>
            </a:r>
            <a:r>
              <a:rPr lang="en-US" sz="2800" dirty="0" err="1"/>
              <a:t>v.clientNo</a:t>
            </a:r>
            <a:endParaRPr lang="en-US" sz="2800" dirty="0"/>
          </a:p>
          <a:p>
            <a:pPr algn="just">
              <a:buFont typeface="Monotype Sorts" pitchFamily="2" charset="2"/>
              <a:buNone/>
            </a:pPr>
            <a:r>
              <a:rPr lang="en-US" sz="2800" dirty="0"/>
              <a:t>	FROM Client JOIN Viewing USING </a:t>
            </a:r>
            <a:r>
              <a:rPr lang="en-US" sz="2800" dirty="0" err="1"/>
              <a:t>clientNo</a:t>
            </a:r>
            <a:endParaRPr lang="en-US" sz="2800" dirty="0"/>
          </a:p>
          <a:p>
            <a:pPr algn="just">
              <a:buFont typeface="Monotype Sorts" pitchFamily="2" charset="2"/>
              <a:buNone/>
            </a:pPr>
            <a:r>
              <a:rPr lang="en-US" sz="2800" dirty="0"/>
              <a:t>	FROM Client NATURAL JOIN Viewing</a:t>
            </a:r>
          </a:p>
          <a:p>
            <a:pPr algn="just">
              <a:lnSpc>
                <a:spcPct val="5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/>
            <a:r>
              <a:rPr lang="en-US" sz="2800" dirty="0"/>
              <a:t>In each case, FROM replaces original FROM and WHERE. However, first produces table with two identical </a:t>
            </a:r>
            <a:r>
              <a:rPr lang="en-US" sz="2800" dirty="0" err="1"/>
              <a:t>clientNo</a:t>
            </a:r>
            <a:r>
              <a:rPr lang="en-US" sz="2800" dirty="0"/>
              <a:t> columns.</a:t>
            </a:r>
          </a:p>
          <a:p>
            <a:endParaRPr lang="en-US" sz="28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Sorting a join</a:t>
            </a:r>
            <a:endParaRPr lang="en-US" b="1" dirty="0"/>
          </a:p>
        </p:txBody>
      </p:sp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557338"/>
            <a:ext cx="8318530" cy="4114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	For each branch, list numbers and names of staff who manage properties, and properties they manage.</a:t>
            </a:r>
          </a:p>
          <a:p>
            <a:pPr algn="just">
              <a:lnSpc>
                <a:spcPct val="9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	 SELECT </a:t>
            </a:r>
            <a:r>
              <a:rPr lang="en-US" sz="2800" dirty="0" err="1"/>
              <a:t>s.branchNo</a:t>
            </a:r>
            <a:r>
              <a:rPr lang="en-US" sz="2800" dirty="0"/>
              <a:t>, </a:t>
            </a:r>
            <a:r>
              <a:rPr lang="en-US" sz="2800" dirty="0" err="1"/>
              <a:t>s.staffNo</a:t>
            </a:r>
            <a:r>
              <a:rPr lang="en-US" sz="2800" dirty="0"/>
              <a:t>, </a:t>
            </a:r>
            <a:r>
              <a:rPr lang="en-US" sz="2800" dirty="0" err="1"/>
              <a:t>fName</a:t>
            </a:r>
            <a:r>
              <a:rPr lang="en-US" sz="2800" dirty="0"/>
              <a:t>, </a:t>
            </a:r>
            <a:r>
              <a:rPr lang="en-US" sz="2800" dirty="0" err="1"/>
              <a:t>lName</a:t>
            </a:r>
            <a:r>
              <a:rPr lang="en-US" sz="2800" dirty="0"/>
              <a:t>,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                </a:t>
            </a:r>
            <a:r>
              <a:rPr lang="en-US" dirty="0" err="1"/>
              <a:t>propertyNo</a:t>
            </a:r>
            <a:endParaRPr lang="en-US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FROM Staff s, </a:t>
            </a:r>
            <a:r>
              <a:rPr lang="en-US" dirty="0" err="1"/>
              <a:t>PropertyForRent</a:t>
            </a:r>
            <a:r>
              <a:rPr lang="en-US" dirty="0"/>
              <a:t> p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WHERE </a:t>
            </a:r>
            <a:r>
              <a:rPr lang="en-US" dirty="0" err="1"/>
              <a:t>s.staffNo</a:t>
            </a:r>
            <a:r>
              <a:rPr lang="en-US" dirty="0"/>
              <a:t> = </a:t>
            </a:r>
            <a:r>
              <a:rPr lang="en-US" dirty="0" err="1"/>
              <a:t>p.staffNo</a:t>
            </a:r>
            <a:endParaRPr lang="en-US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ORDER BY </a:t>
            </a:r>
            <a:r>
              <a:rPr lang="en-US" dirty="0" err="1"/>
              <a:t>s.branchNo</a:t>
            </a:r>
            <a:r>
              <a:rPr lang="en-US" dirty="0"/>
              <a:t>, </a:t>
            </a:r>
            <a:r>
              <a:rPr lang="en-US" dirty="0" err="1"/>
              <a:t>s.staffNo</a:t>
            </a:r>
            <a:r>
              <a:rPr lang="en-US" dirty="0"/>
              <a:t>, </a:t>
            </a:r>
            <a:r>
              <a:rPr lang="en-US" dirty="0" err="1"/>
              <a:t>propertyNo</a:t>
            </a:r>
            <a:r>
              <a:rPr lang="en-US" dirty="0"/>
              <a:t>;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Sorting a join</a:t>
            </a:r>
            <a:endParaRPr lang="en-US" b="1" dirty="0"/>
          </a:p>
        </p:txBody>
      </p:sp>
      <p:pic>
        <p:nvPicPr>
          <p:cNvPr id="275462" name="Picture 6" descr="DS3-Table 05-2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9650" y="1700214"/>
            <a:ext cx="6553200" cy="3208337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Three Table Join</a:t>
            </a:r>
            <a:endParaRPr lang="en-US" b="1" dirty="0"/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557338"/>
            <a:ext cx="8643966" cy="4114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	For each branch, list staff who manage properties, including city in which branch is located and properties they manage.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endParaRPr lang="en-US" sz="2800" dirty="0"/>
          </a:p>
          <a:p>
            <a:pPr marL="739775" indent="-739775" algn="just">
              <a:lnSpc>
                <a:spcPct val="90000"/>
              </a:lnSpc>
              <a:buNone/>
            </a:pPr>
            <a:r>
              <a:rPr lang="en-US" sz="2800" dirty="0"/>
              <a:t>	 SELECT </a:t>
            </a:r>
            <a:r>
              <a:rPr lang="en-US" sz="2800" dirty="0" err="1"/>
              <a:t>b.branchNo</a:t>
            </a:r>
            <a:r>
              <a:rPr lang="en-US" sz="2800" dirty="0"/>
              <a:t>, </a:t>
            </a:r>
            <a:r>
              <a:rPr lang="en-US" sz="2800" dirty="0" err="1"/>
              <a:t>b.city</a:t>
            </a:r>
            <a:r>
              <a:rPr lang="en-US" sz="2800" dirty="0"/>
              <a:t>, </a:t>
            </a:r>
            <a:r>
              <a:rPr lang="en-US" sz="2800" dirty="0" err="1"/>
              <a:t>s.staffNo</a:t>
            </a:r>
            <a:r>
              <a:rPr lang="en-US" sz="2800" dirty="0"/>
              <a:t>, </a:t>
            </a:r>
            <a:r>
              <a:rPr lang="en-US" sz="2800" dirty="0" err="1"/>
              <a:t>fName</a:t>
            </a:r>
            <a:r>
              <a:rPr lang="en-US" sz="2800" dirty="0"/>
              <a:t>, </a:t>
            </a:r>
            <a:r>
              <a:rPr lang="en-US" sz="2800" dirty="0" err="1"/>
              <a:t>lName</a:t>
            </a:r>
            <a:r>
              <a:rPr lang="en-US" sz="2800" dirty="0"/>
              <a:t>, </a:t>
            </a:r>
            <a:r>
              <a:rPr lang="en-US" dirty="0" err="1"/>
              <a:t>propertyNo</a:t>
            </a:r>
            <a:endParaRPr lang="en-US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   FROM Branch b, Staff s, </a:t>
            </a:r>
            <a:r>
              <a:rPr lang="en-US" dirty="0" err="1"/>
              <a:t>PropertyForRent</a:t>
            </a:r>
            <a:r>
              <a:rPr lang="en-US" dirty="0"/>
              <a:t> p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   WHERE </a:t>
            </a:r>
            <a:r>
              <a:rPr lang="en-US" dirty="0" err="1"/>
              <a:t>b.branchNo</a:t>
            </a:r>
            <a:r>
              <a:rPr lang="en-US" dirty="0"/>
              <a:t> = </a:t>
            </a:r>
            <a:r>
              <a:rPr lang="en-US" dirty="0" err="1"/>
              <a:t>s.branchNo</a:t>
            </a:r>
            <a:r>
              <a:rPr lang="en-US" dirty="0"/>
              <a:t> AND 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                   </a:t>
            </a:r>
            <a:r>
              <a:rPr lang="en-US" dirty="0" err="1"/>
              <a:t>s.staffNo</a:t>
            </a:r>
            <a:r>
              <a:rPr lang="en-US" dirty="0"/>
              <a:t> = </a:t>
            </a:r>
            <a:r>
              <a:rPr lang="en-US" dirty="0" err="1"/>
              <a:t>p.staffNo</a:t>
            </a:r>
            <a:endParaRPr lang="en-US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   ORDER BY </a:t>
            </a:r>
            <a:r>
              <a:rPr lang="en-US" dirty="0" err="1"/>
              <a:t>b.branchNo</a:t>
            </a:r>
            <a:r>
              <a:rPr lang="en-US" dirty="0"/>
              <a:t>, </a:t>
            </a:r>
            <a:r>
              <a:rPr lang="en-US" dirty="0" err="1"/>
              <a:t>s.staffNo</a:t>
            </a:r>
            <a:r>
              <a:rPr lang="en-US" dirty="0"/>
              <a:t>, </a:t>
            </a:r>
            <a:r>
              <a:rPr lang="en-US" dirty="0" err="1"/>
              <a:t>propertyNo</a:t>
            </a:r>
            <a:r>
              <a:rPr lang="en-US" dirty="0"/>
              <a:t>;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Three Table Join</a:t>
            </a:r>
            <a:endParaRPr lang="en-US" b="1" dirty="0"/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2060575"/>
            <a:ext cx="8305800" cy="4114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r>
              <a:rPr lang="en-US" sz="2400" dirty="0"/>
              <a:t>Alternative </a:t>
            </a:r>
            <a:r>
              <a:rPr lang="en-US" sz="2800" dirty="0"/>
              <a:t>formulation</a:t>
            </a:r>
            <a:r>
              <a:rPr lang="en-US" sz="2400" dirty="0"/>
              <a:t> for FROM and WHERE:</a:t>
            </a:r>
          </a:p>
          <a:p>
            <a:pPr lvl="1" algn="just">
              <a:lnSpc>
                <a:spcPct val="40000"/>
              </a:lnSpc>
            </a:pPr>
            <a:endParaRPr lang="en-US" sz="2400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sz="2400" dirty="0"/>
              <a:t>	FROM (Branch b JOIN Staff s USING </a:t>
            </a:r>
            <a:r>
              <a:rPr lang="en-US" sz="2400" dirty="0" err="1"/>
              <a:t>branchNo</a:t>
            </a:r>
            <a:r>
              <a:rPr lang="en-US" sz="2400" dirty="0"/>
              <a:t>) AS </a:t>
            </a:r>
            <a:r>
              <a:rPr lang="en-US" sz="2400" dirty="0" err="1"/>
              <a:t>bs</a:t>
            </a:r>
            <a:r>
              <a:rPr lang="en-US" sz="2400" dirty="0"/>
              <a:t> JOIN </a:t>
            </a:r>
            <a:r>
              <a:rPr lang="en-US" sz="2400" dirty="0" err="1"/>
              <a:t>PropertyForRent</a:t>
            </a:r>
            <a:r>
              <a:rPr lang="en-US" sz="2400" dirty="0"/>
              <a:t> p USING </a:t>
            </a:r>
            <a:r>
              <a:rPr lang="en-US" sz="2400" dirty="0" err="1"/>
              <a:t>staffNo</a:t>
            </a:r>
            <a:endParaRPr lang="en-US" sz="2400" dirty="0"/>
          </a:p>
        </p:txBody>
      </p:sp>
      <p:pic>
        <p:nvPicPr>
          <p:cNvPr id="280581" name="Picture 5" descr="DS3-Table 05-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1" y="1600201"/>
            <a:ext cx="7286625" cy="2709863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Multiple Grouping Columns</a:t>
            </a:r>
            <a:endParaRPr lang="en-US" b="1" dirty="0"/>
          </a:p>
        </p:txBody>
      </p:sp>
      <p:sp>
        <p:nvSpPr>
          <p:cNvPr id="281603" name="Rectangle 3"/>
          <p:cNvSpPr>
            <a:spLocks noGrp="1" noChangeArrowheads="1"/>
          </p:cNvSpPr>
          <p:nvPr>
            <p:ph idx="1"/>
          </p:nvPr>
        </p:nvSpPr>
        <p:spPr>
          <a:xfrm>
            <a:off x="1919289" y="1557338"/>
            <a:ext cx="8497887" cy="41148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sz="2800" dirty="0"/>
              <a:t>	Find number of properties handled by each staff member.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endParaRPr lang="en-US" sz="2800" dirty="0"/>
          </a:p>
          <a:p>
            <a:pPr marL="465138" indent="-465138" algn="just">
              <a:buNone/>
            </a:pPr>
            <a:r>
              <a:rPr lang="en-US" sz="2800" dirty="0"/>
              <a:t>	SELECT </a:t>
            </a:r>
            <a:r>
              <a:rPr lang="en-US" sz="2800" dirty="0" err="1"/>
              <a:t>s.branchNo</a:t>
            </a:r>
            <a:r>
              <a:rPr lang="en-US" sz="2800" dirty="0"/>
              <a:t>, </a:t>
            </a:r>
            <a:r>
              <a:rPr lang="en-US" sz="2800" dirty="0" err="1"/>
              <a:t>s.staffNo</a:t>
            </a:r>
            <a:r>
              <a:rPr lang="en-US" sz="2800" dirty="0"/>
              <a:t>, COUNT(*) AS  </a:t>
            </a:r>
            <a:r>
              <a:rPr lang="en-US" sz="2800" dirty="0" err="1"/>
              <a:t>myCount</a:t>
            </a:r>
            <a:endParaRPr lang="en-US" sz="2800" dirty="0"/>
          </a:p>
          <a:p>
            <a:pPr lvl="1" algn="just">
              <a:buFontTx/>
              <a:buNone/>
            </a:pPr>
            <a:r>
              <a:rPr lang="en-US" dirty="0"/>
              <a:t>FROM Staff s, </a:t>
            </a:r>
            <a:r>
              <a:rPr lang="en-US" dirty="0" err="1"/>
              <a:t>PropertyForRent</a:t>
            </a:r>
            <a:r>
              <a:rPr lang="en-US" dirty="0"/>
              <a:t> p</a:t>
            </a:r>
          </a:p>
          <a:p>
            <a:pPr lvl="1" algn="just">
              <a:buFontTx/>
              <a:buNone/>
            </a:pPr>
            <a:r>
              <a:rPr lang="en-US" dirty="0"/>
              <a:t>WHERE </a:t>
            </a:r>
            <a:r>
              <a:rPr lang="en-US" dirty="0" err="1"/>
              <a:t>s.staffNo</a:t>
            </a:r>
            <a:r>
              <a:rPr lang="en-US" dirty="0"/>
              <a:t> = </a:t>
            </a:r>
            <a:r>
              <a:rPr lang="en-US" dirty="0" err="1"/>
              <a:t>p.staffNo</a:t>
            </a:r>
            <a:endParaRPr lang="en-US" dirty="0"/>
          </a:p>
          <a:p>
            <a:pPr lvl="1" algn="just">
              <a:buFontTx/>
              <a:buNone/>
            </a:pPr>
            <a:r>
              <a:rPr lang="en-US" dirty="0"/>
              <a:t>GROUP BY </a:t>
            </a:r>
            <a:r>
              <a:rPr lang="en-US" dirty="0" err="1"/>
              <a:t>s.branchNo</a:t>
            </a:r>
            <a:r>
              <a:rPr lang="en-US" dirty="0"/>
              <a:t>, </a:t>
            </a:r>
            <a:r>
              <a:rPr lang="en-US" dirty="0" err="1"/>
              <a:t>s.staffNo</a:t>
            </a:r>
            <a:endParaRPr lang="en-US" dirty="0"/>
          </a:p>
          <a:p>
            <a:pPr lvl="1" algn="just">
              <a:buFontTx/>
              <a:buNone/>
            </a:pPr>
            <a:r>
              <a:rPr lang="en-US" dirty="0"/>
              <a:t>ORDER BY </a:t>
            </a:r>
            <a:r>
              <a:rPr lang="en-US" dirty="0" err="1"/>
              <a:t>s.branchNo</a:t>
            </a:r>
            <a:r>
              <a:rPr lang="en-US" dirty="0"/>
              <a:t>, </a:t>
            </a:r>
            <a:r>
              <a:rPr lang="en-US" dirty="0" err="1"/>
              <a:t>s.staffNo</a:t>
            </a:r>
            <a:r>
              <a:rPr lang="en-US" dirty="0"/>
              <a:t>;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Multiple Grouping Columns</a:t>
            </a:r>
          </a:p>
        </p:txBody>
      </p:sp>
      <p:pic>
        <p:nvPicPr>
          <p:cNvPr id="282630" name="Picture 6" descr="C05NT27a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66989" y="1700213"/>
            <a:ext cx="4681537" cy="2811462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09786" y="274638"/>
            <a:ext cx="7042150" cy="1143000"/>
          </a:xfrm>
        </p:spPr>
        <p:txBody>
          <a:bodyPr/>
          <a:lstStyle/>
          <a:p>
            <a:r>
              <a:rPr lang="en-US" sz="2900" dirty="0"/>
              <a:t>Computing a Join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229600" cy="4464050"/>
          </a:xfrm>
        </p:spPr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	Procedure for generating results of a join are:</a:t>
            </a:r>
          </a:p>
          <a:p>
            <a:pPr algn="just">
              <a:lnSpc>
                <a:spcPct val="3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1. Form Cartesian product of the tables named in  FROM clause. </a:t>
            </a:r>
          </a:p>
          <a:p>
            <a:pPr algn="just">
              <a:lnSpc>
                <a:spcPct val="3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2. If there is a WHERE clause, apply the search condition to each row of the product table, retaining those rows that satisfy the condition.</a:t>
            </a:r>
          </a:p>
          <a:p>
            <a:pPr algn="just">
              <a:lnSpc>
                <a:spcPct val="3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3. For each remaining row, determine value of each item in SELECT list to produce a single row in result table.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Computing a Join</a:t>
            </a:r>
            <a:endParaRPr lang="en-US" b="1" dirty="0"/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557338"/>
            <a:ext cx="8153400" cy="4114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/>
              <a:t>4. </a:t>
            </a:r>
            <a:r>
              <a:rPr lang="en-US" sz="2800" dirty="0"/>
              <a:t>If DISTINCT has been specified, eliminate any duplicate rows from the result table.</a:t>
            </a:r>
          </a:p>
          <a:p>
            <a:pPr algn="just">
              <a:lnSpc>
                <a:spcPct val="4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5. If there is an ORDER BY clause, sort result table as required.</a:t>
            </a:r>
          </a:p>
          <a:p>
            <a:pPr algn="just">
              <a:lnSpc>
                <a:spcPct val="3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dirty="0"/>
              <a:t>SQL provides special format of SELECT for Cartesian product:</a:t>
            </a:r>
          </a:p>
          <a:p>
            <a:pPr lvl="1" algn="just">
              <a:lnSpc>
                <a:spcPct val="30000"/>
              </a:lnSpc>
            </a:pPr>
            <a:endParaRPr lang="en-US" sz="2400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SELECT	[DISTINCT | ALL]	{* | </a:t>
            </a:r>
            <a:r>
              <a:rPr lang="en-US" dirty="0" err="1"/>
              <a:t>columnList</a:t>
            </a:r>
            <a:r>
              <a:rPr lang="en-US" dirty="0"/>
              <a:t>}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dirty="0"/>
              <a:t>FROM Table1 CROSS JOIN Table2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998" y="274638"/>
            <a:ext cx="7042150" cy="1143000"/>
          </a:xfrm>
        </p:spPr>
        <p:txBody>
          <a:bodyPr/>
          <a:lstStyle/>
          <a:p>
            <a:r>
              <a:rPr lang="en-US" sz="2900" dirty="0"/>
              <a:t>Outer Joins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2046288" y="1484313"/>
            <a:ext cx="8153400" cy="4191000"/>
          </a:xfrm>
        </p:spPr>
        <p:txBody>
          <a:bodyPr/>
          <a:lstStyle/>
          <a:p>
            <a:pPr algn="just"/>
            <a:r>
              <a:rPr lang="en-US" sz="3200" dirty="0"/>
              <a:t>If one row of a joined table is unmatched, row is omitted from result table. </a:t>
            </a:r>
          </a:p>
          <a:p>
            <a:pPr algn="just"/>
            <a:r>
              <a:rPr lang="en-US" sz="3200" dirty="0"/>
              <a:t>Outer join operations retain rows that do not satisfy the join condition. </a:t>
            </a:r>
          </a:p>
          <a:p>
            <a:pPr algn="just"/>
            <a:r>
              <a:rPr lang="en-US" sz="3200" dirty="0"/>
              <a:t>Consider following tables:</a:t>
            </a:r>
          </a:p>
          <a:p>
            <a:pPr algn="just">
              <a:lnSpc>
                <a:spcPct val="40000"/>
              </a:lnSpc>
            </a:pPr>
            <a:endParaRPr lang="en-US" sz="3200" dirty="0"/>
          </a:p>
          <a:p>
            <a:pPr lvl="1" algn="just">
              <a:buFontTx/>
              <a:buNone/>
            </a:pPr>
            <a:r>
              <a:rPr lang="en-US" sz="2400" dirty="0"/>
              <a:t>       </a:t>
            </a:r>
            <a:endParaRPr lang="en-US" dirty="0"/>
          </a:p>
        </p:txBody>
      </p:sp>
      <p:pic>
        <p:nvPicPr>
          <p:cNvPr id="297988" name="Picture 4" descr="DS3-Table 05-Ms14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9650" y="4265614"/>
            <a:ext cx="6483350" cy="2135187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Outer Joins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524000"/>
            <a:ext cx="8153400" cy="4267200"/>
          </a:xfrm>
        </p:spPr>
        <p:txBody>
          <a:bodyPr/>
          <a:lstStyle/>
          <a:p>
            <a:pPr algn="just"/>
            <a:r>
              <a:rPr lang="en-US" sz="2800" dirty="0"/>
              <a:t>The (inner) join of these two tables:</a:t>
            </a:r>
          </a:p>
          <a:p>
            <a:pPr lvl="1" algn="just">
              <a:lnSpc>
                <a:spcPct val="0"/>
              </a:lnSpc>
            </a:pPr>
            <a:endParaRPr lang="en-US" dirty="0"/>
          </a:p>
          <a:p>
            <a:pPr lvl="1" algn="just">
              <a:buFontTx/>
              <a:buNone/>
            </a:pPr>
            <a:r>
              <a:rPr lang="en-US" dirty="0"/>
              <a:t>		SELECT b.*, p.*</a:t>
            </a:r>
          </a:p>
          <a:p>
            <a:pPr lvl="2" algn="just">
              <a:buFontTx/>
              <a:buNone/>
            </a:pPr>
            <a:r>
              <a:rPr lang="en-US" sz="2800" dirty="0"/>
              <a:t>FROM Branch1 b, PropertyForRent1 p</a:t>
            </a:r>
          </a:p>
          <a:p>
            <a:pPr lvl="2" algn="just">
              <a:buFontTx/>
              <a:buNone/>
            </a:pPr>
            <a:r>
              <a:rPr lang="en-US" sz="2800" dirty="0"/>
              <a:t>WHERE </a:t>
            </a:r>
            <a:r>
              <a:rPr lang="en-US" sz="2800" dirty="0" err="1"/>
              <a:t>b.bCity</a:t>
            </a:r>
            <a:r>
              <a:rPr lang="en-US" sz="2800" dirty="0"/>
              <a:t> = </a:t>
            </a:r>
            <a:r>
              <a:rPr lang="en-US" sz="2800" dirty="0" err="1"/>
              <a:t>p.pCity</a:t>
            </a:r>
            <a:r>
              <a:rPr lang="en-US" sz="2800" dirty="0"/>
              <a:t>;</a:t>
            </a:r>
          </a:p>
          <a:p>
            <a:pPr algn="just">
              <a:lnSpc>
                <a:spcPct val="20000"/>
              </a:lnSpc>
              <a:buFont typeface="Monotype Sorts" pitchFamily="2" charset="2"/>
              <a:buNone/>
            </a:pPr>
            <a:endParaRPr lang="en-US" sz="2800" dirty="0"/>
          </a:p>
        </p:txBody>
      </p:sp>
      <p:pic>
        <p:nvPicPr>
          <p:cNvPr id="300037" name="Picture 5" descr="DS3-Table 05-27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1" y="3886201"/>
            <a:ext cx="5203825" cy="2428875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Outer Joins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>
          <a:xfrm>
            <a:off x="2043113" y="1557339"/>
            <a:ext cx="8013700" cy="3455987"/>
          </a:xfrm>
        </p:spPr>
        <p:txBody>
          <a:bodyPr/>
          <a:lstStyle/>
          <a:p>
            <a:pPr algn="just"/>
            <a:r>
              <a:rPr lang="en-US" sz="2800" dirty="0"/>
              <a:t>Result table has two rows where cities are same. </a:t>
            </a:r>
          </a:p>
          <a:p>
            <a:pPr algn="just"/>
            <a:r>
              <a:rPr lang="en-US" sz="2800" dirty="0"/>
              <a:t>There are no rows corresponding to branches in Bristol and Aberdeen. </a:t>
            </a:r>
          </a:p>
          <a:p>
            <a:pPr algn="just"/>
            <a:r>
              <a:rPr lang="en-US" sz="2800" dirty="0"/>
              <a:t>To include unmatched rows in result table, use an Outer join.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Left Outer Join</a:t>
            </a:r>
          </a:p>
        </p:txBody>
      </p:sp>
      <p:sp>
        <p:nvSpPr>
          <p:cNvPr id="283651" name="Rectangle 1027"/>
          <p:cNvSpPr>
            <a:spLocks noGrp="1" noChangeArrowheads="1"/>
          </p:cNvSpPr>
          <p:nvPr>
            <p:ph idx="1"/>
          </p:nvPr>
        </p:nvSpPr>
        <p:spPr>
          <a:xfrm>
            <a:off x="1970088" y="1557338"/>
            <a:ext cx="8013700" cy="41148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sz="2800" dirty="0"/>
              <a:t>	List branches and properties that are in same city along with any unmatched branches.</a:t>
            </a:r>
          </a:p>
          <a:p>
            <a:pPr algn="just">
              <a:buFont typeface="Monotype Sorts" pitchFamily="2" charset="2"/>
              <a:buNone/>
            </a:pPr>
            <a:endParaRPr lang="en-US" sz="2800" dirty="0"/>
          </a:p>
          <a:p>
            <a:pPr algn="just">
              <a:buFont typeface="Monotype Sorts" pitchFamily="2" charset="2"/>
              <a:buNone/>
            </a:pPr>
            <a:r>
              <a:rPr lang="en-US" sz="2800" dirty="0"/>
              <a:t>	 SELECT b.*, p.*</a:t>
            </a:r>
          </a:p>
          <a:p>
            <a:pPr lvl="1" algn="just">
              <a:buFontTx/>
              <a:buNone/>
            </a:pPr>
            <a:r>
              <a:rPr lang="en-US" dirty="0"/>
              <a:t>FROM Branch1 b LEFT JOIN</a:t>
            </a:r>
          </a:p>
          <a:p>
            <a:pPr lvl="1" algn="just">
              <a:buFontTx/>
              <a:buNone/>
            </a:pPr>
            <a:r>
              <a:rPr lang="en-US" dirty="0"/>
              <a:t>		 PropertyForRent1 p ON </a:t>
            </a:r>
            <a:r>
              <a:rPr lang="en-US" dirty="0" err="1"/>
              <a:t>b.bCity</a:t>
            </a:r>
            <a:r>
              <a:rPr lang="en-US" dirty="0"/>
              <a:t> = </a:t>
            </a:r>
            <a:r>
              <a:rPr lang="en-US" dirty="0" err="1"/>
              <a:t>p.pCity</a:t>
            </a:r>
            <a:r>
              <a:rPr lang="en-US" dirty="0"/>
              <a:t>;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Left Outer Join</a:t>
            </a:r>
          </a:p>
        </p:txBody>
      </p:sp>
      <p:sp>
        <p:nvSpPr>
          <p:cNvPr id="307203" name="Rectangle 1027"/>
          <p:cNvSpPr>
            <a:spLocks noGrp="1" noChangeArrowheads="1"/>
          </p:cNvSpPr>
          <p:nvPr>
            <p:ph idx="1"/>
          </p:nvPr>
        </p:nvSpPr>
        <p:spPr>
          <a:xfrm>
            <a:off x="2057400" y="1524000"/>
            <a:ext cx="8142288" cy="4267200"/>
          </a:xfrm>
        </p:spPr>
        <p:txBody>
          <a:bodyPr/>
          <a:lstStyle/>
          <a:p>
            <a:pPr algn="just"/>
            <a:r>
              <a:rPr lang="en-US" sz="2800" dirty="0"/>
              <a:t>Includes those rows of first (left) table unmatched with rows from second (right) table. </a:t>
            </a:r>
          </a:p>
          <a:p>
            <a:pPr algn="just"/>
            <a:r>
              <a:rPr lang="en-US" sz="2800" dirty="0"/>
              <a:t>Columns from second table are filled with NULLs.</a:t>
            </a:r>
          </a:p>
        </p:txBody>
      </p:sp>
      <p:pic>
        <p:nvPicPr>
          <p:cNvPr id="307205" name="Picture 1029" descr="DS3-Table 05-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5914" y="3644900"/>
            <a:ext cx="5616575" cy="268605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Right Outer Join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idx="1"/>
          </p:nvPr>
        </p:nvSpPr>
        <p:spPr>
          <a:xfrm>
            <a:off x="2038350" y="1557338"/>
            <a:ext cx="8089900" cy="41148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sz="2800" dirty="0"/>
              <a:t>	List branches and properties in same city and any unmatched properties.</a:t>
            </a:r>
          </a:p>
          <a:p>
            <a:pPr algn="just">
              <a:lnSpc>
                <a:spcPct val="6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>
              <a:buFont typeface="Monotype Sorts" pitchFamily="2" charset="2"/>
              <a:buNone/>
            </a:pPr>
            <a:r>
              <a:rPr lang="en-US" sz="2800" dirty="0"/>
              <a:t>	    SELECT b.*, p.*</a:t>
            </a:r>
          </a:p>
          <a:p>
            <a:pPr lvl="1" algn="just">
              <a:buFontTx/>
              <a:buNone/>
            </a:pPr>
            <a:r>
              <a:rPr lang="en-US" dirty="0"/>
              <a:t>	FROM Branch1 b RIGHT JOIN</a:t>
            </a:r>
          </a:p>
          <a:p>
            <a:pPr lvl="1" algn="just">
              <a:buFontTx/>
              <a:buNone/>
            </a:pPr>
            <a:r>
              <a:rPr lang="en-US" dirty="0"/>
              <a:t>		 PropertyForRent1 p ON </a:t>
            </a:r>
            <a:r>
              <a:rPr lang="en-US" dirty="0" err="1"/>
              <a:t>b.bCity</a:t>
            </a:r>
            <a:r>
              <a:rPr lang="en-US" dirty="0"/>
              <a:t> = </a:t>
            </a:r>
            <a:r>
              <a:rPr lang="en-US" dirty="0" err="1"/>
              <a:t>p.pCity</a:t>
            </a:r>
            <a:r>
              <a:rPr lang="en-US" dirty="0"/>
              <a:t>;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Right Outer Join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24000"/>
            <a:ext cx="8142288" cy="4267200"/>
          </a:xfrm>
        </p:spPr>
        <p:txBody>
          <a:bodyPr/>
          <a:lstStyle/>
          <a:p>
            <a:pPr algn="just"/>
            <a:r>
              <a:rPr lang="en-US" sz="2800" dirty="0"/>
              <a:t>Right Outer join includes those rows of second (right) table that are unmatched with rows from first (left) table. </a:t>
            </a:r>
          </a:p>
          <a:p>
            <a:pPr algn="just"/>
            <a:r>
              <a:rPr lang="en-US" sz="2800" dirty="0"/>
              <a:t>Columns from first table are filled with NULLs.</a:t>
            </a:r>
          </a:p>
        </p:txBody>
      </p:sp>
      <p:pic>
        <p:nvPicPr>
          <p:cNvPr id="278533" name="Picture 5" descr="DS3-Table 05-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3505200"/>
            <a:ext cx="6173788" cy="2890838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Full Outer Join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idx="1"/>
          </p:nvPr>
        </p:nvSpPr>
        <p:spPr>
          <a:xfrm>
            <a:off x="2043114" y="1557338"/>
            <a:ext cx="8085137" cy="41148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sz="2800" dirty="0"/>
              <a:t>	List branches and properties in same city and any unmatched branches or properties.</a:t>
            </a:r>
          </a:p>
          <a:p>
            <a:pPr algn="just">
              <a:lnSpc>
                <a:spcPct val="70000"/>
              </a:lnSpc>
              <a:buFont typeface="Monotype Sorts" pitchFamily="2" charset="2"/>
              <a:buNone/>
            </a:pPr>
            <a:endParaRPr lang="en-US" sz="2800" dirty="0"/>
          </a:p>
          <a:p>
            <a:pPr algn="just">
              <a:buFont typeface="Monotype Sorts" pitchFamily="2" charset="2"/>
              <a:buNone/>
            </a:pPr>
            <a:r>
              <a:rPr lang="en-US" sz="2800" dirty="0"/>
              <a:t>	    SELECT b.*, p.*</a:t>
            </a:r>
          </a:p>
          <a:p>
            <a:pPr lvl="1" algn="just">
              <a:buFontTx/>
              <a:buNone/>
            </a:pPr>
            <a:r>
              <a:rPr lang="en-US" dirty="0"/>
              <a:t>	FROM Branch1 b FULL JOIN </a:t>
            </a:r>
          </a:p>
          <a:p>
            <a:pPr lvl="1" algn="just">
              <a:buFontTx/>
              <a:buNone/>
            </a:pPr>
            <a:r>
              <a:rPr lang="en-US" dirty="0"/>
              <a:t>		PropertyForRent1 p ON </a:t>
            </a:r>
            <a:r>
              <a:rPr lang="en-US" dirty="0" err="1"/>
              <a:t>b.bCity</a:t>
            </a:r>
            <a:r>
              <a:rPr lang="en-US" dirty="0"/>
              <a:t> = </a:t>
            </a:r>
            <a:r>
              <a:rPr lang="en-US" dirty="0" err="1"/>
              <a:t>p.pCity</a:t>
            </a:r>
            <a:r>
              <a:rPr lang="en-US" dirty="0"/>
              <a:t>;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Full Outer Join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229600" cy="4114800"/>
          </a:xfrm>
        </p:spPr>
        <p:txBody>
          <a:bodyPr/>
          <a:lstStyle/>
          <a:p>
            <a:pPr algn="just"/>
            <a:r>
              <a:rPr lang="en-US" sz="2800" dirty="0"/>
              <a:t>Includes rows that are unmatched in both tables. </a:t>
            </a:r>
          </a:p>
          <a:p>
            <a:pPr algn="just"/>
            <a:r>
              <a:rPr lang="en-US" sz="2800" dirty="0"/>
              <a:t>Unmatched columns are filled with NULLs. </a:t>
            </a:r>
          </a:p>
        </p:txBody>
      </p:sp>
      <p:pic>
        <p:nvPicPr>
          <p:cNvPr id="306181" name="Picture 5" descr="DS3-Table 05-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1" y="2971800"/>
            <a:ext cx="5953125" cy="322580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dirty="0"/>
              <a:t>References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None/>
            </a:pPr>
            <a:r>
              <a:rPr lang="en-GB" sz="2800" dirty="0"/>
              <a:t>Connolly &amp; </a:t>
            </a:r>
            <a:r>
              <a:rPr lang="en-GB" sz="2800" dirty="0" err="1"/>
              <a:t>Begg</a:t>
            </a:r>
            <a:r>
              <a:rPr lang="en-GB" sz="2800" dirty="0"/>
              <a:t> chapter 5 p. </a:t>
            </a:r>
            <a:r>
              <a:rPr lang="en-GB" sz="2800"/>
              <a:t>140</a:t>
            </a:r>
            <a:endParaRPr lang="en-GB" sz="2800" dirty="0"/>
          </a:p>
          <a:p>
            <a:pPr marL="533400" indent="-533400" eaLnBrk="1" hangingPunct="1">
              <a:buFont typeface="Wingdings" pitchFamily="2" charset="2"/>
              <a:buAutoNum type="arabicPeriod"/>
            </a:pPr>
            <a:endParaRPr lang="en-GB" sz="2800" dirty="0"/>
          </a:p>
          <a:p>
            <a:pPr marL="533400" indent="-533400" eaLnBrk="1" hangingPunct="1">
              <a:buNone/>
            </a:pPr>
            <a:endParaRPr lang="en-GB" sz="2800" dirty="0"/>
          </a:p>
          <a:p>
            <a:pPr marL="533400" indent="-533400" eaLnBrk="1" hangingPunct="1"/>
            <a:endParaRPr lang="en-GB" dirty="0"/>
          </a:p>
        </p:txBody>
      </p:sp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Pages>11</Pages>
  <Words>951</Words>
  <Application>Microsoft Office PowerPoint</Application>
  <PresentationFormat>Widescreen</PresentationFormat>
  <Paragraphs>135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Monotype Sorts</vt:lpstr>
      <vt:lpstr>Arial</vt:lpstr>
      <vt:lpstr>Calibri</vt:lpstr>
      <vt:lpstr>Montserrat</vt:lpstr>
      <vt:lpstr>PT Sans</vt:lpstr>
      <vt:lpstr>Wingdings</vt:lpstr>
      <vt:lpstr>UCTI-Template-foundation-level</vt:lpstr>
      <vt:lpstr>CT004-3.5-3  Advanced Database Systems</vt:lpstr>
      <vt:lpstr>Topic &amp; Structure of Lesson</vt:lpstr>
      <vt:lpstr>Learning Outcomes</vt:lpstr>
      <vt:lpstr>Simple Join</vt:lpstr>
      <vt:lpstr>Simple Join</vt:lpstr>
      <vt:lpstr>Alternative JOIN Constructs</vt:lpstr>
      <vt:lpstr>Sorting a join</vt:lpstr>
      <vt:lpstr>Sorting a join</vt:lpstr>
      <vt:lpstr>Three Table Join</vt:lpstr>
      <vt:lpstr>Three Table Join</vt:lpstr>
      <vt:lpstr>Multiple Grouping Columns</vt:lpstr>
      <vt:lpstr>Multiple Grouping Columns</vt:lpstr>
      <vt:lpstr>Computing a Join</vt:lpstr>
      <vt:lpstr>Computing a Join</vt:lpstr>
      <vt:lpstr>Outer Joins</vt:lpstr>
      <vt:lpstr>Outer Joins</vt:lpstr>
      <vt:lpstr>Outer Joins</vt:lpstr>
      <vt:lpstr>Left Outer Join</vt:lpstr>
      <vt:lpstr>Left Outer Join</vt:lpstr>
      <vt:lpstr>Right Outer Join</vt:lpstr>
      <vt:lpstr>Right Outer Join</vt:lpstr>
      <vt:lpstr>Full Outer Join</vt:lpstr>
      <vt:lpstr>Full Outer Join</vt:lpstr>
      <vt:lpstr>References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332</cp:revision>
  <cp:lastPrinted>2023-02-03T03:07:34Z</cp:lastPrinted>
  <dcterms:created xsi:type="dcterms:W3CDTF">2005-08-02T10:18:20Z</dcterms:created>
  <dcterms:modified xsi:type="dcterms:W3CDTF">2024-01-22T07:02:44Z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